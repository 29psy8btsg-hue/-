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B型事業所が取り組む作業（上位6・複数回答）</a:t>
            </a:r>
          </a:p>
        </c:rich>
      </c:tx>
      <c:layout/>
      <c:overlay val="0"/>
    </c:title>
    <c:autoTitleDeleted val="0"/>
    <c:plotArea>
      <c:layout/>
      <c:barChart>
        <c:barDir val="bar"/>
        <c:grouping val="clustered"/>
        <c:varyColors val="0"/>
        <c:ser>
          <c:idx val="0"/>
          <c:order val="0"/>
          <c:tx>
            <c:strRef>
              <c:f>Sheet1!$B$1</c:f>
              <c:strCache>
                <c:ptCount val="1"/>
                <c:pt idx="0">
                  <c:v>実施している事業所の割合</c:v>
                </c:pt>
              </c:strCache>
            </c:strRef>
          </c:tx>
          <c:spPr>
            <a:solidFill>
              <a:srgbClr val="E8505B"/>
            </a:solidFill>
            <a:effectLst/>
          </c:spPr>
          <c:invertIfNegative val="0"/>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dPt>
            <c:idx val="0"/>
            <c:invertIfNegative val="0"/>
            <c:bubble3D val="0"/>
            <c:spPr>
              <a:solidFill>
                <a:srgbClr val="E8505B"/>
              </a:solidFill>
              <a:effectLst/>
            </c:spPr>
          </c:dPt>
          <c:dPt>
            <c:idx val="1"/>
            <c:invertIfNegative val="0"/>
            <c:bubble3D val="0"/>
            <c:spPr>
              <a:solidFill>
                <a:srgbClr val="C9CFDA"/>
              </a:solidFill>
              <a:effectLst/>
            </c:spPr>
          </c:dPt>
          <c:dPt>
            <c:idx val="2"/>
            <c:invertIfNegative val="0"/>
            <c:bubble3D val="0"/>
            <c:spPr>
              <a:solidFill>
                <a:srgbClr val="C9CFDA"/>
              </a:solidFill>
              <a:effectLst/>
            </c:spPr>
          </c:dPt>
          <c:dPt>
            <c:idx val="3"/>
            <c:invertIfNegative val="0"/>
            <c:bubble3D val="0"/>
            <c:spPr>
              <a:solidFill>
                <a:srgbClr val="C9CFDA"/>
              </a:solidFill>
              <a:effectLst/>
            </c:spPr>
          </c:dPt>
          <c:dPt>
            <c:idx val="4"/>
            <c:invertIfNegative val="0"/>
            <c:bubble3D val="0"/>
            <c:spPr>
              <a:solidFill>
                <a:srgbClr val="C9CFDA"/>
              </a:solidFill>
              <a:effectLst/>
            </c:spPr>
          </c:dPt>
          <c:dPt>
            <c:idx val="5"/>
            <c:invertIfNegative val="0"/>
            <c:bubble3D val="0"/>
            <c:spPr>
              <a:solidFill>
                <a:srgbClr val="C9CFDA"/>
              </a:solidFill>
              <a:effectLst/>
            </c:spPr>
          </c:dPt>
          <c:cat>
            <c:multiLvlStrRef>
              <c:f>Sheet1!$A$2:$A$7</c:f>
              <c:multiLvlStrCache>
                <c:ptCount val="6"/>
                <c:lvl>
                  <c:pt idx="0">
                    <c:v>軽作業</c:v>
                  </c:pt>
                  <c:pt idx="1">
                    <c:v>清掃</c:v>
                  </c:pt>
                  <c:pt idx="2">
                    <c:v>雑貨製造</c:v>
                  </c:pt>
                  <c:pt idx="3">
                    <c:v>菓子製造</c:v>
                  </c:pt>
                  <c:pt idx="4">
                    <c:v>農業</c:v>
                  </c:pt>
                  <c:pt idx="5">
                    <c:v>リサイクル</c:v>
                  </c:pt>
                </c:lvl>
              </c:multiLvlStrCache>
            </c:multiLvlStrRef>
          </c:cat>
          <c:val>
            <c:numRef>
              <c:f>Sheet1!$B$2:$B$7</c:f>
              <c:numCache>
                <c:formatCode>General</c:formatCode>
                <c:ptCount val="6"/>
                <c:pt idx="0">
                  <c:v>63.6</c:v>
                </c:pt>
                <c:pt idx="1">
                  <c:v>27.8</c:v>
                </c:pt>
                <c:pt idx="2">
                  <c:v>23.1</c:v>
                </c:pt>
                <c:pt idx="3">
                  <c:v>15.2</c:v>
                </c:pt>
                <c:pt idx="4">
                  <c:v>12</c:v>
                </c:pt>
                <c:pt idx="5">
                  <c:v>10.8</c:v>
                </c:pt>
              </c:numCache>
            </c:numRef>
          </c:val>
        </c:ser>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2E3440"/>
                </a:solidFill>
                <a:latin typeface="Meiryo UI"/>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資金残高の推移（万円）　横軸：開設からの月数</a:t>
            </a:r>
          </a:p>
        </c:rich>
      </c:tx>
      <c:layout/>
      <c:overlay val="0"/>
    </c:title>
    <c:autoTitleDeleted val="0"/>
    <c:plotArea>
      <c:layout/>
      <c:lineChart>
        <c:varyColors val="0"/>
        <c:ser>
          <c:idx val="0"/>
          <c:order val="0"/>
          <c:tx>
            <c:strRef>
              <c:f>Sheet1!$B$1</c:f>
              <c:strCache>
                <c:ptCount val="1"/>
                <c:pt idx="0">
                  <c:v>資金残高（万円）</c:v>
                </c:pt>
              </c:strCache>
            </c:strRef>
          </c:tx>
          <c:spPr>
            <a:solidFill>
              <a:srgbClr val="1D72A3"/>
            </a:solidFill>
            <a:ln w="31750" cap="flat">
              <a:solidFill>
                <a:srgbClr val="1D72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D72A3"/>
              </a:solidFill>
              <a:ln w="9525" cap="flat">
                <a:solidFill>
                  <a:srgbClr val="1D72A3"/>
                </a:solidFill>
                <a:prstDash val="solid"/>
                <a:round/>
              </a:ln>
              <a:effectLst/>
            </c:spPr>
          </c:marker>
          <c:cat>
            <c:multiLvlStrRef>
              <c:f>Sheet1!$A$2:$A$38</c:f>
              <c:multiLvlStrCache>
                <c:ptCount val="37"/>
                <c:lvl>
                  <c:pt idx="0">
                    <c:v>0</c:v>
                  </c:pt>
                  <c:pt idx="1">
                    <c:v/>
                  </c:pt>
                  <c:pt idx="2">
                    <c:v/>
                  </c:pt>
                  <c:pt idx="3">
                    <c:v/>
                  </c:pt>
                  <c:pt idx="4">
                    <c:v/>
                  </c:pt>
                  <c:pt idx="5">
                    <c:v/>
                  </c:pt>
                  <c:pt idx="6">
                    <c:v>6</c:v>
                  </c:pt>
                  <c:pt idx="7">
                    <c:v/>
                  </c:pt>
                  <c:pt idx="8">
                    <c:v/>
                  </c:pt>
                  <c:pt idx="9">
                    <c:v/>
                  </c:pt>
                  <c:pt idx="10">
                    <c:v/>
                  </c:pt>
                  <c:pt idx="11">
                    <c:v/>
                  </c:pt>
                  <c:pt idx="12">
                    <c:v>12</c:v>
                  </c:pt>
                  <c:pt idx="13">
                    <c:v/>
                  </c:pt>
                  <c:pt idx="14">
                    <c:v/>
                  </c:pt>
                  <c:pt idx="15">
                    <c:v/>
                  </c:pt>
                  <c:pt idx="16">
                    <c:v/>
                  </c:pt>
                  <c:pt idx="17">
                    <c:v/>
                  </c:pt>
                  <c:pt idx="18">
                    <c:v>18</c:v>
                  </c:pt>
                  <c:pt idx="19">
                    <c:v/>
                  </c:pt>
                  <c:pt idx="20">
                    <c:v/>
                  </c:pt>
                  <c:pt idx="21">
                    <c:v/>
                  </c:pt>
                  <c:pt idx="22">
                    <c:v/>
                  </c:pt>
                  <c:pt idx="23">
                    <c:v/>
                  </c:pt>
                  <c:pt idx="24">
                    <c:v>24</c:v>
                  </c:pt>
                  <c:pt idx="25">
                    <c:v/>
                  </c:pt>
                  <c:pt idx="26">
                    <c:v/>
                  </c:pt>
                  <c:pt idx="27">
                    <c:v/>
                  </c:pt>
                  <c:pt idx="28">
                    <c:v/>
                  </c:pt>
                  <c:pt idx="29">
                    <c:v/>
                  </c:pt>
                  <c:pt idx="30">
                    <c:v>30</c:v>
                  </c:pt>
                  <c:pt idx="31">
                    <c:v/>
                  </c:pt>
                  <c:pt idx="32">
                    <c:v/>
                  </c:pt>
                  <c:pt idx="33">
                    <c:v/>
                  </c:pt>
                  <c:pt idx="34">
                    <c:v/>
                  </c:pt>
                  <c:pt idx="35">
                    <c:v/>
                  </c:pt>
                  <c:pt idx="36">
                    <c:v>36</c:v>
                  </c:pt>
                </c:lvl>
              </c:multiLvlStrCache>
            </c:multiLvlStrRef>
          </c:cat>
          <c:val>
            <c:numRef>
              <c:f>Sheet1!$B$2:$B$38</c:f>
              <c:numCache>
                <c:formatCode>General</c:formatCode>
                <c:ptCount val="37"/>
                <c:pt idx="0">
                  <c:v>-900</c:v>
                </c:pt>
                <c:pt idx="1">
                  <c:v>-1056</c:v>
                </c:pt>
                <c:pt idx="2">
                  <c:v>-1214</c:v>
                </c:pt>
                <c:pt idx="3">
                  <c:v>-1290</c:v>
                </c:pt>
                <c:pt idx="4">
                  <c:v>-1348</c:v>
                </c:pt>
                <c:pt idx="5">
                  <c:v>-1389</c:v>
                </c:pt>
                <c:pt idx="6">
                  <c:v>-1412</c:v>
                </c:pt>
                <c:pt idx="7">
                  <c:v>-1432</c:v>
                </c:pt>
                <c:pt idx="8">
                  <c:v>-1435</c:v>
                </c:pt>
                <c:pt idx="9">
                  <c:v>-1420</c:v>
                </c:pt>
                <c:pt idx="10">
                  <c:v>-1403</c:v>
                </c:pt>
                <c:pt idx="11">
                  <c:v>-1369</c:v>
                </c:pt>
                <c:pt idx="12">
                  <c:v>-1316</c:v>
                </c:pt>
                <c:pt idx="13">
                  <c:v>-1242</c:v>
                </c:pt>
                <c:pt idx="14">
                  <c:v>-1152</c:v>
                </c:pt>
                <c:pt idx="15">
                  <c:v>-1061</c:v>
                </c:pt>
                <c:pt idx="16">
                  <c:v>-971</c:v>
                </c:pt>
                <c:pt idx="17">
                  <c:v>-880</c:v>
                </c:pt>
                <c:pt idx="18">
                  <c:v>-790</c:v>
                </c:pt>
                <c:pt idx="19">
                  <c:v>-699</c:v>
                </c:pt>
                <c:pt idx="20">
                  <c:v>-609</c:v>
                </c:pt>
                <c:pt idx="21">
                  <c:v>-518</c:v>
                </c:pt>
                <c:pt idx="22">
                  <c:v>-428</c:v>
                </c:pt>
                <c:pt idx="23">
                  <c:v>-337</c:v>
                </c:pt>
                <c:pt idx="24">
                  <c:v>-247</c:v>
                </c:pt>
                <c:pt idx="25">
                  <c:v>-158</c:v>
                </c:pt>
                <c:pt idx="26">
                  <c:v>-69</c:v>
                </c:pt>
                <c:pt idx="27">
                  <c:v>33</c:v>
                </c:pt>
                <c:pt idx="28">
                  <c:v>135</c:v>
                </c:pt>
                <c:pt idx="29">
                  <c:v>237</c:v>
                </c:pt>
                <c:pt idx="30">
                  <c:v>339</c:v>
                </c:pt>
                <c:pt idx="31">
                  <c:v>441</c:v>
                </c:pt>
                <c:pt idx="32">
                  <c:v>542</c:v>
                </c:pt>
                <c:pt idx="33">
                  <c:v>644</c:v>
                </c:pt>
                <c:pt idx="34">
                  <c:v>746</c:v>
                </c:pt>
                <c:pt idx="35">
                  <c:v>848</c:v>
                </c:pt>
                <c:pt idx="36">
                  <c:v>950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B2"/>
            </a:solidFill>
            <a:prstDash val="solid"/>
            <a:round/>
          </a:ln>
        </c:spPr>
        <c:txPr>
          <a:bodyPr/>
          <a:lstStyle/>
          <a:p>
            <a:pPr>
              <a:defRPr sz="1000" b="0" i="0" u="none" strike="noStrike">
                <a:solidFill>
                  <a:srgbClr val="5B6472"/>
                </a:solidFill>
                <a:latin typeface="Meiryo UI"/>
              </a:defRPr>
            </a:pPr>
            <a:endParaRPr lang="en-US"/>
          </a:p>
        </c:txPr>
        <c:crossAx val="2094734552"/>
        <c:crosses val="autoZero"/>
        <c:auto val="1"/>
        <c:lblAlgn val="ctr"/>
        <c:noMultiLvlLbl val="1"/>
      </c:catAx>
      <c:valAx>
        <c:axId val="2094734552"/>
        <c:scaling>
          <c:orientation val="minMax"/>
          <c:max val="1200"/>
          <c:min val="-160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eiryo UI"/>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本日は「全国にトータルサポートを。」というテーマで、クロスボーダーキャリアパスの候補生として、これから取り組みたいことをお話しします。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2019年に奈良津1組で入社し、放課後等デイサービスの現場を経験しました。2024年に愛媛県今治市の日吉へ、2026年9月からは西条へ異動し、管理者兼エリアマネージャーとして愛媛エリアを担っています。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きっかけは保護者の声です。異動先ではさまざまな困難もありましたが、愛媛の地にもキャレオス、夢門塾はあり、利用者の居場所として確立していました。そんな中、高校生になる利用者の保護者から「ゆうゆうを卒業したあとがとても不安」「愛媛にキャレオスの就労があったらとっても安心する」という言葉をいただきました。嬉しい一方で、胸の痛む言葉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サービス支給量の決定基準の制定です。支給日数の上限が手帳や個別サポートの有無で決まるようになり、「お留守番ができるのか」「行き場が見つからない」「放デイ利用中を理由に児童クラブを断られた」といった不安の声が聞かれました。キャレオスには放課後児童クラブの委託事業があり、愛媛でも受け皿になれるのではと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愛媛でナンバーワンになるためです。愛媛には、児童から就労、介護まで多数展開する法人があります。総量規制や人口減少の中で選ばれ続けるには、同等以上のトータルサポートを、地域に根差して提供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スボーダーで関わりたいのは、第三管理部の事業開発課・地域共創係と、マーケティング課・トータルサポート推進係です。地域共創係では新規事業の立ち上げ方と、自治体・地域企業・学校と関係を築く動き方を。推進係では、トータルサポートの全体像と事業部のつなぎ方、放デイから就労へ切れ目なくつなぐ導線づくりを学び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第一歩は、愛媛での就労継続支援B型です。B型の平均工賃は全国で約2万4千円、愛媛で約2万3千円。作業の主流は企業からの軽作業で、3分の2の事業所が取り組んでいます。立ち上げ期は軽作業で仕事を確保し、施設外就労や自主製品で工賃を上げる。放デイ卒業生に合わせ、ITや接客など一般就労につながる作業も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西条市で定員20名の事業所を開設した場合の試算です。標準シナリオでは1日18人の利用で、6か月目に単月黒字、27か月目に初期投資を回収し、3年目の営業利益は約1,140万円です。黒字ラインは1日11人前後。放デイ卒業生の受け皿になれるかが集客の土台です。工賃が愛媛平均に届けば、さらに年間約100万円上乗せ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まだ妄想の域を出ない仮構想です。まず愛媛で、B型を第一歩に、放デイ・児童クラブ・就労をつなぐトータルサポートの形をつくります。次に四国支社として四国全域へ。インドネシアの特定技能などの人材も含めて考えています。そして関西支社、中部支社と、全国へ。まだキャレオスにいない人材、ポジションだからこそ、確立させることに価値があ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全国にトータルサポートを届ける。その始まりを、愛媛で実践する人材になります。ご清聴ありがとうございました。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640080"/>
            <a:ext cx="3017520" cy="3017520"/>
          </a:xfrm>
          <a:prstGeom prst="ellipse">
            <a:avLst/>
          </a:prstGeom>
          <a:solidFill>
            <a:srgbClr val="D5ECF6"/>
          </a:solidFill>
          <a:ln w="6350">
            <a:solidFill>
              <a:srgbClr val="D5ECF6"/>
            </a:solidFill>
            <a:prstDash val="solid"/>
          </a:ln>
        </p:spPr>
      </p:sp>
      <p:sp>
        <p:nvSpPr>
          <p:cNvPr id="3" name="Shape 1"/>
          <p:cNvSpPr/>
          <p:nvPr/>
        </p:nvSpPr>
        <p:spPr>
          <a:xfrm>
            <a:off x="9692640" y="2651760"/>
            <a:ext cx="2651760" cy="2651760"/>
          </a:xfrm>
          <a:prstGeom prst="ellipse">
            <a:avLst/>
          </a:prstGeom>
          <a:solidFill>
            <a:srgbClr val="FBEDC1"/>
          </a:solidFill>
          <a:ln w="6350">
            <a:solidFill>
              <a:srgbClr val="FBEDC1"/>
            </a:solidFill>
            <a:prstDash val="solid"/>
          </a:ln>
        </p:spPr>
      </p:sp>
      <p:sp>
        <p:nvSpPr>
          <p:cNvPr id="4" name="Shape 2"/>
          <p:cNvSpPr/>
          <p:nvPr/>
        </p:nvSpPr>
        <p:spPr>
          <a:xfrm>
            <a:off x="7955280" y="3931920"/>
            <a:ext cx="2103120" cy="2103120"/>
          </a:xfrm>
          <a:prstGeom prst="ellipse">
            <a:avLst/>
          </a:prstGeom>
          <a:solidFill>
            <a:srgbClr val="FAD9DB"/>
          </a:solidFill>
          <a:ln w="6350">
            <a:solidFill>
              <a:srgbClr val="FAD9DB"/>
            </a:solidFill>
            <a:prstDash val="solid"/>
          </a:ln>
        </p:spPr>
      </p:sp>
      <p:sp>
        <p:nvSpPr>
          <p:cNvPr id="5" name="Shape 3"/>
          <p:cNvSpPr/>
          <p:nvPr/>
        </p:nvSpPr>
        <p:spPr>
          <a:xfrm>
            <a:off x="10332720" y="182880"/>
            <a:ext cx="1463040" cy="1463040"/>
          </a:xfrm>
          <a:prstGeom prst="ellipse">
            <a:avLst/>
          </a:prstGeom>
          <a:solidFill>
            <a:srgbClr val="D2ECD3"/>
          </a:solidFill>
          <a:ln w="6350">
            <a:solidFill>
              <a:srgbClr val="D2ECD3"/>
            </a:solidFill>
            <a:prstDash val="solid"/>
          </a:ln>
        </p:spPr>
      </p:sp>
      <p:sp>
        <p:nvSpPr>
          <p:cNvPr id="6" name="Shape 4"/>
          <p:cNvSpPr/>
          <p:nvPr/>
        </p:nvSpPr>
        <p:spPr>
          <a:xfrm>
            <a:off x="7223760" y="3429000"/>
            <a:ext cx="1051560" cy="1051560"/>
          </a:xfrm>
          <a:prstGeom prst="ellipse">
            <a:avLst/>
          </a:prstGeom>
          <a:solidFill>
            <a:srgbClr val="E1D3ED"/>
          </a:solidFill>
          <a:ln w="6350">
            <a:solidFill>
              <a:srgbClr val="E1D3ED"/>
            </a:solidFill>
            <a:prstDash val="solid"/>
          </a:ln>
        </p:spPr>
      </p:sp>
      <p:sp>
        <p:nvSpPr>
          <p:cNvPr id="7" name="Shape 5"/>
          <p:cNvSpPr/>
          <p:nvPr/>
        </p:nvSpPr>
        <p:spPr>
          <a:xfrm>
            <a:off x="9784080" y="2148840"/>
            <a:ext cx="274320" cy="274320"/>
          </a:xfrm>
          <a:prstGeom prst="ellipse">
            <a:avLst/>
          </a:prstGeom>
          <a:solidFill>
            <a:srgbClr val="F39C33"/>
          </a:solidFill>
          <a:ln w="6350">
            <a:solidFill>
              <a:srgbClr val="F39C33"/>
            </a:solidFill>
            <a:prstDash val="solid"/>
          </a:ln>
        </p:spPr>
      </p:sp>
      <p:sp>
        <p:nvSpPr>
          <p:cNvPr id="8" name="Shape 6"/>
          <p:cNvSpPr/>
          <p:nvPr/>
        </p:nvSpPr>
        <p:spPr>
          <a:xfrm>
            <a:off x="7406640" y="2697480"/>
            <a:ext cx="201168" cy="201168"/>
          </a:xfrm>
          <a:prstGeom prst="ellipse">
            <a:avLst/>
          </a:prstGeom>
          <a:solidFill>
            <a:srgbClr val="3FA7D6"/>
          </a:solidFill>
          <a:ln w="6350">
            <a:solidFill>
              <a:srgbClr val="3FA7D6"/>
            </a:solidFill>
            <a:prstDash val="solid"/>
          </a:ln>
        </p:spPr>
      </p:sp>
      <p:sp>
        <p:nvSpPr>
          <p:cNvPr id="9" name="Shape 7"/>
          <p:cNvSpPr/>
          <p:nvPr/>
        </p:nvSpPr>
        <p:spPr>
          <a:xfrm>
            <a:off x="11338560" y="5760720"/>
            <a:ext cx="256032" cy="256032"/>
          </a:xfrm>
          <a:prstGeom prst="ellipse">
            <a:avLst/>
          </a:prstGeom>
          <a:solidFill>
            <a:srgbClr val="9A6BC4"/>
          </a:solidFill>
          <a:ln w="6350">
            <a:solidFill>
              <a:srgbClr val="9A6BC4"/>
            </a:solidFill>
            <a:prstDash val="solid"/>
          </a:ln>
        </p:spPr>
      </p:sp>
      <p:sp>
        <p:nvSpPr>
          <p:cNvPr id="10" name="Shape 8"/>
          <p:cNvSpPr/>
          <p:nvPr/>
        </p:nvSpPr>
        <p:spPr>
          <a:xfrm>
            <a:off x="6858000" y="5486400"/>
            <a:ext cx="182880" cy="182880"/>
          </a:xfrm>
          <a:prstGeom prst="ellipse">
            <a:avLst/>
          </a:prstGeom>
          <a:solidFill>
            <a:srgbClr val="5DBB63"/>
          </a:solidFill>
          <a:ln w="6350">
            <a:solidFill>
              <a:srgbClr val="5DBB63"/>
            </a:solidFill>
            <a:prstDash val="solid"/>
          </a:ln>
        </p:spPr>
      </p:sp>
      <p:sp>
        <p:nvSpPr>
          <p:cNvPr id="11" name="Shape 9"/>
          <p:cNvSpPr/>
          <p:nvPr/>
        </p:nvSpPr>
        <p:spPr>
          <a:xfrm>
            <a:off x="10058400" y="6126480"/>
            <a:ext cx="164592" cy="164592"/>
          </a:xfrm>
          <a:prstGeom prst="ellipse">
            <a:avLst/>
          </a:prstGeom>
          <a:solidFill>
            <a:srgbClr val="4A6FC7"/>
          </a:solidFill>
          <a:ln w="6350">
            <a:solidFill>
              <a:srgbClr val="4A6FC7"/>
            </a:solidFill>
            <a:prstDash val="solid"/>
          </a:ln>
        </p:spPr>
      </p:sp>
      <p:sp>
        <p:nvSpPr>
          <p:cNvPr id="12" name="Text 10"/>
          <p:cNvSpPr txBox="1"/>
          <p:nvPr/>
        </p:nvSpPr>
        <p:spPr>
          <a:xfrm>
            <a:off x="822960" y="1737360"/>
            <a:ext cx="6217920" cy="365760"/>
          </a:xfrm>
          <a:prstGeom prst="rect">
            <a:avLst/>
          </a:prstGeom>
          <a:noFill/>
          <a:ln/>
        </p:spPr>
        <p:txBody>
          <a:bodyPr wrap="square" lIns="0" tIns="0" rIns="0" bIns="0" rtlCol="0" anchor="t"/>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クロスボーダーキャリアパス　候補生発表</a:t>
            </a:r>
            <a:endParaRPr lang="en-US" sz="1600" dirty="0"/>
          </a:p>
        </p:txBody>
      </p:sp>
      <p:sp>
        <p:nvSpPr>
          <p:cNvPr id="13" name="Text 11"/>
          <p:cNvSpPr txBox="1"/>
          <p:nvPr/>
        </p:nvSpPr>
        <p:spPr>
          <a:xfrm>
            <a:off x="822960" y="2148840"/>
            <a:ext cx="6217920" cy="1645920"/>
          </a:xfrm>
          <a:prstGeom prst="rect">
            <a:avLst/>
          </a:prstGeom>
          <a:noFill/>
          <a:ln/>
        </p:spPr>
        <p:txBody>
          <a:bodyPr wrap="square" lIns="0" tIns="0" rIns="0" bIns="0" rtlCol="0" anchor="t"/>
          <a:lstStyle/>
          <a:p>
            <a:pPr indent="0" marL="0">
              <a:lnSpc>
                <a:spcPts val="5750"/>
              </a:lnSpc>
              <a:buNone/>
            </a:pPr>
            <a:r>
              <a:rPr lang="en-US" sz="4600" b="1" dirty="0">
                <a:solidFill>
                  <a:srgbClr val="2E3440"/>
                </a:solidFill>
                <a:latin typeface="Meiryo UI" pitchFamily="34" charset="0"/>
                <a:ea typeface="Meiryo UI" pitchFamily="34" charset="-122"/>
                <a:cs typeface="Meiryo UI" pitchFamily="34" charset="-120"/>
              </a:rPr>
              <a:t>全国に</a:t>
            </a:r>
            <a:endParaRPr lang="en-US" sz="4600" dirty="0"/>
          </a:p>
          <a:p>
            <a:pPr indent="0" marL="0">
              <a:lnSpc>
                <a:spcPts val="5750"/>
              </a:lnSpc>
              <a:buNone/>
            </a:pPr>
            <a:r>
              <a:rPr lang="en-US" sz="4600" b="1" dirty="0">
                <a:solidFill>
                  <a:srgbClr val="2E3440"/>
                </a:solidFill>
                <a:latin typeface="Meiryo UI" pitchFamily="34" charset="0"/>
                <a:ea typeface="Meiryo UI" pitchFamily="34" charset="-122"/>
                <a:cs typeface="Meiryo UI" pitchFamily="34" charset="-120"/>
              </a:rPr>
              <a:t>トータルサポートを。</a:t>
            </a:r>
            <a:endParaRPr lang="en-US" sz="4600" dirty="0"/>
          </a:p>
        </p:txBody>
      </p:sp>
      <p:sp>
        <p:nvSpPr>
          <p:cNvPr id="14" name="Text 12"/>
          <p:cNvSpPr txBox="1"/>
          <p:nvPr/>
        </p:nvSpPr>
        <p:spPr>
          <a:xfrm>
            <a:off x="822960" y="3931920"/>
            <a:ext cx="6217920" cy="457200"/>
          </a:xfrm>
          <a:prstGeom prst="rect">
            <a:avLst/>
          </a:prstGeom>
          <a:noFill/>
          <a:ln/>
        </p:spPr>
        <p:txBody>
          <a:bodyPr wrap="square" lIns="0" tIns="0" rIns="0" bIns="0" rtlCol="0" anchor="t"/>
          <a:lstStyle/>
          <a:p>
            <a:pPr indent="0" marL="0">
              <a:lnSpc>
                <a:spcPts val="2860"/>
              </a:lnSpc>
              <a:buNone/>
            </a:pPr>
            <a:r>
              <a:rPr lang="en-US" sz="2200" b="1" dirty="0">
                <a:solidFill>
                  <a:srgbClr val="3A5BB8"/>
                </a:solidFill>
                <a:latin typeface="Meiryo UI" pitchFamily="34" charset="0"/>
                <a:ea typeface="Meiryo UI" pitchFamily="34" charset="-122"/>
                <a:cs typeface="Meiryo UI" pitchFamily="34" charset="-120"/>
              </a:rPr>
              <a:t>その始まりを、愛媛から。</a:t>
            </a:r>
            <a:endParaRPr lang="en-US" sz="2200" dirty="0"/>
          </a:p>
        </p:txBody>
      </p:sp>
      <p:sp>
        <p:nvSpPr>
          <p:cNvPr id="15" name="Text 13"/>
          <p:cNvSpPr txBox="1"/>
          <p:nvPr/>
        </p:nvSpPr>
        <p:spPr>
          <a:xfrm>
            <a:off x="822960" y="4709160"/>
            <a:ext cx="6217920" cy="731520"/>
          </a:xfrm>
          <a:prstGeom prst="rect">
            <a:avLst/>
          </a:prstGeom>
          <a:noFill/>
          <a:ln/>
        </p:spPr>
        <p:txBody>
          <a:bodyPr wrap="square" lIns="0" tIns="0" rIns="0" bIns="0" rtlCol="0" anchor="t"/>
          <a:lstStyle/>
          <a:p>
            <a:pPr indent="0" marL="0">
              <a:lnSpc>
                <a:spcPts val="2100"/>
              </a:lnSpc>
              <a:buNone/>
            </a:pPr>
            <a:r>
              <a:rPr lang="en-US" sz="1400" dirty="0">
                <a:solidFill>
                  <a:srgbClr val="5B6472"/>
                </a:solidFill>
                <a:latin typeface="Meiryo UI" pitchFamily="34" charset="0"/>
                <a:ea typeface="Meiryo UI" pitchFamily="34" charset="-122"/>
                <a:cs typeface="Meiryo UI" pitchFamily="34" charset="-120"/>
              </a:rPr>
              <a:t>放課後等デイサービス　管理者 兼 エリアマネージャー</a:t>
            </a:r>
            <a:endParaRPr lang="en-US" sz="1400" dirty="0"/>
          </a:p>
          <a:p>
            <a:pPr indent="0" marL="0">
              <a:lnSpc>
                <a:spcPts val="2100"/>
              </a:lnSpc>
              <a:buNone/>
            </a:pPr>
            <a:r>
              <a:rPr lang="en-US" sz="1400" dirty="0">
                <a:solidFill>
                  <a:srgbClr val="5B6472"/>
                </a:solidFill>
                <a:latin typeface="Meiryo UI" pitchFamily="34" charset="0"/>
                <a:ea typeface="Meiryo UI" pitchFamily="34" charset="-122"/>
                <a:cs typeface="Meiryo UI" pitchFamily="34" charset="-120"/>
              </a:rPr>
              <a:t>夢門塾ゆうゆう西条</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D0DAF0"/>
          </a:solidFill>
          <a:ln w="6350">
            <a:solidFill>
              <a:srgbClr val="D0DAF0"/>
            </a:solidFill>
            <a:prstDash val="solid"/>
          </a:ln>
        </p:spPr>
      </p:sp>
      <p:sp>
        <p:nvSpPr>
          <p:cNvPr id="3" name="Shape 1"/>
          <p:cNvSpPr/>
          <p:nvPr/>
        </p:nvSpPr>
        <p:spPr>
          <a:xfrm>
            <a:off x="9585655" y="320040"/>
            <a:ext cx="1051560" cy="1051560"/>
          </a:xfrm>
          <a:prstGeom prst="ellipse">
            <a:avLst/>
          </a:prstGeom>
          <a:solidFill>
            <a:srgbClr val="F8C7CB"/>
          </a:solidFill>
          <a:ln w="6350">
            <a:solidFill>
              <a:srgbClr val="F8C7CB"/>
            </a:solidFill>
            <a:prstDash val="solid"/>
          </a:ln>
        </p:spPr>
      </p:sp>
      <p:sp>
        <p:nvSpPr>
          <p:cNvPr id="4" name="Shape 2"/>
          <p:cNvSpPr/>
          <p:nvPr/>
        </p:nvSpPr>
        <p:spPr>
          <a:xfrm>
            <a:off x="9128455" y="1143000"/>
            <a:ext cx="292608" cy="292608"/>
          </a:xfrm>
          <a:prstGeom prst="ellipse">
            <a:avLst/>
          </a:prstGeom>
          <a:solidFill>
            <a:srgbClr val="5DBB63"/>
          </a:solidFill>
          <a:ln w="6350">
            <a:solidFill>
              <a:srgbClr val="5DBB63"/>
            </a:solidFill>
            <a:prstDash val="solid"/>
          </a:ln>
        </p:spPr>
      </p:sp>
      <p:sp>
        <p:nvSpPr>
          <p:cNvPr id="5" name="Shape 3"/>
          <p:cNvSpPr/>
          <p:nvPr/>
        </p:nvSpPr>
        <p:spPr>
          <a:xfrm>
            <a:off x="329184" y="457200"/>
            <a:ext cx="749808" cy="749808"/>
          </a:xfrm>
          <a:prstGeom prst="ellipse">
            <a:avLst/>
          </a:prstGeom>
          <a:solidFill>
            <a:srgbClr val="F9E4A2"/>
          </a:solidFill>
          <a:ln w="6350">
            <a:solidFill>
              <a:srgbClr val="F9E4A2"/>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これまでの歩み</a:t>
            </a:r>
            <a:endParaRPr lang="en-US" sz="3000" dirty="0"/>
          </a:p>
        </p:txBody>
      </p:sp>
      <p:sp>
        <p:nvSpPr>
          <p:cNvPr id="7" name="Shape 5"/>
          <p:cNvSpPr/>
          <p:nvPr/>
        </p:nvSpPr>
        <p:spPr>
          <a:xfrm>
            <a:off x="11222431" y="6291072"/>
            <a:ext cx="420624" cy="420624"/>
          </a:xfrm>
          <a:prstGeom prst="ellipse">
            <a:avLst/>
          </a:prstGeom>
          <a:solidFill>
            <a:srgbClr val="FAEAB7"/>
          </a:solidFill>
          <a:ln w="6350">
            <a:solidFill>
              <a:srgbClr val="FAEAB7"/>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2</a:t>
            </a:r>
            <a:endParaRPr lang="en-US" sz="1200" dirty="0"/>
          </a:p>
        </p:txBody>
      </p:sp>
      <p:sp>
        <p:nvSpPr>
          <p:cNvPr id="9" name="Shape 7"/>
          <p:cNvSpPr/>
          <p:nvPr/>
        </p:nvSpPr>
        <p:spPr>
          <a:xfrm>
            <a:off x="548640" y="2971800"/>
            <a:ext cx="11094415" cy="0"/>
          </a:xfrm>
          <a:prstGeom prst="line">
            <a:avLst/>
          </a:prstGeom>
          <a:noFill/>
          <a:ln w="25400">
            <a:solidFill>
              <a:srgbClr val="D5DAE3"/>
            </a:solidFill>
            <a:prstDash val="solid"/>
          </a:ln>
        </p:spPr>
      </p:sp>
      <p:sp>
        <p:nvSpPr>
          <p:cNvPr id="10" name="Text 8"/>
          <p:cNvSpPr txBox="1"/>
          <p:nvPr/>
        </p:nvSpPr>
        <p:spPr>
          <a:xfrm>
            <a:off x="548640"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入社</a:t>
            </a:r>
            <a:endParaRPr lang="en-US" sz="1300" dirty="0"/>
          </a:p>
        </p:txBody>
      </p:sp>
      <p:sp>
        <p:nvSpPr>
          <p:cNvPr id="11" name="Text 9"/>
          <p:cNvSpPr txBox="1"/>
          <p:nvPr/>
        </p:nvSpPr>
        <p:spPr>
          <a:xfrm>
            <a:off x="548640"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C73B4A"/>
                </a:solidFill>
                <a:latin typeface="Meiryo UI" pitchFamily="34" charset="0"/>
                <a:ea typeface="Meiryo UI" pitchFamily="34" charset="-122"/>
                <a:cs typeface="Meiryo UI" pitchFamily="34" charset="-120"/>
              </a:rPr>
              <a:t>2019.10.28</a:t>
            </a:r>
            <a:endParaRPr lang="en-US" sz="2600" dirty="0"/>
          </a:p>
        </p:txBody>
      </p:sp>
      <p:sp>
        <p:nvSpPr>
          <p:cNvPr id="12" name="Shape 10"/>
          <p:cNvSpPr/>
          <p:nvPr/>
        </p:nvSpPr>
        <p:spPr>
          <a:xfrm>
            <a:off x="731520" y="2807208"/>
            <a:ext cx="329184" cy="329184"/>
          </a:xfrm>
          <a:prstGeom prst="ellipse">
            <a:avLst/>
          </a:prstGeom>
          <a:solidFill>
            <a:srgbClr val="E8505B"/>
          </a:solidFill>
          <a:ln w="38100">
            <a:solidFill>
              <a:srgbClr val="FFFFFF"/>
            </a:solidFill>
            <a:prstDash val="solid"/>
          </a:ln>
        </p:spPr>
      </p:sp>
      <p:sp>
        <p:nvSpPr>
          <p:cNvPr id="13" name="Shape 11"/>
          <p:cNvSpPr/>
          <p:nvPr/>
        </p:nvSpPr>
        <p:spPr>
          <a:xfrm>
            <a:off x="548640" y="3337560"/>
            <a:ext cx="3474720" cy="2286000"/>
          </a:xfrm>
          <a:prstGeom prst="roundRect">
            <a:avLst>
              <a:gd name="adj" fmla="val 12000"/>
            </a:avLst>
          </a:prstGeom>
          <a:solidFill>
            <a:srgbClr val="FBE3E5"/>
          </a:solidFill>
          <a:ln w="6350">
            <a:solidFill>
              <a:srgbClr val="FBE3E5"/>
            </a:solidFill>
            <a:prstDash val="solid"/>
          </a:ln>
        </p:spPr>
      </p:sp>
      <p:sp>
        <p:nvSpPr>
          <p:cNvPr id="14" name="Text 12"/>
          <p:cNvSpPr txBox="1"/>
          <p:nvPr/>
        </p:nvSpPr>
        <p:spPr>
          <a:xfrm>
            <a:off x="822960"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奈良津1組</a:t>
            </a:r>
            <a:endParaRPr lang="en-US" sz="1800" dirty="0"/>
          </a:p>
        </p:txBody>
      </p:sp>
      <p:sp>
        <p:nvSpPr>
          <p:cNvPr id="15" name="Text 13"/>
          <p:cNvSpPr txBox="1"/>
          <p:nvPr/>
        </p:nvSpPr>
        <p:spPr>
          <a:xfrm>
            <a:off x="822960"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放課後等デイサービスの</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現場からスタート</a:t>
            </a:r>
            <a:endParaRPr lang="en-US" sz="1400" dirty="0"/>
          </a:p>
        </p:txBody>
      </p:sp>
      <p:sp>
        <p:nvSpPr>
          <p:cNvPr id="16" name="Text 14"/>
          <p:cNvSpPr txBox="1"/>
          <p:nvPr/>
        </p:nvSpPr>
        <p:spPr>
          <a:xfrm>
            <a:off x="4358488"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17" name="Text 15"/>
          <p:cNvSpPr txBox="1"/>
          <p:nvPr/>
        </p:nvSpPr>
        <p:spPr>
          <a:xfrm>
            <a:off x="4358488"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2F7F3A"/>
                </a:solidFill>
                <a:latin typeface="Meiryo UI" pitchFamily="34" charset="0"/>
                <a:ea typeface="Meiryo UI" pitchFamily="34" charset="-122"/>
                <a:cs typeface="Meiryo UI" pitchFamily="34" charset="-120"/>
              </a:rPr>
              <a:t>2024.4.1</a:t>
            </a:r>
            <a:endParaRPr lang="en-US" sz="2600" dirty="0"/>
          </a:p>
        </p:txBody>
      </p:sp>
      <p:sp>
        <p:nvSpPr>
          <p:cNvPr id="18" name="Shape 16"/>
          <p:cNvSpPr/>
          <p:nvPr/>
        </p:nvSpPr>
        <p:spPr>
          <a:xfrm>
            <a:off x="4541368" y="2807208"/>
            <a:ext cx="329184" cy="329184"/>
          </a:xfrm>
          <a:prstGeom prst="ellipse">
            <a:avLst/>
          </a:prstGeom>
          <a:solidFill>
            <a:srgbClr val="5DBB63"/>
          </a:solidFill>
          <a:ln w="38100">
            <a:solidFill>
              <a:srgbClr val="FFFFFF"/>
            </a:solidFill>
            <a:prstDash val="solid"/>
          </a:ln>
        </p:spPr>
      </p:sp>
      <p:sp>
        <p:nvSpPr>
          <p:cNvPr id="19" name="Shape 17"/>
          <p:cNvSpPr/>
          <p:nvPr/>
        </p:nvSpPr>
        <p:spPr>
          <a:xfrm>
            <a:off x="4358488" y="3337560"/>
            <a:ext cx="3474720" cy="2286000"/>
          </a:xfrm>
          <a:prstGeom prst="roundRect">
            <a:avLst>
              <a:gd name="adj" fmla="val 12000"/>
            </a:avLst>
          </a:prstGeom>
          <a:solidFill>
            <a:srgbClr val="E5F4E6"/>
          </a:solidFill>
          <a:ln w="6350">
            <a:solidFill>
              <a:srgbClr val="E5F4E6"/>
            </a:solidFill>
            <a:prstDash val="solid"/>
          </a:ln>
        </p:spPr>
      </p:sp>
      <p:sp>
        <p:nvSpPr>
          <p:cNvPr id="20" name="Text 18"/>
          <p:cNvSpPr txBox="1"/>
          <p:nvPr/>
        </p:nvSpPr>
        <p:spPr>
          <a:xfrm>
            <a:off x="4632808"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愛媛県今治市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夢門塾ゆうゆう日吉</a:t>
            </a:r>
            <a:endParaRPr lang="en-US" sz="1800" dirty="0"/>
          </a:p>
        </p:txBody>
      </p:sp>
      <p:sp>
        <p:nvSpPr>
          <p:cNvPr id="21" name="Text 19"/>
          <p:cNvSpPr txBox="1"/>
          <p:nvPr/>
        </p:nvSpPr>
        <p:spPr>
          <a:xfrm>
            <a:off x="4632808"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困難も経験しながら、愛媛で</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利用者の居場所づくりに向き合う</a:t>
            </a:r>
            <a:endParaRPr lang="en-US" sz="1400" dirty="0"/>
          </a:p>
        </p:txBody>
      </p:sp>
      <p:sp>
        <p:nvSpPr>
          <p:cNvPr id="22" name="Text 20"/>
          <p:cNvSpPr txBox="1"/>
          <p:nvPr/>
        </p:nvSpPr>
        <p:spPr>
          <a:xfrm>
            <a:off x="8168335"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23" name="Text 21"/>
          <p:cNvSpPr txBox="1"/>
          <p:nvPr/>
        </p:nvSpPr>
        <p:spPr>
          <a:xfrm>
            <a:off x="8168335"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3A5BB8"/>
                </a:solidFill>
                <a:latin typeface="Meiryo UI" pitchFamily="34" charset="0"/>
                <a:ea typeface="Meiryo UI" pitchFamily="34" charset="-122"/>
                <a:cs typeface="Meiryo UI" pitchFamily="34" charset="-120"/>
              </a:rPr>
              <a:t>2026.9.1</a:t>
            </a:r>
            <a:endParaRPr lang="en-US" sz="2600" dirty="0"/>
          </a:p>
        </p:txBody>
      </p:sp>
      <p:sp>
        <p:nvSpPr>
          <p:cNvPr id="24" name="Shape 22"/>
          <p:cNvSpPr/>
          <p:nvPr/>
        </p:nvSpPr>
        <p:spPr>
          <a:xfrm>
            <a:off x="8351215" y="2807208"/>
            <a:ext cx="329184" cy="329184"/>
          </a:xfrm>
          <a:prstGeom prst="ellipse">
            <a:avLst/>
          </a:prstGeom>
          <a:solidFill>
            <a:srgbClr val="4A6FC7"/>
          </a:solidFill>
          <a:ln w="38100">
            <a:solidFill>
              <a:srgbClr val="FFFFFF"/>
            </a:solidFill>
            <a:prstDash val="solid"/>
          </a:ln>
        </p:spPr>
      </p:sp>
      <p:sp>
        <p:nvSpPr>
          <p:cNvPr id="25" name="Shape 23"/>
          <p:cNvSpPr/>
          <p:nvPr/>
        </p:nvSpPr>
        <p:spPr>
          <a:xfrm>
            <a:off x="8168335" y="3337560"/>
            <a:ext cx="3474720" cy="2286000"/>
          </a:xfrm>
          <a:prstGeom prst="roundRect">
            <a:avLst>
              <a:gd name="adj" fmla="val 12000"/>
            </a:avLst>
          </a:prstGeom>
          <a:solidFill>
            <a:srgbClr val="E2E8F6"/>
          </a:solidFill>
          <a:ln w="6350">
            <a:solidFill>
              <a:srgbClr val="E2E8F6"/>
            </a:solidFill>
            <a:prstDash val="solid"/>
          </a:ln>
        </p:spPr>
      </p:sp>
      <p:sp>
        <p:nvSpPr>
          <p:cNvPr id="26" name="Text 24"/>
          <p:cNvSpPr txBox="1"/>
          <p:nvPr/>
        </p:nvSpPr>
        <p:spPr>
          <a:xfrm>
            <a:off x="8442655"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愛媛県西条市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夢門塾ゆうゆう西条</a:t>
            </a:r>
            <a:endParaRPr lang="en-US" sz="1800" dirty="0"/>
          </a:p>
        </p:txBody>
      </p:sp>
      <p:sp>
        <p:nvSpPr>
          <p:cNvPr id="27" name="Text 25"/>
          <p:cNvSpPr txBox="1"/>
          <p:nvPr/>
        </p:nvSpPr>
        <p:spPr>
          <a:xfrm>
            <a:off x="8442655"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管理者 兼 エリアマネージャー</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として愛媛エリアを担う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E5D9F0"/>
          </a:solidFill>
          <a:ln w="6350">
            <a:solidFill>
              <a:srgbClr val="E5D9F0"/>
            </a:solidFill>
            <a:prstDash val="solid"/>
          </a:ln>
        </p:spPr>
      </p:sp>
      <p:sp>
        <p:nvSpPr>
          <p:cNvPr id="3" name="Shape 1"/>
          <p:cNvSpPr/>
          <p:nvPr/>
        </p:nvSpPr>
        <p:spPr>
          <a:xfrm>
            <a:off x="9585655" y="320040"/>
            <a:ext cx="1051560" cy="1051560"/>
          </a:xfrm>
          <a:prstGeom prst="ellipse">
            <a:avLst/>
          </a:prstGeom>
          <a:solidFill>
            <a:srgbClr val="FBDFBE"/>
          </a:solidFill>
          <a:ln w="6350">
            <a:solidFill>
              <a:srgbClr val="FBDFBE"/>
            </a:solidFill>
            <a:prstDash val="solid"/>
          </a:ln>
        </p:spPr>
      </p:sp>
      <p:sp>
        <p:nvSpPr>
          <p:cNvPr id="4" name="Shape 2"/>
          <p:cNvSpPr/>
          <p:nvPr/>
        </p:nvSpPr>
        <p:spPr>
          <a:xfrm>
            <a:off x="9128455" y="1143000"/>
            <a:ext cx="292608" cy="292608"/>
          </a:xfrm>
          <a:prstGeom prst="ellipse">
            <a:avLst/>
          </a:prstGeom>
          <a:solidFill>
            <a:srgbClr val="3FA7D6"/>
          </a:solidFill>
          <a:ln w="6350">
            <a:solidFill>
              <a:srgbClr val="3FA7D6"/>
            </a:solidFill>
            <a:prstDash val="solid"/>
          </a:ln>
        </p:spPr>
      </p:sp>
      <p:sp>
        <p:nvSpPr>
          <p:cNvPr id="5" name="Shape 3"/>
          <p:cNvSpPr/>
          <p:nvPr/>
        </p:nvSpPr>
        <p:spPr>
          <a:xfrm>
            <a:off x="329184" y="457200"/>
            <a:ext cx="749808" cy="749808"/>
          </a:xfrm>
          <a:prstGeom prst="ellipse">
            <a:avLst/>
          </a:prstGeom>
          <a:solidFill>
            <a:srgbClr val="B6E0B9"/>
          </a:solidFill>
          <a:ln w="6350">
            <a:solidFill>
              <a:srgbClr val="B6E0B9"/>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①　保護者の声</a:t>
            </a:r>
            <a:endParaRPr lang="en-US" sz="3000" dirty="0"/>
          </a:p>
        </p:txBody>
      </p:sp>
      <p:sp>
        <p:nvSpPr>
          <p:cNvPr id="7" name="Shape 5"/>
          <p:cNvSpPr/>
          <p:nvPr/>
        </p:nvSpPr>
        <p:spPr>
          <a:xfrm>
            <a:off x="11222431" y="6291072"/>
            <a:ext cx="420624" cy="420624"/>
          </a:xfrm>
          <a:prstGeom prst="ellipse">
            <a:avLst/>
          </a:prstGeom>
          <a:solidFill>
            <a:srgbClr val="C6E7C8"/>
          </a:solidFill>
          <a:ln w="6350">
            <a:solidFill>
              <a:srgbClr val="C6E7C8"/>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3</a:t>
            </a:r>
            <a:endParaRPr lang="en-US" sz="1200" dirty="0"/>
          </a:p>
        </p:txBody>
      </p:sp>
      <p:sp>
        <p:nvSpPr>
          <p:cNvPr id="9" name="Text 7"/>
          <p:cNvSpPr txBox="1"/>
          <p:nvPr/>
        </p:nvSpPr>
        <p:spPr>
          <a:xfrm>
            <a:off x="548640" y="1572768"/>
            <a:ext cx="11094415" cy="777240"/>
          </a:xfrm>
          <a:prstGeom prst="rect">
            <a:avLst/>
          </a:prstGeom>
          <a:noFill/>
          <a:ln/>
        </p:spPr>
        <p:txBody>
          <a:bodyPr wrap="square" lIns="0" tIns="0" rIns="0" bIns="0" rtlCol="0" anchor="t"/>
          <a:lstStyle/>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異動先ではさまざまな困難もあった。それでも愛媛の地にもキャレオス・夢門塾はあり、</a:t>
            </a:r>
            <a:endParaRPr lang="en-US" sz="1500" dirty="0"/>
          </a:p>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利用者の「居場所」として確立していた。</a:t>
            </a:r>
            <a:endParaRPr lang="en-US" sz="1500" dirty="0"/>
          </a:p>
        </p:txBody>
      </p:sp>
      <p:sp>
        <p:nvSpPr>
          <p:cNvPr id="10" name="Shape 8"/>
          <p:cNvSpPr/>
          <p:nvPr/>
        </p:nvSpPr>
        <p:spPr>
          <a:xfrm>
            <a:off x="548640" y="2514600"/>
            <a:ext cx="5396332" cy="2103120"/>
          </a:xfrm>
          <a:prstGeom prst="roundRect">
            <a:avLst>
              <a:gd name="adj" fmla="val 13043"/>
            </a:avLst>
          </a:prstGeom>
          <a:solidFill>
            <a:srgbClr val="FBE3E5"/>
          </a:solidFill>
          <a:ln w="6350">
            <a:solidFill>
              <a:srgbClr val="FBE3E5"/>
            </a:solidFill>
            <a:prstDash val="solid"/>
          </a:ln>
        </p:spPr>
      </p:sp>
      <p:sp>
        <p:nvSpPr>
          <p:cNvPr id="11" name="Text 9"/>
          <p:cNvSpPr txBox="1"/>
          <p:nvPr/>
        </p:nvSpPr>
        <p:spPr>
          <a:xfrm>
            <a:off x="822960"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E8505B"/>
                </a:solidFill>
                <a:latin typeface="Meiryo UI" pitchFamily="34" charset="0"/>
                <a:ea typeface="Meiryo UI" pitchFamily="34" charset="-122"/>
                <a:cs typeface="Meiryo UI" pitchFamily="34" charset="-120"/>
              </a:rPr>
              <a:t>“</a:t>
            </a:r>
            <a:endParaRPr lang="en-US" sz="6000" dirty="0"/>
          </a:p>
        </p:txBody>
      </p:sp>
      <p:sp>
        <p:nvSpPr>
          <p:cNvPr id="12" name="Text 10"/>
          <p:cNvSpPr txBox="1"/>
          <p:nvPr/>
        </p:nvSpPr>
        <p:spPr>
          <a:xfrm>
            <a:off x="960120"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「ゆうゆうを卒業したあとが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とても不安」</a:t>
            </a:r>
            <a:endParaRPr lang="en-US" sz="2100" dirty="0"/>
          </a:p>
        </p:txBody>
      </p:sp>
      <p:sp>
        <p:nvSpPr>
          <p:cNvPr id="13" name="Shape 11"/>
          <p:cNvSpPr/>
          <p:nvPr/>
        </p:nvSpPr>
        <p:spPr>
          <a:xfrm>
            <a:off x="6246724" y="2514600"/>
            <a:ext cx="5396332" cy="2103120"/>
          </a:xfrm>
          <a:prstGeom prst="roundRect">
            <a:avLst>
              <a:gd name="adj" fmla="val 13043"/>
            </a:avLst>
          </a:prstGeom>
          <a:solidFill>
            <a:srgbClr val="E0F1F8"/>
          </a:solidFill>
          <a:ln w="6350">
            <a:solidFill>
              <a:srgbClr val="E0F1F8"/>
            </a:solidFill>
            <a:prstDash val="solid"/>
          </a:ln>
        </p:spPr>
      </p:sp>
      <p:sp>
        <p:nvSpPr>
          <p:cNvPr id="14" name="Text 12"/>
          <p:cNvSpPr txBox="1"/>
          <p:nvPr/>
        </p:nvSpPr>
        <p:spPr>
          <a:xfrm>
            <a:off x="6521044"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3FA7D6"/>
                </a:solidFill>
                <a:latin typeface="Meiryo UI" pitchFamily="34" charset="0"/>
                <a:ea typeface="Meiryo UI" pitchFamily="34" charset="-122"/>
                <a:cs typeface="Meiryo UI" pitchFamily="34" charset="-120"/>
              </a:rPr>
              <a:t>“</a:t>
            </a:r>
            <a:endParaRPr lang="en-US" sz="6000" dirty="0"/>
          </a:p>
        </p:txBody>
      </p:sp>
      <p:sp>
        <p:nvSpPr>
          <p:cNvPr id="15" name="Text 13"/>
          <p:cNvSpPr txBox="1"/>
          <p:nvPr/>
        </p:nvSpPr>
        <p:spPr>
          <a:xfrm>
            <a:off x="6658204"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「愛媛にキャレオスの就労が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あったらとっても安心する」</a:t>
            </a:r>
            <a:endParaRPr lang="en-US" sz="2100" dirty="0"/>
          </a:p>
        </p:txBody>
      </p:sp>
      <p:sp>
        <p:nvSpPr>
          <p:cNvPr id="16" name="Text 14"/>
          <p:cNvSpPr txBox="1"/>
          <p:nvPr/>
        </p:nvSpPr>
        <p:spPr>
          <a:xfrm>
            <a:off x="548640" y="4709160"/>
            <a:ext cx="11094415" cy="320040"/>
          </a:xfrm>
          <a:prstGeom prst="rect">
            <a:avLst/>
          </a:prstGeom>
          <a:noFill/>
          <a:ln/>
        </p:spPr>
        <p:txBody>
          <a:bodyPr wrap="square" lIns="0" tIns="0" rIns="0" bIns="0" rtlCol="0" anchor="t"/>
          <a:lstStyle/>
          <a:p>
            <a:pPr algn="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 高校生になる利用者の保護者より</a:t>
            </a:r>
            <a:endParaRPr lang="en-US" sz="1200" dirty="0"/>
          </a:p>
        </p:txBody>
      </p:sp>
      <p:sp>
        <p:nvSpPr>
          <p:cNvPr id="17" name="Shape 15"/>
          <p:cNvSpPr/>
          <p:nvPr/>
        </p:nvSpPr>
        <p:spPr>
          <a:xfrm>
            <a:off x="548640" y="5230368"/>
            <a:ext cx="11094415" cy="603504"/>
          </a:xfrm>
          <a:prstGeom prst="roundRect">
            <a:avLst>
              <a:gd name="adj" fmla="val 50000"/>
            </a:avLst>
          </a:prstGeom>
          <a:solidFill>
            <a:srgbClr val="E6EBF7"/>
          </a:solidFill>
          <a:ln w="6350">
            <a:solidFill>
              <a:srgbClr val="E6EBF7"/>
            </a:solidFill>
            <a:prstDash val="solid"/>
          </a:ln>
        </p:spPr>
      </p:sp>
      <p:sp>
        <p:nvSpPr>
          <p:cNvPr id="18" name="Text 16"/>
          <p:cNvSpPr txBox="1"/>
          <p:nvPr/>
        </p:nvSpPr>
        <p:spPr>
          <a:xfrm>
            <a:off x="914400" y="5230368"/>
            <a:ext cx="10362895" cy="603504"/>
          </a:xfrm>
          <a:prstGeom prst="rect">
            <a:avLst/>
          </a:prstGeom>
          <a:noFill/>
          <a:ln/>
        </p:spPr>
        <p:txBody>
          <a:bodyPr wrap="square" lIns="0" tIns="0" rIns="0" bIns="0" rtlCol="0" anchor="ctr"/>
          <a:lstStyle/>
          <a:p>
            <a:pPr indent="0" marL="0">
              <a:lnSpc>
                <a:spcPts val="2470"/>
              </a:lnSpc>
              <a:buNone/>
            </a:pPr>
            <a:r>
              <a:rPr lang="en-US" sz="1900" b="1" dirty="0">
                <a:solidFill>
                  <a:srgbClr val="3A5BB8"/>
                </a:solidFill>
                <a:latin typeface="Meiryo UI" pitchFamily="34" charset="0"/>
                <a:ea typeface="Meiryo UI" pitchFamily="34" charset="-122"/>
                <a:cs typeface="Meiryo UI" pitchFamily="34" charset="-120"/>
              </a:rPr>
              <a:t>嬉しい、けれど胸の痛いことば。卒業後の「次の居場所」を愛媛に。</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F9D2D4"/>
          </a:solidFill>
          <a:ln w="6350">
            <a:solidFill>
              <a:srgbClr val="F9D2D4"/>
            </a:solidFill>
            <a:prstDash val="solid"/>
          </a:ln>
        </p:spPr>
      </p:sp>
      <p:sp>
        <p:nvSpPr>
          <p:cNvPr id="3" name="Shape 1"/>
          <p:cNvSpPr/>
          <p:nvPr/>
        </p:nvSpPr>
        <p:spPr>
          <a:xfrm>
            <a:off x="9585655" y="320040"/>
            <a:ext cx="1051560" cy="1051560"/>
          </a:xfrm>
          <a:prstGeom prst="ellipse">
            <a:avLst/>
          </a:prstGeom>
          <a:solidFill>
            <a:srgbClr val="FBEBBD"/>
          </a:solidFill>
          <a:ln w="6350">
            <a:solidFill>
              <a:srgbClr val="FBEBBD"/>
            </a:solidFill>
            <a:prstDash val="solid"/>
          </a:ln>
        </p:spPr>
      </p:sp>
      <p:sp>
        <p:nvSpPr>
          <p:cNvPr id="4" name="Shape 2"/>
          <p:cNvSpPr/>
          <p:nvPr/>
        </p:nvSpPr>
        <p:spPr>
          <a:xfrm>
            <a:off x="9128455" y="1143000"/>
            <a:ext cx="292608" cy="292608"/>
          </a:xfrm>
          <a:prstGeom prst="ellipse">
            <a:avLst/>
          </a:prstGeom>
          <a:solidFill>
            <a:srgbClr val="4A6FC7"/>
          </a:solidFill>
          <a:ln w="6350">
            <a:solidFill>
              <a:srgbClr val="4A6FC7"/>
            </a:solidFill>
            <a:prstDash val="solid"/>
          </a:ln>
        </p:spPr>
      </p:sp>
      <p:sp>
        <p:nvSpPr>
          <p:cNvPr id="5" name="Shape 3"/>
          <p:cNvSpPr/>
          <p:nvPr/>
        </p:nvSpPr>
        <p:spPr>
          <a:xfrm>
            <a:off x="329184" y="457200"/>
            <a:ext cx="749808" cy="749808"/>
          </a:xfrm>
          <a:prstGeom prst="ellipse">
            <a:avLst/>
          </a:prstGeom>
          <a:solidFill>
            <a:srgbClr val="A9D7ED"/>
          </a:solidFill>
          <a:ln w="6350">
            <a:solidFill>
              <a:srgbClr val="A9D7ED"/>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②　サービス支給量の決定基準の制定</a:t>
            </a:r>
            <a:endParaRPr lang="en-US" sz="3000" dirty="0"/>
          </a:p>
        </p:txBody>
      </p:sp>
      <p:sp>
        <p:nvSpPr>
          <p:cNvPr id="7" name="Shape 5"/>
          <p:cNvSpPr/>
          <p:nvPr/>
        </p:nvSpPr>
        <p:spPr>
          <a:xfrm>
            <a:off x="11222431" y="6291072"/>
            <a:ext cx="420624" cy="420624"/>
          </a:xfrm>
          <a:prstGeom prst="ellipse">
            <a:avLst/>
          </a:prstGeom>
          <a:solidFill>
            <a:srgbClr val="BCE0F1"/>
          </a:solidFill>
          <a:ln w="6350">
            <a:solidFill>
              <a:srgbClr val="BCE0F1"/>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4</a:t>
            </a:r>
            <a:endParaRPr lang="en-US" sz="1200" dirty="0"/>
          </a:p>
        </p:txBody>
      </p:sp>
      <p:sp>
        <p:nvSpPr>
          <p:cNvPr id="9" name="Shape 7"/>
          <p:cNvSpPr/>
          <p:nvPr/>
        </p:nvSpPr>
        <p:spPr>
          <a:xfrm>
            <a:off x="548640" y="1645920"/>
            <a:ext cx="3474720" cy="3246120"/>
          </a:xfrm>
          <a:prstGeom prst="roundRect">
            <a:avLst>
              <a:gd name="adj" fmla="val 8451"/>
            </a:avLst>
          </a:prstGeom>
          <a:solidFill>
            <a:srgbClr val="FDEFDE"/>
          </a:solidFill>
          <a:ln w="6350">
            <a:solidFill>
              <a:srgbClr val="FDEFDE"/>
            </a:solidFill>
            <a:prstDash val="solid"/>
          </a:ln>
        </p:spPr>
      </p:sp>
      <p:sp>
        <p:nvSpPr>
          <p:cNvPr id="10" name="Shape 8"/>
          <p:cNvSpPr/>
          <p:nvPr/>
        </p:nvSpPr>
        <p:spPr>
          <a:xfrm>
            <a:off x="822960" y="1920240"/>
            <a:ext cx="502920" cy="502920"/>
          </a:xfrm>
          <a:prstGeom prst="ellipse">
            <a:avLst/>
          </a:prstGeom>
          <a:solidFill>
            <a:srgbClr val="F39C33"/>
          </a:solidFill>
          <a:ln w="6350">
            <a:solidFill>
              <a:srgbClr val="F39C33"/>
            </a:solidFill>
            <a:prstDash val="solid"/>
          </a:ln>
        </p:spPr>
      </p:sp>
      <p:sp>
        <p:nvSpPr>
          <p:cNvPr id="11" name="Text 9"/>
          <p:cNvSpPr txBox="1"/>
          <p:nvPr/>
        </p:nvSpPr>
        <p:spPr>
          <a:xfrm>
            <a:off x="822960"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2E3440"/>
                </a:solidFill>
                <a:latin typeface="Meiryo UI" pitchFamily="34" charset="0"/>
                <a:ea typeface="Meiryo UI" pitchFamily="34" charset="-122"/>
                <a:cs typeface="Meiryo UI" pitchFamily="34" charset="-120"/>
              </a:rPr>
              <a:t>1</a:t>
            </a:r>
            <a:endParaRPr lang="en-US" sz="1700" dirty="0"/>
          </a:p>
        </p:txBody>
      </p:sp>
      <p:sp>
        <p:nvSpPr>
          <p:cNvPr id="12" name="Text 10"/>
          <p:cNvSpPr txBox="1"/>
          <p:nvPr/>
        </p:nvSpPr>
        <p:spPr>
          <a:xfrm>
            <a:off x="1481328"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制度の変化</a:t>
            </a:r>
            <a:endParaRPr lang="en-US" sz="1900" dirty="0"/>
          </a:p>
        </p:txBody>
      </p:sp>
      <p:sp>
        <p:nvSpPr>
          <p:cNvPr id="13" name="Text 11"/>
          <p:cNvSpPr txBox="1"/>
          <p:nvPr/>
        </p:nvSpPr>
        <p:spPr>
          <a:xfrm>
            <a:off x="822960"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受給者証の支給日数の上限が、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手帳や個別サポートの有無で</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決まるように。</a:t>
            </a:r>
            <a:endParaRPr lang="en-US" sz="1400" dirty="0"/>
          </a:p>
        </p:txBody>
      </p:sp>
      <p:sp>
        <p:nvSpPr>
          <p:cNvPr id="14" name="Shape 12"/>
          <p:cNvSpPr/>
          <p:nvPr/>
        </p:nvSpPr>
        <p:spPr>
          <a:xfrm>
            <a:off x="4108628" y="3104388"/>
            <a:ext cx="164592" cy="329184"/>
          </a:xfrm>
          <a:prstGeom prst="chevron">
            <a:avLst/>
          </a:prstGeom>
          <a:solidFill>
            <a:srgbClr val="B7C5E9"/>
          </a:solidFill>
          <a:ln w="6350">
            <a:solidFill>
              <a:srgbClr val="B7C5E9"/>
            </a:solidFill>
            <a:prstDash val="solid"/>
          </a:ln>
        </p:spPr>
      </p:sp>
      <p:sp>
        <p:nvSpPr>
          <p:cNvPr id="15" name="Shape 13"/>
          <p:cNvSpPr/>
          <p:nvPr/>
        </p:nvSpPr>
        <p:spPr>
          <a:xfrm>
            <a:off x="4358488" y="1645920"/>
            <a:ext cx="3474720" cy="3246120"/>
          </a:xfrm>
          <a:prstGeom prst="roundRect">
            <a:avLst>
              <a:gd name="adj" fmla="val 8451"/>
            </a:avLst>
          </a:prstGeom>
          <a:solidFill>
            <a:srgbClr val="FBE3E5"/>
          </a:solidFill>
          <a:ln w="6350">
            <a:solidFill>
              <a:srgbClr val="FBE3E5"/>
            </a:solidFill>
            <a:prstDash val="solid"/>
          </a:ln>
        </p:spPr>
      </p:sp>
      <p:sp>
        <p:nvSpPr>
          <p:cNvPr id="16" name="Shape 14"/>
          <p:cNvSpPr/>
          <p:nvPr/>
        </p:nvSpPr>
        <p:spPr>
          <a:xfrm>
            <a:off x="4632808" y="1920240"/>
            <a:ext cx="502920" cy="502920"/>
          </a:xfrm>
          <a:prstGeom prst="ellipse">
            <a:avLst/>
          </a:prstGeom>
          <a:solidFill>
            <a:srgbClr val="E8505B"/>
          </a:solidFill>
          <a:ln w="6350">
            <a:solidFill>
              <a:srgbClr val="E8505B"/>
            </a:solidFill>
            <a:prstDash val="solid"/>
          </a:ln>
        </p:spPr>
      </p:sp>
      <p:sp>
        <p:nvSpPr>
          <p:cNvPr id="17" name="Text 15"/>
          <p:cNvSpPr txBox="1"/>
          <p:nvPr/>
        </p:nvSpPr>
        <p:spPr>
          <a:xfrm>
            <a:off x="4632808"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2</a:t>
            </a:r>
            <a:endParaRPr lang="en-US" sz="1700" dirty="0"/>
          </a:p>
        </p:txBody>
      </p:sp>
      <p:sp>
        <p:nvSpPr>
          <p:cNvPr id="18" name="Text 16"/>
          <p:cNvSpPr txBox="1"/>
          <p:nvPr/>
        </p:nvSpPr>
        <p:spPr>
          <a:xfrm>
            <a:off x="5291176"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現場の不安</a:t>
            </a:r>
            <a:endParaRPr lang="en-US" sz="1900" dirty="0"/>
          </a:p>
        </p:txBody>
      </p:sp>
      <p:sp>
        <p:nvSpPr>
          <p:cNvPr id="19" name="Text 17"/>
          <p:cNvSpPr txBox="1"/>
          <p:nvPr/>
        </p:nvSpPr>
        <p:spPr>
          <a:xfrm>
            <a:off x="4632808"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・支給日数が減り、お留守番が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できるか不安</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・次の行き場がすぐに見つからない</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・放デイ利用中を理由に、</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児童クラブを断られた</a:t>
            </a:r>
            <a:endParaRPr lang="en-US" sz="1400" dirty="0"/>
          </a:p>
        </p:txBody>
      </p:sp>
      <p:sp>
        <p:nvSpPr>
          <p:cNvPr id="20" name="Shape 18"/>
          <p:cNvSpPr/>
          <p:nvPr/>
        </p:nvSpPr>
        <p:spPr>
          <a:xfrm>
            <a:off x="7918475" y="3104388"/>
            <a:ext cx="164592" cy="329184"/>
          </a:xfrm>
          <a:prstGeom prst="chevron">
            <a:avLst/>
          </a:prstGeom>
          <a:solidFill>
            <a:srgbClr val="B7C5E9"/>
          </a:solidFill>
          <a:ln w="6350">
            <a:solidFill>
              <a:srgbClr val="B7C5E9"/>
            </a:solidFill>
            <a:prstDash val="solid"/>
          </a:ln>
        </p:spPr>
      </p:sp>
      <p:sp>
        <p:nvSpPr>
          <p:cNvPr id="21" name="Shape 19"/>
          <p:cNvSpPr/>
          <p:nvPr/>
        </p:nvSpPr>
        <p:spPr>
          <a:xfrm>
            <a:off x="8168335" y="1645920"/>
            <a:ext cx="3474720" cy="3246120"/>
          </a:xfrm>
          <a:prstGeom prst="roundRect">
            <a:avLst>
              <a:gd name="adj" fmla="val 8451"/>
            </a:avLst>
          </a:prstGeom>
          <a:solidFill>
            <a:srgbClr val="E5F4E6"/>
          </a:solidFill>
          <a:ln w="6350">
            <a:solidFill>
              <a:srgbClr val="E5F4E6"/>
            </a:solidFill>
            <a:prstDash val="solid"/>
          </a:ln>
        </p:spPr>
      </p:sp>
      <p:sp>
        <p:nvSpPr>
          <p:cNvPr id="22" name="Shape 20"/>
          <p:cNvSpPr/>
          <p:nvPr/>
        </p:nvSpPr>
        <p:spPr>
          <a:xfrm>
            <a:off x="8442655" y="1920240"/>
            <a:ext cx="502920" cy="502920"/>
          </a:xfrm>
          <a:prstGeom prst="ellipse">
            <a:avLst/>
          </a:prstGeom>
          <a:solidFill>
            <a:srgbClr val="5DBB63"/>
          </a:solidFill>
          <a:ln w="6350">
            <a:solidFill>
              <a:srgbClr val="5DBB63"/>
            </a:solidFill>
            <a:prstDash val="solid"/>
          </a:ln>
        </p:spPr>
      </p:sp>
      <p:sp>
        <p:nvSpPr>
          <p:cNvPr id="23" name="Text 21"/>
          <p:cNvSpPr txBox="1"/>
          <p:nvPr/>
        </p:nvSpPr>
        <p:spPr>
          <a:xfrm>
            <a:off x="8442655"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2E3440"/>
                </a:solidFill>
                <a:latin typeface="Meiryo UI" pitchFamily="34" charset="0"/>
                <a:ea typeface="Meiryo UI" pitchFamily="34" charset="-122"/>
                <a:cs typeface="Meiryo UI" pitchFamily="34" charset="-120"/>
              </a:rPr>
              <a:t>3</a:t>
            </a:r>
            <a:endParaRPr lang="en-US" sz="1700" dirty="0"/>
          </a:p>
        </p:txBody>
      </p:sp>
      <p:sp>
        <p:nvSpPr>
          <p:cNvPr id="24" name="Text 22"/>
          <p:cNvSpPr txBox="1"/>
          <p:nvPr/>
        </p:nvSpPr>
        <p:spPr>
          <a:xfrm>
            <a:off x="9101023"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参入の機会</a:t>
            </a:r>
            <a:endParaRPr lang="en-US" sz="1900" dirty="0"/>
          </a:p>
        </p:txBody>
      </p:sp>
      <p:sp>
        <p:nvSpPr>
          <p:cNvPr id="25" name="Text 23"/>
          <p:cNvSpPr txBox="1"/>
          <p:nvPr/>
        </p:nvSpPr>
        <p:spPr>
          <a:xfrm>
            <a:off x="8442655"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キャレオスには放課後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児童クラブの委託事業がある。</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愛媛でも受け皿になれないか。</a:t>
            </a:r>
            <a:endParaRPr lang="en-US" sz="1400" dirty="0"/>
          </a:p>
        </p:txBody>
      </p:sp>
      <p:sp>
        <p:nvSpPr>
          <p:cNvPr id="26" name="Shape 24"/>
          <p:cNvSpPr/>
          <p:nvPr/>
        </p:nvSpPr>
        <p:spPr>
          <a:xfrm>
            <a:off x="548640" y="5230368"/>
            <a:ext cx="11094415" cy="603504"/>
          </a:xfrm>
          <a:prstGeom prst="roundRect">
            <a:avLst>
              <a:gd name="adj" fmla="val 50000"/>
            </a:avLst>
          </a:prstGeom>
          <a:solidFill>
            <a:srgbClr val="E6EBF7"/>
          </a:solidFill>
          <a:ln w="6350">
            <a:solidFill>
              <a:srgbClr val="E6EBF7"/>
            </a:solidFill>
            <a:prstDash val="solid"/>
          </a:ln>
        </p:spPr>
      </p:sp>
      <p:sp>
        <p:nvSpPr>
          <p:cNvPr id="27" name="Text 25"/>
          <p:cNvSpPr txBox="1"/>
          <p:nvPr/>
        </p:nvSpPr>
        <p:spPr>
          <a:xfrm>
            <a:off x="914400" y="5230368"/>
            <a:ext cx="10362895" cy="603504"/>
          </a:xfrm>
          <a:prstGeom prst="rect">
            <a:avLst/>
          </a:prstGeom>
          <a:noFill/>
          <a:ln/>
        </p:spPr>
        <p:txBody>
          <a:bodyPr wrap="square" lIns="0" tIns="0" rIns="0" bIns="0" rtlCol="0" anchor="ctr"/>
          <a:lstStyle/>
          <a:p>
            <a:pPr indent="0" marL="0">
              <a:lnSpc>
                <a:spcPts val="2470"/>
              </a:lnSpc>
              <a:buNone/>
            </a:pPr>
            <a:r>
              <a:rPr lang="en-US" sz="1900" b="1" dirty="0">
                <a:solidFill>
                  <a:srgbClr val="3A5BB8"/>
                </a:solidFill>
                <a:latin typeface="Meiryo UI" pitchFamily="34" charset="0"/>
                <a:ea typeface="Meiryo UI" pitchFamily="34" charset="-122"/>
                <a:cs typeface="Meiryo UI" pitchFamily="34" charset="-120"/>
              </a:rPr>
              <a:t>放デイだけでは支えきれない。地域の「放課後の受け皿」にキャレオスが。</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FCE5CA"/>
          </a:solidFill>
          <a:ln w="6350">
            <a:solidFill>
              <a:srgbClr val="FCE5CA"/>
            </a:solidFill>
            <a:prstDash val="solid"/>
          </a:ln>
        </p:spPr>
      </p:sp>
      <p:sp>
        <p:nvSpPr>
          <p:cNvPr id="3" name="Shape 1"/>
          <p:cNvSpPr/>
          <p:nvPr/>
        </p:nvSpPr>
        <p:spPr>
          <a:xfrm>
            <a:off x="9585655" y="320040"/>
            <a:ext cx="1051560" cy="1051560"/>
          </a:xfrm>
          <a:prstGeom prst="ellipse">
            <a:avLst/>
          </a:prstGeom>
          <a:solidFill>
            <a:srgbClr val="CBE9CD"/>
          </a:solidFill>
          <a:ln w="6350">
            <a:solidFill>
              <a:srgbClr val="CBE9CD"/>
            </a:solidFill>
            <a:prstDash val="solid"/>
          </a:ln>
        </p:spPr>
      </p:sp>
      <p:sp>
        <p:nvSpPr>
          <p:cNvPr id="4" name="Shape 2"/>
          <p:cNvSpPr/>
          <p:nvPr/>
        </p:nvSpPr>
        <p:spPr>
          <a:xfrm>
            <a:off x="9128455" y="1143000"/>
            <a:ext cx="292608" cy="292608"/>
          </a:xfrm>
          <a:prstGeom prst="ellipse">
            <a:avLst/>
          </a:prstGeom>
          <a:solidFill>
            <a:srgbClr val="9A6BC4"/>
          </a:solidFill>
          <a:ln w="6350">
            <a:solidFill>
              <a:srgbClr val="9A6BC4"/>
            </a:solidFill>
            <a:prstDash val="solid"/>
          </a:ln>
        </p:spPr>
      </p:sp>
      <p:sp>
        <p:nvSpPr>
          <p:cNvPr id="5" name="Shape 3"/>
          <p:cNvSpPr/>
          <p:nvPr/>
        </p:nvSpPr>
        <p:spPr>
          <a:xfrm>
            <a:off x="329184" y="457200"/>
            <a:ext cx="749808" cy="749808"/>
          </a:xfrm>
          <a:prstGeom prst="ellipse">
            <a:avLst/>
          </a:prstGeom>
          <a:solidFill>
            <a:srgbClr val="AEBEE6"/>
          </a:solidFill>
          <a:ln w="6350">
            <a:solidFill>
              <a:srgbClr val="AEBEE6"/>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③　愛媛でナンバーワンになるために</a:t>
            </a:r>
            <a:endParaRPr lang="en-US" sz="3000" dirty="0"/>
          </a:p>
        </p:txBody>
      </p:sp>
      <p:sp>
        <p:nvSpPr>
          <p:cNvPr id="7" name="Shape 5"/>
          <p:cNvSpPr/>
          <p:nvPr/>
        </p:nvSpPr>
        <p:spPr>
          <a:xfrm>
            <a:off x="11222431" y="6291072"/>
            <a:ext cx="420624" cy="420624"/>
          </a:xfrm>
          <a:prstGeom prst="ellipse">
            <a:avLst/>
          </a:prstGeom>
          <a:solidFill>
            <a:srgbClr val="C0CDEB"/>
          </a:solidFill>
          <a:ln w="6350">
            <a:solidFill>
              <a:srgbClr val="C0CDEB"/>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5</a:t>
            </a:r>
            <a:endParaRPr lang="en-US" sz="1200" dirty="0"/>
          </a:p>
        </p:txBody>
      </p:sp>
      <p:sp>
        <p:nvSpPr>
          <p:cNvPr id="9" name="Shape 7"/>
          <p:cNvSpPr/>
          <p:nvPr/>
        </p:nvSpPr>
        <p:spPr>
          <a:xfrm>
            <a:off x="548640" y="1645920"/>
            <a:ext cx="5394960" cy="3977640"/>
          </a:xfrm>
          <a:prstGeom prst="roundRect">
            <a:avLst>
              <a:gd name="adj" fmla="val 6897"/>
            </a:avLst>
          </a:prstGeom>
          <a:solidFill>
            <a:srgbClr val="E0F1F8"/>
          </a:solidFill>
          <a:ln w="6350">
            <a:solidFill>
              <a:srgbClr val="E0F1F8"/>
            </a:solidFill>
            <a:prstDash val="solid"/>
          </a:ln>
        </p:spPr>
      </p:sp>
      <p:sp>
        <p:nvSpPr>
          <p:cNvPr id="10" name="Text 8"/>
          <p:cNvSpPr txBox="1"/>
          <p:nvPr/>
        </p:nvSpPr>
        <p:spPr>
          <a:xfrm>
            <a:off x="868680" y="1920240"/>
            <a:ext cx="4754880" cy="411480"/>
          </a:xfrm>
          <a:prstGeom prst="rect">
            <a:avLst/>
          </a:prstGeom>
          <a:noFill/>
          <a:ln/>
        </p:spPr>
        <p:txBody>
          <a:bodyPr wrap="square" lIns="0" tIns="0" rIns="0" bIns="0" rtlCol="0" anchor="ctr"/>
          <a:lstStyle/>
          <a:p>
            <a:pPr indent="0" marL="0">
              <a:lnSpc>
                <a:spcPts val="2080"/>
              </a:lnSpc>
              <a:buNone/>
            </a:pPr>
            <a:r>
              <a:rPr lang="en-US" sz="1600" b="1" dirty="0">
                <a:solidFill>
                  <a:srgbClr val="2E3440"/>
                </a:solidFill>
                <a:latin typeface="Meiryo UI" pitchFamily="34" charset="0"/>
                <a:ea typeface="Meiryo UI" pitchFamily="34" charset="-122"/>
                <a:cs typeface="Meiryo UI" pitchFamily="34" charset="-120"/>
              </a:rPr>
              <a:t>愛媛の福祉を支える地域大手（例：来島会）</a:t>
            </a:r>
            <a:endParaRPr lang="en-US" sz="1600" dirty="0"/>
          </a:p>
        </p:txBody>
      </p:sp>
      <p:sp>
        <p:nvSpPr>
          <p:cNvPr id="11" name="Shape 9"/>
          <p:cNvSpPr/>
          <p:nvPr/>
        </p:nvSpPr>
        <p:spPr>
          <a:xfrm>
            <a:off x="868680" y="2560320"/>
            <a:ext cx="2240280" cy="548640"/>
          </a:xfrm>
          <a:prstGeom prst="roundRect">
            <a:avLst>
              <a:gd name="adj" fmla="val 50000"/>
            </a:avLst>
          </a:prstGeom>
          <a:solidFill>
            <a:srgbClr val="FBEBBD"/>
          </a:solidFill>
          <a:ln w="6350">
            <a:solidFill>
              <a:srgbClr val="FBEBBD"/>
            </a:solidFill>
            <a:prstDash val="solid"/>
          </a:ln>
        </p:spPr>
      </p:sp>
      <p:sp>
        <p:nvSpPr>
          <p:cNvPr id="12" name="Text 10"/>
          <p:cNvSpPr txBox="1"/>
          <p:nvPr/>
        </p:nvSpPr>
        <p:spPr>
          <a:xfrm>
            <a:off x="86868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児童発達支援</a:t>
            </a:r>
            <a:endParaRPr lang="en-US" sz="1500" dirty="0"/>
          </a:p>
        </p:txBody>
      </p:sp>
      <p:sp>
        <p:nvSpPr>
          <p:cNvPr id="13" name="Shape 11"/>
          <p:cNvSpPr/>
          <p:nvPr/>
        </p:nvSpPr>
        <p:spPr>
          <a:xfrm>
            <a:off x="3291840" y="2560320"/>
            <a:ext cx="2240280" cy="548640"/>
          </a:xfrm>
          <a:prstGeom prst="roundRect">
            <a:avLst>
              <a:gd name="adj" fmla="val 50000"/>
            </a:avLst>
          </a:prstGeom>
          <a:solidFill>
            <a:srgbClr val="CBE9CD"/>
          </a:solidFill>
          <a:ln w="6350">
            <a:solidFill>
              <a:srgbClr val="CBE9CD"/>
            </a:solidFill>
            <a:prstDash val="solid"/>
          </a:ln>
        </p:spPr>
      </p:sp>
      <p:sp>
        <p:nvSpPr>
          <p:cNvPr id="14" name="Text 12"/>
          <p:cNvSpPr txBox="1"/>
          <p:nvPr/>
        </p:nvSpPr>
        <p:spPr>
          <a:xfrm>
            <a:off x="329184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就労継続支援</a:t>
            </a:r>
            <a:endParaRPr lang="en-US" sz="1500" dirty="0"/>
          </a:p>
        </p:txBody>
      </p:sp>
      <p:sp>
        <p:nvSpPr>
          <p:cNvPr id="15" name="Shape 13"/>
          <p:cNvSpPr/>
          <p:nvPr/>
        </p:nvSpPr>
        <p:spPr>
          <a:xfrm>
            <a:off x="868680" y="3310128"/>
            <a:ext cx="2240280" cy="548640"/>
          </a:xfrm>
          <a:prstGeom prst="roundRect">
            <a:avLst>
              <a:gd name="adj" fmla="val 50000"/>
            </a:avLst>
          </a:prstGeom>
          <a:solidFill>
            <a:srgbClr val="C2E3F2"/>
          </a:solidFill>
          <a:ln w="6350">
            <a:solidFill>
              <a:srgbClr val="C2E3F2"/>
            </a:solidFill>
            <a:prstDash val="solid"/>
          </a:ln>
        </p:spPr>
      </p:sp>
      <p:sp>
        <p:nvSpPr>
          <p:cNvPr id="16" name="Text 14"/>
          <p:cNvSpPr txBox="1"/>
          <p:nvPr/>
        </p:nvSpPr>
        <p:spPr>
          <a:xfrm>
            <a:off x="86868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相談支援</a:t>
            </a:r>
            <a:endParaRPr lang="en-US" sz="1500" dirty="0"/>
          </a:p>
        </p:txBody>
      </p:sp>
      <p:sp>
        <p:nvSpPr>
          <p:cNvPr id="17" name="Shape 15"/>
          <p:cNvSpPr/>
          <p:nvPr/>
        </p:nvSpPr>
        <p:spPr>
          <a:xfrm>
            <a:off x="3291840" y="3310128"/>
            <a:ext cx="2240280" cy="548640"/>
          </a:xfrm>
          <a:prstGeom prst="roundRect">
            <a:avLst>
              <a:gd name="adj" fmla="val 50000"/>
            </a:avLst>
          </a:prstGeom>
          <a:solidFill>
            <a:srgbClr val="C5D1ED"/>
          </a:solidFill>
          <a:ln w="6350">
            <a:solidFill>
              <a:srgbClr val="C5D1ED"/>
            </a:solidFill>
            <a:prstDash val="solid"/>
          </a:ln>
        </p:spPr>
      </p:sp>
      <p:sp>
        <p:nvSpPr>
          <p:cNvPr id="18" name="Text 16"/>
          <p:cNvSpPr txBox="1"/>
          <p:nvPr/>
        </p:nvSpPr>
        <p:spPr>
          <a:xfrm>
            <a:off x="329184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グループホーム</a:t>
            </a:r>
            <a:endParaRPr lang="en-US" sz="1500" dirty="0"/>
          </a:p>
        </p:txBody>
      </p:sp>
      <p:sp>
        <p:nvSpPr>
          <p:cNvPr id="19" name="Shape 17"/>
          <p:cNvSpPr/>
          <p:nvPr/>
        </p:nvSpPr>
        <p:spPr>
          <a:xfrm>
            <a:off x="868680" y="4059936"/>
            <a:ext cx="2240280" cy="548640"/>
          </a:xfrm>
          <a:prstGeom prst="roundRect">
            <a:avLst>
              <a:gd name="adj" fmla="val 50000"/>
            </a:avLst>
          </a:prstGeom>
          <a:solidFill>
            <a:srgbClr val="DFD0EC"/>
          </a:solidFill>
          <a:ln w="6350">
            <a:solidFill>
              <a:srgbClr val="DFD0EC"/>
            </a:solidFill>
            <a:prstDash val="solid"/>
          </a:ln>
        </p:spPr>
      </p:sp>
      <p:sp>
        <p:nvSpPr>
          <p:cNvPr id="20" name="Text 18"/>
          <p:cNvSpPr txBox="1"/>
          <p:nvPr/>
        </p:nvSpPr>
        <p:spPr>
          <a:xfrm>
            <a:off x="868680" y="4059936"/>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介護</a:t>
            </a:r>
            <a:endParaRPr lang="en-US" sz="1500" dirty="0"/>
          </a:p>
        </p:txBody>
      </p:sp>
      <p:sp>
        <p:nvSpPr>
          <p:cNvPr id="21" name="Text 19"/>
          <p:cNvSpPr txBox="1"/>
          <p:nvPr/>
        </p:nvSpPr>
        <p:spPr>
          <a:xfrm>
            <a:off x="868680" y="4919472"/>
            <a:ext cx="4754880" cy="320040"/>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ライフステージを通して多数展開</a:t>
            </a:r>
            <a:endParaRPr lang="en-US" sz="1300" dirty="0"/>
          </a:p>
        </p:txBody>
      </p:sp>
      <p:sp>
        <p:nvSpPr>
          <p:cNvPr id="22" name="Text 20"/>
          <p:cNvSpPr txBox="1"/>
          <p:nvPr/>
        </p:nvSpPr>
        <p:spPr>
          <a:xfrm>
            <a:off x="6309360" y="1691640"/>
            <a:ext cx="5333695" cy="411480"/>
          </a:xfrm>
          <a:prstGeom prst="rect">
            <a:avLst/>
          </a:prstGeom>
          <a:noFill/>
          <a:ln/>
        </p:spPr>
        <p:txBody>
          <a:bodyPr wrap="square" lIns="0" tIns="0" rIns="0" bIns="0" rtlCol="0" anchor="ctr"/>
          <a:lstStyle/>
          <a:p>
            <a:pPr indent="0" marL="0">
              <a:lnSpc>
                <a:spcPts val="2470"/>
              </a:lnSpc>
              <a:buNone/>
            </a:pPr>
            <a:r>
              <a:rPr lang="en-US" sz="1900" b="1" dirty="0">
                <a:solidFill>
                  <a:srgbClr val="2E3440"/>
                </a:solidFill>
                <a:latin typeface="Meiryo UI" pitchFamily="34" charset="0"/>
                <a:ea typeface="Meiryo UI" pitchFamily="34" charset="-122"/>
                <a:cs typeface="Meiryo UI" pitchFamily="34" charset="-120"/>
              </a:rPr>
              <a:t>10年後・20年後を見据えると</a:t>
            </a:r>
            <a:endParaRPr lang="en-US" sz="1900" dirty="0"/>
          </a:p>
        </p:txBody>
      </p:sp>
      <p:sp>
        <p:nvSpPr>
          <p:cNvPr id="23" name="Shape 21"/>
          <p:cNvSpPr/>
          <p:nvPr/>
        </p:nvSpPr>
        <p:spPr>
          <a:xfrm>
            <a:off x="6309360" y="2496312"/>
            <a:ext cx="237744" cy="237744"/>
          </a:xfrm>
          <a:prstGeom prst="ellipse">
            <a:avLst/>
          </a:prstGeom>
          <a:solidFill>
            <a:srgbClr val="E8505B"/>
          </a:solidFill>
          <a:ln w="6350">
            <a:solidFill>
              <a:srgbClr val="E8505B"/>
            </a:solidFill>
            <a:prstDash val="solid"/>
          </a:ln>
        </p:spPr>
      </p:sp>
      <p:sp>
        <p:nvSpPr>
          <p:cNvPr id="24" name="Text 22"/>
          <p:cNvSpPr txBox="1"/>
          <p:nvPr/>
        </p:nvSpPr>
        <p:spPr>
          <a:xfrm>
            <a:off x="6720840" y="2377440"/>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総量規制のはじまり</a:t>
            </a:r>
            <a:endParaRPr lang="en-US" sz="1600" dirty="0"/>
          </a:p>
        </p:txBody>
      </p:sp>
      <p:sp>
        <p:nvSpPr>
          <p:cNvPr id="25" name="Shape 23"/>
          <p:cNvSpPr/>
          <p:nvPr/>
        </p:nvSpPr>
        <p:spPr>
          <a:xfrm>
            <a:off x="6309360" y="3209544"/>
            <a:ext cx="237744" cy="237744"/>
          </a:xfrm>
          <a:prstGeom prst="ellipse">
            <a:avLst/>
          </a:prstGeom>
          <a:solidFill>
            <a:srgbClr val="F39C33"/>
          </a:solidFill>
          <a:ln w="6350">
            <a:solidFill>
              <a:srgbClr val="F39C33"/>
            </a:solidFill>
            <a:prstDash val="solid"/>
          </a:ln>
        </p:spPr>
      </p:sp>
      <p:sp>
        <p:nvSpPr>
          <p:cNvPr id="26" name="Text 24"/>
          <p:cNvSpPr txBox="1"/>
          <p:nvPr/>
        </p:nvSpPr>
        <p:spPr>
          <a:xfrm>
            <a:off x="6720840" y="3090672"/>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人口減少</a:t>
            </a:r>
            <a:endParaRPr lang="en-US" sz="1600" dirty="0"/>
          </a:p>
        </p:txBody>
      </p:sp>
      <p:sp>
        <p:nvSpPr>
          <p:cNvPr id="27" name="Shape 25"/>
          <p:cNvSpPr/>
          <p:nvPr/>
        </p:nvSpPr>
        <p:spPr>
          <a:xfrm>
            <a:off x="6309360" y="3922776"/>
            <a:ext cx="237744" cy="237744"/>
          </a:xfrm>
          <a:prstGeom prst="ellipse">
            <a:avLst/>
          </a:prstGeom>
          <a:solidFill>
            <a:srgbClr val="5DBB63"/>
          </a:solidFill>
          <a:ln w="6350">
            <a:solidFill>
              <a:srgbClr val="5DBB63"/>
            </a:solidFill>
            <a:prstDash val="solid"/>
          </a:ln>
        </p:spPr>
      </p:sp>
      <p:sp>
        <p:nvSpPr>
          <p:cNvPr id="28" name="Text 26"/>
          <p:cNvSpPr txBox="1"/>
          <p:nvPr/>
        </p:nvSpPr>
        <p:spPr>
          <a:xfrm>
            <a:off x="6720840" y="3803904"/>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「選ばれ続ける」ための、地域に根差した福祉</a:t>
            </a:r>
            <a:endParaRPr lang="en-US" sz="1600" dirty="0"/>
          </a:p>
        </p:txBody>
      </p:sp>
      <p:sp>
        <p:nvSpPr>
          <p:cNvPr id="29" name="Shape 27"/>
          <p:cNvSpPr/>
          <p:nvPr/>
        </p:nvSpPr>
        <p:spPr>
          <a:xfrm>
            <a:off x="6309360" y="4526280"/>
            <a:ext cx="5333695" cy="1097280"/>
          </a:xfrm>
          <a:prstGeom prst="roundRect">
            <a:avLst>
              <a:gd name="adj" fmla="val 33333"/>
            </a:avLst>
          </a:prstGeom>
          <a:solidFill>
            <a:srgbClr val="E6EBF7"/>
          </a:solidFill>
          <a:ln w="6350">
            <a:solidFill>
              <a:srgbClr val="E6EBF7"/>
            </a:solidFill>
            <a:prstDash val="solid"/>
          </a:ln>
        </p:spPr>
      </p:sp>
      <p:sp>
        <p:nvSpPr>
          <p:cNvPr id="30" name="Text 28"/>
          <p:cNvSpPr txBox="1"/>
          <p:nvPr/>
        </p:nvSpPr>
        <p:spPr>
          <a:xfrm>
            <a:off x="6675120" y="4526280"/>
            <a:ext cx="4602175" cy="1097280"/>
          </a:xfrm>
          <a:prstGeom prst="rect">
            <a:avLst/>
          </a:prstGeom>
          <a:noFill/>
          <a:ln/>
        </p:spPr>
        <p:txBody>
          <a:bodyPr wrap="square" lIns="0" tIns="0" rIns="0" bIns="0" rtlCol="0" anchor="ctr"/>
          <a:lstStyle/>
          <a:p>
            <a:pPr indent="0" marL="0">
              <a:lnSpc>
                <a:spcPts val="3110"/>
              </a:lnSpc>
              <a:buNone/>
            </a:pPr>
            <a:r>
              <a:rPr lang="en-US" sz="2300" b="1" dirty="0">
                <a:solidFill>
                  <a:srgbClr val="3A5BB8"/>
                </a:solidFill>
                <a:latin typeface="Meiryo UI" pitchFamily="34" charset="0"/>
                <a:ea typeface="Meiryo UI" pitchFamily="34" charset="-122"/>
                <a:cs typeface="Meiryo UI" pitchFamily="34" charset="-120"/>
              </a:rPr>
              <a:t>同等、それ以上の</a:t>
            </a:r>
            <a:endParaRPr lang="en-US" sz="2300" dirty="0"/>
          </a:p>
          <a:p>
            <a:pPr indent="0" marL="0">
              <a:lnSpc>
                <a:spcPts val="3110"/>
              </a:lnSpc>
              <a:buNone/>
            </a:pPr>
            <a:r>
              <a:rPr lang="en-US" sz="2300" b="1" dirty="0">
                <a:solidFill>
                  <a:srgbClr val="3A5BB8"/>
                </a:solidFill>
                <a:latin typeface="Meiryo UI" pitchFamily="34" charset="0"/>
                <a:ea typeface="Meiryo UI" pitchFamily="34" charset="-122"/>
                <a:cs typeface="Meiryo UI" pitchFamily="34" charset="-120"/>
              </a:rPr>
              <a:t>トータルサポートが必要。</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FCEFC9"/>
          </a:solidFill>
          <a:ln w="6350">
            <a:solidFill>
              <a:srgbClr val="FCEFC9"/>
            </a:solidFill>
            <a:prstDash val="solid"/>
          </a:ln>
        </p:spPr>
      </p:sp>
      <p:sp>
        <p:nvSpPr>
          <p:cNvPr id="3" name="Shape 1"/>
          <p:cNvSpPr/>
          <p:nvPr/>
        </p:nvSpPr>
        <p:spPr>
          <a:xfrm>
            <a:off x="9585655" y="320040"/>
            <a:ext cx="1051560" cy="1051560"/>
          </a:xfrm>
          <a:prstGeom prst="ellipse">
            <a:avLst/>
          </a:prstGeom>
          <a:solidFill>
            <a:srgbClr val="C2E3F2"/>
          </a:solidFill>
          <a:ln w="6350">
            <a:solidFill>
              <a:srgbClr val="C2E3F2"/>
            </a:solidFill>
            <a:prstDash val="solid"/>
          </a:ln>
        </p:spPr>
      </p:sp>
      <p:sp>
        <p:nvSpPr>
          <p:cNvPr id="4" name="Shape 2"/>
          <p:cNvSpPr/>
          <p:nvPr/>
        </p:nvSpPr>
        <p:spPr>
          <a:xfrm>
            <a:off x="9128455" y="1143000"/>
            <a:ext cx="292608" cy="292608"/>
          </a:xfrm>
          <a:prstGeom prst="ellipse">
            <a:avLst/>
          </a:prstGeom>
          <a:solidFill>
            <a:srgbClr val="E8505B"/>
          </a:solidFill>
          <a:ln w="6350">
            <a:solidFill>
              <a:srgbClr val="E8505B"/>
            </a:solidFill>
            <a:prstDash val="solid"/>
          </a:ln>
        </p:spPr>
      </p:sp>
      <p:sp>
        <p:nvSpPr>
          <p:cNvPr id="5" name="Shape 3"/>
          <p:cNvSpPr/>
          <p:nvPr/>
        </p:nvSpPr>
        <p:spPr>
          <a:xfrm>
            <a:off x="329184" y="457200"/>
            <a:ext cx="749808" cy="749808"/>
          </a:xfrm>
          <a:prstGeom prst="ellipse">
            <a:avLst/>
          </a:prstGeom>
          <a:solidFill>
            <a:srgbClr val="D2BCE4"/>
          </a:solidFill>
          <a:ln w="6350">
            <a:solidFill>
              <a:srgbClr val="D2BCE4"/>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クロスボーダーで関わりたい部署</a:t>
            </a:r>
            <a:endParaRPr lang="en-US" sz="3000" dirty="0"/>
          </a:p>
        </p:txBody>
      </p:sp>
      <p:sp>
        <p:nvSpPr>
          <p:cNvPr id="7" name="Shape 5"/>
          <p:cNvSpPr/>
          <p:nvPr/>
        </p:nvSpPr>
        <p:spPr>
          <a:xfrm>
            <a:off x="11222431" y="6291072"/>
            <a:ext cx="420624" cy="420624"/>
          </a:xfrm>
          <a:prstGeom prst="ellipse">
            <a:avLst/>
          </a:prstGeom>
          <a:solidFill>
            <a:srgbClr val="DCCBEA"/>
          </a:solidFill>
          <a:ln w="6350">
            <a:solidFill>
              <a:srgbClr val="DCCBEA"/>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6</a:t>
            </a:r>
            <a:endParaRPr lang="en-US" sz="1200" dirty="0"/>
          </a:p>
        </p:txBody>
      </p:sp>
      <p:sp>
        <p:nvSpPr>
          <p:cNvPr id="9" name="Text 7"/>
          <p:cNvSpPr txBox="1"/>
          <p:nvPr/>
        </p:nvSpPr>
        <p:spPr>
          <a:xfrm>
            <a:off x="548640" y="1554480"/>
            <a:ext cx="11094415" cy="411480"/>
          </a:xfrm>
          <a:prstGeom prst="rect">
            <a:avLst/>
          </a:prstGeom>
          <a:noFill/>
          <a:ln/>
        </p:spPr>
        <p:txBody>
          <a:bodyPr wrap="square" lIns="0" tIns="0" rIns="0" bIns="0" rtlCol="0" anchor="ctr"/>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愛媛などで福祉施設を広げるための「知識」と「動き方」を身につける</a:t>
            </a:r>
            <a:endParaRPr lang="en-US" sz="1600" dirty="0"/>
          </a:p>
        </p:txBody>
      </p:sp>
      <p:sp>
        <p:nvSpPr>
          <p:cNvPr id="10" name="Shape 8"/>
          <p:cNvSpPr/>
          <p:nvPr/>
        </p:nvSpPr>
        <p:spPr>
          <a:xfrm>
            <a:off x="548640" y="2103120"/>
            <a:ext cx="5396332" cy="3108960"/>
          </a:xfrm>
          <a:prstGeom prst="roundRect">
            <a:avLst>
              <a:gd name="adj" fmla="val 8824"/>
            </a:avLst>
          </a:prstGeom>
          <a:solidFill>
            <a:srgbClr val="E5F4E6"/>
          </a:solidFill>
          <a:ln w="6350">
            <a:solidFill>
              <a:srgbClr val="E5F4E6"/>
            </a:solidFill>
            <a:prstDash val="solid"/>
          </a:ln>
        </p:spPr>
      </p:sp>
      <p:sp>
        <p:nvSpPr>
          <p:cNvPr id="11" name="Shape 9"/>
          <p:cNvSpPr/>
          <p:nvPr/>
        </p:nvSpPr>
        <p:spPr>
          <a:xfrm>
            <a:off x="868680" y="2395728"/>
            <a:ext cx="658368" cy="658368"/>
          </a:xfrm>
          <a:prstGeom prst="ellipse">
            <a:avLst/>
          </a:prstGeom>
          <a:solidFill>
            <a:srgbClr val="5DBB63"/>
          </a:solidFill>
          <a:ln w="6350">
            <a:solidFill>
              <a:srgbClr val="5DBB63"/>
            </a:solidFill>
            <a:prstDash val="solid"/>
          </a:ln>
        </p:spPr>
      </p:sp>
      <p:pic>
        <p:nvPicPr>
          <p:cNvPr id="12" name="Image 0" descr="preencoded.png">    </p:cNvPr>
          <p:cNvPicPr>
            <a:picLocks noChangeAspect="1"/>
          </p:cNvPicPr>
          <p:nvPr/>
        </p:nvPicPr>
        <p:blipFill>
          <a:blip r:embed="rId1"/>
          <a:stretch>
            <a:fillRect/>
          </a:stretch>
        </p:blipFill>
        <p:spPr>
          <a:xfrm>
            <a:off x="1026688" y="2553736"/>
            <a:ext cx="342351" cy="342351"/>
          </a:xfrm>
          <a:prstGeom prst="rect">
            <a:avLst/>
          </a:prstGeom>
        </p:spPr>
      </p:pic>
      <p:sp>
        <p:nvSpPr>
          <p:cNvPr id="13" name="Text 10"/>
          <p:cNvSpPr txBox="1"/>
          <p:nvPr/>
        </p:nvSpPr>
        <p:spPr>
          <a:xfrm>
            <a:off x="1737360"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事業開発課</a:t>
            </a:r>
            <a:endParaRPr lang="en-US" sz="1300" dirty="0"/>
          </a:p>
        </p:txBody>
      </p:sp>
      <p:sp>
        <p:nvSpPr>
          <p:cNvPr id="14" name="Text 11"/>
          <p:cNvSpPr txBox="1"/>
          <p:nvPr/>
        </p:nvSpPr>
        <p:spPr>
          <a:xfrm>
            <a:off x="1737360"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地域共創係</a:t>
            </a:r>
            <a:endParaRPr lang="en-US" sz="2200" dirty="0"/>
          </a:p>
        </p:txBody>
      </p:sp>
      <p:sp>
        <p:nvSpPr>
          <p:cNvPr id="15" name="Shape 12"/>
          <p:cNvSpPr/>
          <p:nvPr/>
        </p:nvSpPr>
        <p:spPr>
          <a:xfrm>
            <a:off x="868680" y="3429000"/>
            <a:ext cx="868680" cy="347472"/>
          </a:xfrm>
          <a:prstGeom prst="roundRect">
            <a:avLst>
              <a:gd name="adj" fmla="val 50000"/>
            </a:avLst>
          </a:prstGeom>
          <a:solidFill>
            <a:srgbClr val="2F7F3A"/>
          </a:solidFill>
          <a:ln w="6350">
            <a:solidFill>
              <a:srgbClr val="2F7F3A"/>
            </a:solidFill>
            <a:prstDash val="solid"/>
          </a:ln>
        </p:spPr>
      </p:sp>
      <p:sp>
        <p:nvSpPr>
          <p:cNvPr id="16" name="Text 13"/>
          <p:cNvSpPr txBox="1"/>
          <p:nvPr/>
        </p:nvSpPr>
        <p:spPr>
          <a:xfrm>
            <a:off x="868680"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17" name="Text 14"/>
          <p:cNvSpPr txBox="1"/>
          <p:nvPr/>
        </p:nvSpPr>
        <p:spPr>
          <a:xfrm>
            <a:off x="1892808"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新規事業の立ち上げ方</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（市場調査・事業計画・収支・指定申請）</a:t>
            </a:r>
            <a:endParaRPr lang="en-US" sz="1400" dirty="0"/>
          </a:p>
        </p:txBody>
      </p:sp>
      <p:sp>
        <p:nvSpPr>
          <p:cNvPr id="18" name="Shape 15"/>
          <p:cNvSpPr/>
          <p:nvPr/>
        </p:nvSpPr>
        <p:spPr>
          <a:xfrm>
            <a:off x="868680" y="4297680"/>
            <a:ext cx="868680" cy="347472"/>
          </a:xfrm>
          <a:prstGeom prst="roundRect">
            <a:avLst>
              <a:gd name="adj" fmla="val 50000"/>
            </a:avLst>
          </a:prstGeom>
          <a:solidFill>
            <a:srgbClr val="2F7F3A"/>
          </a:solidFill>
          <a:ln w="6350">
            <a:solidFill>
              <a:srgbClr val="2F7F3A"/>
            </a:solidFill>
            <a:prstDash val="solid"/>
          </a:ln>
        </p:spPr>
      </p:sp>
      <p:sp>
        <p:nvSpPr>
          <p:cNvPr id="19" name="Text 16"/>
          <p:cNvSpPr txBox="1"/>
          <p:nvPr/>
        </p:nvSpPr>
        <p:spPr>
          <a:xfrm>
            <a:off x="868680"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20" name="Text 17"/>
          <p:cNvSpPr txBox="1"/>
          <p:nvPr/>
        </p:nvSpPr>
        <p:spPr>
          <a:xfrm>
            <a:off x="1892808"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自治体・地域企業・学校と関係を築き、</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地域に根差した事業をつくる</a:t>
            </a:r>
            <a:endParaRPr lang="en-US" sz="1400" dirty="0"/>
          </a:p>
        </p:txBody>
      </p:sp>
      <p:sp>
        <p:nvSpPr>
          <p:cNvPr id="21" name="Shape 18"/>
          <p:cNvSpPr/>
          <p:nvPr/>
        </p:nvSpPr>
        <p:spPr>
          <a:xfrm>
            <a:off x="6246724" y="2103120"/>
            <a:ext cx="5396332" cy="3108960"/>
          </a:xfrm>
          <a:prstGeom prst="roundRect">
            <a:avLst>
              <a:gd name="adj" fmla="val 8824"/>
            </a:avLst>
          </a:prstGeom>
          <a:solidFill>
            <a:srgbClr val="E0F1F8"/>
          </a:solidFill>
          <a:ln w="6350">
            <a:solidFill>
              <a:srgbClr val="E0F1F8"/>
            </a:solidFill>
            <a:prstDash val="solid"/>
          </a:ln>
        </p:spPr>
      </p:sp>
      <p:sp>
        <p:nvSpPr>
          <p:cNvPr id="22" name="Shape 19"/>
          <p:cNvSpPr/>
          <p:nvPr/>
        </p:nvSpPr>
        <p:spPr>
          <a:xfrm>
            <a:off x="6566764" y="2395728"/>
            <a:ext cx="658368" cy="658368"/>
          </a:xfrm>
          <a:prstGeom prst="ellipse">
            <a:avLst/>
          </a:prstGeom>
          <a:solidFill>
            <a:srgbClr val="3FA7D6"/>
          </a:solidFill>
          <a:ln w="6350">
            <a:solidFill>
              <a:srgbClr val="3FA7D6"/>
            </a:solidFill>
            <a:prstDash val="solid"/>
          </a:ln>
        </p:spPr>
      </p:sp>
      <p:pic>
        <p:nvPicPr>
          <p:cNvPr id="23" name="Image 1" descr="preencoded.png">    </p:cNvPr>
          <p:cNvPicPr>
            <a:picLocks noChangeAspect="1"/>
          </p:cNvPicPr>
          <p:nvPr/>
        </p:nvPicPr>
        <p:blipFill>
          <a:blip r:embed="rId2"/>
          <a:stretch>
            <a:fillRect/>
          </a:stretch>
        </p:blipFill>
        <p:spPr>
          <a:xfrm>
            <a:off x="6724772" y="2553736"/>
            <a:ext cx="342351" cy="342351"/>
          </a:xfrm>
          <a:prstGeom prst="rect">
            <a:avLst/>
          </a:prstGeom>
        </p:spPr>
      </p:pic>
      <p:sp>
        <p:nvSpPr>
          <p:cNvPr id="24" name="Text 20"/>
          <p:cNvSpPr txBox="1"/>
          <p:nvPr/>
        </p:nvSpPr>
        <p:spPr>
          <a:xfrm>
            <a:off x="7435444"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マーケティング課</a:t>
            </a:r>
            <a:endParaRPr lang="en-US" sz="1300" dirty="0"/>
          </a:p>
        </p:txBody>
      </p:sp>
      <p:sp>
        <p:nvSpPr>
          <p:cNvPr id="25" name="Text 21"/>
          <p:cNvSpPr txBox="1"/>
          <p:nvPr/>
        </p:nvSpPr>
        <p:spPr>
          <a:xfrm>
            <a:off x="7435444"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トータルサポート推進係</a:t>
            </a:r>
            <a:endParaRPr lang="en-US" sz="2200" dirty="0"/>
          </a:p>
        </p:txBody>
      </p:sp>
      <p:sp>
        <p:nvSpPr>
          <p:cNvPr id="26" name="Shape 22"/>
          <p:cNvSpPr/>
          <p:nvPr/>
        </p:nvSpPr>
        <p:spPr>
          <a:xfrm>
            <a:off x="6566764" y="3429000"/>
            <a:ext cx="868680" cy="347472"/>
          </a:xfrm>
          <a:prstGeom prst="roundRect">
            <a:avLst>
              <a:gd name="adj" fmla="val 50000"/>
            </a:avLst>
          </a:prstGeom>
          <a:solidFill>
            <a:srgbClr val="1D72A3"/>
          </a:solidFill>
          <a:ln w="6350">
            <a:solidFill>
              <a:srgbClr val="1D72A3"/>
            </a:solidFill>
            <a:prstDash val="solid"/>
          </a:ln>
        </p:spPr>
      </p:sp>
      <p:sp>
        <p:nvSpPr>
          <p:cNvPr id="27" name="Text 23"/>
          <p:cNvSpPr txBox="1"/>
          <p:nvPr/>
        </p:nvSpPr>
        <p:spPr>
          <a:xfrm>
            <a:off x="6566764"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28" name="Text 24"/>
          <p:cNvSpPr txBox="1"/>
          <p:nvPr/>
        </p:nvSpPr>
        <p:spPr>
          <a:xfrm>
            <a:off x="7590892"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トータルサポートの全体像と、</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事業部どうしのつなぎ方</a:t>
            </a:r>
            <a:endParaRPr lang="en-US" sz="1400" dirty="0"/>
          </a:p>
        </p:txBody>
      </p:sp>
      <p:sp>
        <p:nvSpPr>
          <p:cNvPr id="29" name="Shape 25"/>
          <p:cNvSpPr/>
          <p:nvPr/>
        </p:nvSpPr>
        <p:spPr>
          <a:xfrm>
            <a:off x="6566764" y="4297680"/>
            <a:ext cx="868680" cy="347472"/>
          </a:xfrm>
          <a:prstGeom prst="roundRect">
            <a:avLst>
              <a:gd name="adj" fmla="val 50000"/>
            </a:avLst>
          </a:prstGeom>
          <a:solidFill>
            <a:srgbClr val="1D72A3"/>
          </a:solidFill>
          <a:ln w="6350">
            <a:solidFill>
              <a:srgbClr val="1D72A3"/>
            </a:solidFill>
            <a:prstDash val="solid"/>
          </a:ln>
        </p:spPr>
      </p:sp>
      <p:sp>
        <p:nvSpPr>
          <p:cNvPr id="30" name="Text 26"/>
          <p:cNvSpPr txBox="1"/>
          <p:nvPr/>
        </p:nvSpPr>
        <p:spPr>
          <a:xfrm>
            <a:off x="6566764"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31" name="Text 27"/>
          <p:cNvSpPr txBox="1"/>
          <p:nvPr/>
        </p:nvSpPr>
        <p:spPr>
          <a:xfrm>
            <a:off x="7590892"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利用者・保護者の声から、</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放デイ→就労へ切れ目なくつなぐ導線づくり</a:t>
            </a:r>
            <a:endParaRPr lang="en-US" sz="1400" dirty="0"/>
          </a:p>
        </p:txBody>
      </p:sp>
      <p:sp>
        <p:nvSpPr>
          <p:cNvPr id="32" name="Shape 28"/>
          <p:cNvSpPr/>
          <p:nvPr/>
        </p:nvSpPr>
        <p:spPr>
          <a:xfrm>
            <a:off x="548640" y="5440680"/>
            <a:ext cx="11094415" cy="603504"/>
          </a:xfrm>
          <a:prstGeom prst="roundRect">
            <a:avLst>
              <a:gd name="adj" fmla="val 50000"/>
            </a:avLst>
          </a:prstGeom>
          <a:solidFill>
            <a:srgbClr val="E6EBF7"/>
          </a:solidFill>
          <a:ln w="6350">
            <a:solidFill>
              <a:srgbClr val="E6EBF7"/>
            </a:solidFill>
            <a:prstDash val="solid"/>
          </a:ln>
        </p:spPr>
      </p:sp>
      <p:sp>
        <p:nvSpPr>
          <p:cNvPr id="33" name="Text 29"/>
          <p:cNvSpPr txBox="1"/>
          <p:nvPr/>
        </p:nvSpPr>
        <p:spPr>
          <a:xfrm>
            <a:off x="914400" y="5440680"/>
            <a:ext cx="10362895" cy="603504"/>
          </a:xfrm>
          <a:prstGeom prst="rect">
            <a:avLst/>
          </a:prstGeom>
          <a:noFill/>
          <a:ln/>
        </p:spPr>
        <p:txBody>
          <a:bodyPr wrap="square" lIns="0" tIns="0" rIns="0" bIns="0" rtlCol="0" anchor="ctr"/>
          <a:lstStyle/>
          <a:p>
            <a:pPr indent="0" marL="0">
              <a:lnSpc>
                <a:spcPts val="2470"/>
              </a:lnSpc>
              <a:buNone/>
            </a:pPr>
            <a:r>
              <a:rPr lang="en-US" sz="1900" b="1" dirty="0">
                <a:solidFill>
                  <a:srgbClr val="3A5BB8"/>
                </a:solidFill>
                <a:latin typeface="Meiryo UI" pitchFamily="34" charset="0"/>
                <a:ea typeface="Meiryo UI" pitchFamily="34" charset="-122"/>
                <a:cs typeface="Meiryo UI" pitchFamily="34" charset="-120"/>
              </a:rPr>
              <a:t>現場（愛媛）の声 × 本部の知識と動き方 ＝ 自分のボーダーを越える</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D5EDD6"/>
          </a:solidFill>
          <a:ln w="6350">
            <a:solidFill>
              <a:srgbClr val="D5EDD6"/>
            </a:solidFill>
            <a:prstDash val="solid"/>
          </a:ln>
        </p:spPr>
      </p:sp>
      <p:sp>
        <p:nvSpPr>
          <p:cNvPr id="3" name="Shape 1"/>
          <p:cNvSpPr/>
          <p:nvPr/>
        </p:nvSpPr>
        <p:spPr>
          <a:xfrm>
            <a:off x="9585655" y="320040"/>
            <a:ext cx="1051560" cy="1051560"/>
          </a:xfrm>
          <a:prstGeom prst="ellipse">
            <a:avLst/>
          </a:prstGeom>
          <a:solidFill>
            <a:srgbClr val="C5D1ED"/>
          </a:solidFill>
          <a:ln w="6350">
            <a:solidFill>
              <a:srgbClr val="C5D1ED"/>
            </a:solidFill>
            <a:prstDash val="solid"/>
          </a:ln>
        </p:spPr>
      </p:sp>
      <p:sp>
        <p:nvSpPr>
          <p:cNvPr id="4" name="Shape 2"/>
          <p:cNvSpPr/>
          <p:nvPr/>
        </p:nvSpPr>
        <p:spPr>
          <a:xfrm>
            <a:off x="9128455" y="1143000"/>
            <a:ext cx="292608" cy="292608"/>
          </a:xfrm>
          <a:prstGeom prst="ellipse">
            <a:avLst/>
          </a:prstGeom>
          <a:solidFill>
            <a:srgbClr val="F39C33"/>
          </a:solidFill>
          <a:ln w="6350">
            <a:solidFill>
              <a:srgbClr val="F39C33"/>
            </a:solidFill>
            <a:prstDash val="solid"/>
          </a:ln>
        </p:spPr>
      </p:sp>
      <p:sp>
        <p:nvSpPr>
          <p:cNvPr id="5" name="Shape 3"/>
          <p:cNvSpPr/>
          <p:nvPr/>
        </p:nvSpPr>
        <p:spPr>
          <a:xfrm>
            <a:off x="329184" y="457200"/>
            <a:ext cx="749808" cy="749808"/>
          </a:xfrm>
          <a:prstGeom prst="ellipse">
            <a:avLst/>
          </a:prstGeom>
          <a:solidFill>
            <a:srgbClr val="F5B0B5"/>
          </a:solidFill>
          <a:ln w="6350">
            <a:solidFill>
              <a:srgbClr val="F5B0B5"/>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まずは、愛媛に就労継続支援B型を</a:t>
            </a:r>
            <a:endParaRPr lang="en-US" sz="3000" dirty="0"/>
          </a:p>
        </p:txBody>
      </p:sp>
      <p:sp>
        <p:nvSpPr>
          <p:cNvPr id="7" name="Shape 5"/>
          <p:cNvSpPr/>
          <p:nvPr/>
        </p:nvSpPr>
        <p:spPr>
          <a:xfrm>
            <a:off x="11222431" y="6291072"/>
            <a:ext cx="420624" cy="420624"/>
          </a:xfrm>
          <a:prstGeom prst="ellipse">
            <a:avLst/>
          </a:prstGeom>
          <a:solidFill>
            <a:srgbClr val="F7C2C6"/>
          </a:solidFill>
          <a:ln w="6350">
            <a:solidFill>
              <a:srgbClr val="F7C2C6"/>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7</a:t>
            </a:r>
            <a:endParaRPr lang="en-US" sz="1200" dirty="0"/>
          </a:p>
        </p:txBody>
      </p:sp>
      <p:sp>
        <p:nvSpPr>
          <p:cNvPr id="9" name="Shape 7"/>
          <p:cNvSpPr/>
          <p:nvPr/>
        </p:nvSpPr>
        <p:spPr>
          <a:xfrm>
            <a:off x="548640" y="1600200"/>
            <a:ext cx="5806440" cy="4114800"/>
          </a:xfrm>
          <a:prstGeom prst="roundRect">
            <a:avLst>
              <a:gd name="adj" fmla="val 6667"/>
            </a:avLst>
          </a:prstGeom>
          <a:solidFill>
            <a:srgbClr val="E2E8F6"/>
          </a:solidFill>
          <a:ln w="6350">
            <a:solidFill>
              <a:srgbClr val="E2E8F6"/>
            </a:solidFill>
            <a:prstDash val="solid"/>
          </a:ln>
        </p:spPr>
      </p:sp>
      <p:graphicFrame>
        <p:nvGraphicFramePr>
          <p:cNvPr id="10" name="Chart 0" descr=""/>
          <p:cNvGraphicFramePr/>
          <p:nvPr/>
        </p:nvGraphicFramePr>
        <p:xfrm>
          <a:off x="685800" y="1691640"/>
          <a:ext cx="5532120" cy="393192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629400" y="1600200"/>
            <a:ext cx="2415388" cy="1371600"/>
          </a:xfrm>
          <a:prstGeom prst="roundRect">
            <a:avLst>
              <a:gd name="adj" fmla="val 20000"/>
            </a:avLst>
          </a:prstGeom>
          <a:solidFill>
            <a:srgbClr val="FBE3E5"/>
          </a:solidFill>
          <a:ln w="6350">
            <a:solidFill>
              <a:srgbClr val="FBE3E5"/>
            </a:solidFill>
            <a:prstDash val="solid"/>
          </a:ln>
        </p:spPr>
      </p:sp>
      <p:sp>
        <p:nvSpPr>
          <p:cNvPr id="12" name="Text 9"/>
          <p:cNvSpPr txBox="1"/>
          <p:nvPr/>
        </p:nvSpPr>
        <p:spPr>
          <a:xfrm>
            <a:off x="6720840"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C73B4A"/>
                </a:solidFill>
                <a:latin typeface="Meiryo UI" pitchFamily="34" charset="0"/>
                <a:ea typeface="Meiryo UI" pitchFamily="34" charset="-122"/>
                <a:cs typeface="Meiryo UI" pitchFamily="34" charset="-120"/>
              </a:rPr>
              <a:t>24,141円</a:t>
            </a:r>
            <a:endParaRPr lang="en-US" sz="2400" dirty="0"/>
          </a:p>
        </p:txBody>
      </p:sp>
      <p:sp>
        <p:nvSpPr>
          <p:cNvPr id="13" name="Text 10"/>
          <p:cNvSpPr txBox="1"/>
          <p:nvPr/>
        </p:nvSpPr>
        <p:spPr>
          <a:xfrm>
            <a:off x="6766560"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全国の平均工賃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（月額・令和6年度）</a:t>
            </a:r>
            <a:endParaRPr lang="en-US" sz="1200" dirty="0"/>
          </a:p>
        </p:txBody>
      </p:sp>
      <p:sp>
        <p:nvSpPr>
          <p:cNvPr id="14" name="Shape 11"/>
          <p:cNvSpPr/>
          <p:nvPr/>
        </p:nvSpPr>
        <p:spPr>
          <a:xfrm>
            <a:off x="9227668" y="1600200"/>
            <a:ext cx="2415388" cy="1371600"/>
          </a:xfrm>
          <a:prstGeom prst="roundRect">
            <a:avLst>
              <a:gd name="adj" fmla="val 20000"/>
            </a:avLst>
          </a:prstGeom>
          <a:solidFill>
            <a:srgbClr val="E2E8F6"/>
          </a:solidFill>
          <a:ln w="6350">
            <a:solidFill>
              <a:srgbClr val="E2E8F6"/>
            </a:solidFill>
            <a:prstDash val="solid"/>
          </a:ln>
        </p:spPr>
      </p:sp>
      <p:sp>
        <p:nvSpPr>
          <p:cNvPr id="15" name="Text 12"/>
          <p:cNvSpPr txBox="1"/>
          <p:nvPr/>
        </p:nvSpPr>
        <p:spPr>
          <a:xfrm>
            <a:off x="9319108"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3A5BB8"/>
                </a:solidFill>
                <a:latin typeface="Meiryo UI" pitchFamily="34" charset="0"/>
                <a:ea typeface="Meiryo UI" pitchFamily="34" charset="-122"/>
                <a:cs typeface="Meiryo UI" pitchFamily="34" charset="-120"/>
              </a:rPr>
              <a:t>23,396円</a:t>
            </a:r>
            <a:endParaRPr lang="en-US" sz="2400" dirty="0"/>
          </a:p>
        </p:txBody>
      </p:sp>
      <p:sp>
        <p:nvSpPr>
          <p:cNvPr id="16" name="Text 13"/>
          <p:cNvSpPr txBox="1"/>
          <p:nvPr/>
        </p:nvSpPr>
        <p:spPr>
          <a:xfrm>
            <a:off x="9364828"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愛媛の平均工賃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（令和6年度・253事業所）</a:t>
            </a:r>
            <a:endParaRPr lang="en-US" sz="1200" dirty="0"/>
          </a:p>
        </p:txBody>
      </p:sp>
      <p:sp>
        <p:nvSpPr>
          <p:cNvPr id="17" name="Text 14"/>
          <p:cNvSpPr txBox="1"/>
          <p:nvPr/>
        </p:nvSpPr>
        <p:spPr>
          <a:xfrm>
            <a:off x="6629400" y="3200400"/>
            <a:ext cx="5013655" cy="365760"/>
          </a:xfrm>
          <a:prstGeom prst="rect">
            <a:avLst/>
          </a:prstGeom>
          <a:noFill/>
          <a:ln/>
        </p:spPr>
        <p:txBody>
          <a:bodyPr wrap="square" lIns="0" tIns="0" rIns="0" bIns="0" rtlCol="0" anchor="ctr"/>
          <a:lstStyle/>
          <a:p>
            <a:pPr indent="0" marL="0">
              <a:lnSpc>
                <a:spcPts val="2210"/>
              </a:lnSpc>
              <a:buNone/>
            </a:pPr>
            <a:r>
              <a:rPr lang="en-US" sz="1700" b="1" dirty="0">
                <a:solidFill>
                  <a:srgbClr val="2E3440"/>
                </a:solidFill>
                <a:latin typeface="Meiryo UI" pitchFamily="34" charset="0"/>
                <a:ea typeface="Meiryo UI" pitchFamily="34" charset="-122"/>
                <a:cs typeface="Meiryo UI" pitchFamily="34" charset="-120"/>
              </a:rPr>
              <a:t>私たちの作業設計</a:t>
            </a:r>
            <a:endParaRPr lang="en-US" sz="1700" dirty="0"/>
          </a:p>
        </p:txBody>
      </p:sp>
      <p:sp>
        <p:nvSpPr>
          <p:cNvPr id="18" name="Shape 15"/>
          <p:cNvSpPr/>
          <p:nvPr/>
        </p:nvSpPr>
        <p:spPr>
          <a:xfrm>
            <a:off x="6629400" y="3703320"/>
            <a:ext cx="512064" cy="512064"/>
          </a:xfrm>
          <a:prstGeom prst="ellipse">
            <a:avLst/>
          </a:prstGeom>
          <a:solidFill>
            <a:srgbClr val="F39C33"/>
          </a:solidFill>
          <a:ln w="6350">
            <a:solidFill>
              <a:srgbClr val="F39C33"/>
            </a:solidFill>
            <a:prstDash val="solid"/>
          </a:ln>
        </p:spPr>
      </p:sp>
      <p:pic>
        <p:nvPicPr>
          <p:cNvPr id="19" name="Image 0" descr="preencoded.png">    </p:cNvPr>
          <p:cNvPicPr>
            <a:picLocks noChangeAspect="1"/>
          </p:cNvPicPr>
          <p:nvPr/>
        </p:nvPicPr>
        <p:blipFill>
          <a:blip r:embed="rId2"/>
          <a:stretch>
            <a:fillRect/>
          </a:stretch>
        </p:blipFill>
        <p:spPr>
          <a:xfrm>
            <a:off x="6752295" y="3826215"/>
            <a:ext cx="266273" cy="266273"/>
          </a:xfrm>
          <a:prstGeom prst="rect">
            <a:avLst/>
          </a:prstGeom>
        </p:spPr>
      </p:pic>
      <p:sp>
        <p:nvSpPr>
          <p:cNvPr id="20" name="Text 16"/>
          <p:cNvSpPr txBox="1"/>
          <p:nvPr/>
        </p:nvSpPr>
        <p:spPr>
          <a:xfrm>
            <a:off x="7287768" y="3675888"/>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立ち上げ期</a:t>
            </a:r>
            <a:endParaRPr lang="en-US" sz="1400" dirty="0"/>
          </a:p>
        </p:txBody>
      </p:sp>
      <p:sp>
        <p:nvSpPr>
          <p:cNvPr id="21" name="Text 17"/>
          <p:cNvSpPr txBox="1"/>
          <p:nvPr/>
        </p:nvSpPr>
        <p:spPr>
          <a:xfrm>
            <a:off x="7287768" y="3968496"/>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企業からの軽作業（検品・袋詰めなど）で仕事を確保</a:t>
            </a:r>
            <a:endParaRPr lang="en-US" sz="1300" dirty="0"/>
          </a:p>
        </p:txBody>
      </p:sp>
      <p:sp>
        <p:nvSpPr>
          <p:cNvPr id="22" name="Shape 18"/>
          <p:cNvSpPr/>
          <p:nvPr/>
        </p:nvSpPr>
        <p:spPr>
          <a:xfrm>
            <a:off x="6629400" y="4416552"/>
            <a:ext cx="512064" cy="512064"/>
          </a:xfrm>
          <a:prstGeom prst="ellipse">
            <a:avLst/>
          </a:prstGeom>
          <a:solidFill>
            <a:srgbClr val="5DBB63"/>
          </a:solidFill>
          <a:ln w="6350">
            <a:solidFill>
              <a:srgbClr val="5DBB63"/>
            </a:solidFill>
            <a:prstDash val="solid"/>
          </a:ln>
        </p:spPr>
      </p:sp>
      <p:pic>
        <p:nvPicPr>
          <p:cNvPr id="23" name="Image 1" descr="preencoded.png">    </p:cNvPr>
          <p:cNvPicPr>
            <a:picLocks noChangeAspect="1"/>
          </p:cNvPicPr>
          <p:nvPr/>
        </p:nvPicPr>
        <p:blipFill>
          <a:blip r:embed="rId3"/>
          <a:stretch>
            <a:fillRect/>
          </a:stretch>
        </p:blipFill>
        <p:spPr>
          <a:xfrm>
            <a:off x="6752295" y="4539447"/>
            <a:ext cx="266273" cy="266273"/>
          </a:xfrm>
          <a:prstGeom prst="rect">
            <a:avLst/>
          </a:prstGeom>
        </p:spPr>
      </p:pic>
      <p:sp>
        <p:nvSpPr>
          <p:cNvPr id="24" name="Text 19"/>
          <p:cNvSpPr txBox="1"/>
          <p:nvPr/>
        </p:nvSpPr>
        <p:spPr>
          <a:xfrm>
            <a:off x="7287768" y="4389120"/>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工賃を上げる柱</a:t>
            </a:r>
            <a:endParaRPr lang="en-US" sz="1400" dirty="0"/>
          </a:p>
        </p:txBody>
      </p:sp>
      <p:sp>
        <p:nvSpPr>
          <p:cNvPr id="25" name="Text 20"/>
          <p:cNvSpPr txBox="1"/>
          <p:nvPr/>
        </p:nvSpPr>
        <p:spPr>
          <a:xfrm>
            <a:off x="7287768" y="4681728"/>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施設外就労（清掃・農福連携）や自主製品（菓子など）</a:t>
            </a:r>
            <a:endParaRPr lang="en-US" sz="1300" dirty="0"/>
          </a:p>
        </p:txBody>
      </p:sp>
      <p:sp>
        <p:nvSpPr>
          <p:cNvPr id="26" name="Shape 21"/>
          <p:cNvSpPr/>
          <p:nvPr/>
        </p:nvSpPr>
        <p:spPr>
          <a:xfrm>
            <a:off x="6629400" y="5129784"/>
            <a:ext cx="512064" cy="512064"/>
          </a:xfrm>
          <a:prstGeom prst="ellipse">
            <a:avLst/>
          </a:prstGeom>
          <a:solidFill>
            <a:srgbClr val="3FA7D6"/>
          </a:solidFill>
          <a:ln w="6350">
            <a:solidFill>
              <a:srgbClr val="3FA7D6"/>
            </a:solidFill>
            <a:prstDash val="solid"/>
          </a:ln>
        </p:spPr>
      </p:sp>
      <p:pic>
        <p:nvPicPr>
          <p:cNvPr id="27" name="Image 2" descr="preencoded.png">    </p:cNvPr>
          <p:cNvPicPr>
            <a:picLocks noChangeAspect="1"/>
          </p:cNvPicPr>
          <p:nvPr/>
        </p:nvPicPr>
        <p:blipFill>
          <a:blip r:embed="rId4"/>
          <a:stretch>
            <a:fillRect/>
          </a:stretch>
        </p:blipFill>
        <p:spPr>
          <a:xfrm>
            <a:off x="6752295" y="5252679"/>
            <a:ext cx="266273" cy="266273"/>
          </a:xfrm>
          <a:prstGeom prst="rect">
            <a:avLst/>
          </a:prstGeom>
        </p:spPr>
      </p:pic>
      <p:sp>
        <p:nvSpPr>
          <p:cNvPr id="28" name="Text 22"/>
          <p:cNvSpPr txBox="1"/>
          <p:nvPr/>
        </p:nvSpPr>
        <p:spPr>
          <a:xfrm>
            <a:off x="7287768" y="5102352"/>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放デイ卒業生に合わせて</a:t>
            </a:r>
            <a:endParaRPr lang="en-US" sz="1400" dirty="0"/>
          </a:p>
        </p:txBody>
      </p:sp>
      <p:sp>
        <p:nvSpPr>
          <p:cNvPr id="29" name="Text 23"/>
          <p:cNvSpPr txBox="1"/>
          <p:nvPr/>
        </p:nvSpPr>
        <p:spPr>
          <a:xfrm>
            <a:off x="7287768" y="5394960"/>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IT・PC作業や接客など、一般就労につながる作業</a:t>
            </a:r>
            <a:endParaRPr lang="en-US" sz="1300" dirty="0"/>
          </a:p>
        </p:txBody>
      </p:sp>
      <p:sp>
        <p:nvSpPr>
          <p:cNvPr id="30" name="Text 24"/>
          <p:cNvSpPr txBox="1"/>
          <p:nvPr/>
        </p:nvSpPr>
        <p:spPr>
          <a:xfrm>
            <a:off x="548640" y="5897880"/>
            <a:ext cx="11094415" cy="274320"/>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出典：厚生労働省「工賃（賃金）の実績」（令和6年度）・「生産活動の活性化に関する調査研究」（令和5年度）、愛媛県「月額平均工賃」（令和6年度）</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CDE8F4"/>
          </a:solidFill>
          <a:ln w="6350">
            <a:solidFill>
              <a:srgbClr val="CDE8F4"/>
            </a:solidFill>
            <a:prstDash val="solid"/>
          </a:ln>
        </p:spPr>
      </p:sp>
      <p:sp>
        <p:nvSpPr>
          <p:cNvPr id="3" name="Shape 1"/>
          <p:cNvSpPr/>
          <p:nvPr/>
        </p:nvSpPr>
        <p:spPr>
          <a:xfrm>
            <a:off x="9585655" y="320040"/>
            <a:ext cx="1051560" cy="1051560"/>
          </a:xfrm>
          <a:prstGeom prst="ellipse">
            <a:avLst/>
          </a:prstGeom>
          <a:solidFill>
            <a:srgbClr val="DFD0EC"/>
          </a:solidFill>
          <a:ln w="6350">
            <a:solidFill>
              <a:srgbClr val="DFD0EC"/>
            </a:solidFill>
            <a:prstDash val="solid"/>
          </a:ln>
        </p:spPr>
      </p:sp>
      <p:sp>
        <p:nvSpPr>
          <p:cNvPr id="4" name="Shape 2"/>
          <p:cNvSpPr/>
          <p:nvPr/>
        </p:nvSpPr>
        <p:spPr>
          <a:xfrm>
            <a:off x="9128455" y="1143000"/>
            <a:ext cx="292608" cy="292608"/>
          </a:xfrm>
          <a:prstGeom prst="ellipse">
            <a:avLst/>
          </a:prstGeom>
          <a:solidFill>
            <a:srgbClr val="F2C230"/>
          </a:solidFill>
          <a:ln w="6350">
            <a:solidFill>
              <a:srgbClr val="F2C230"/>
            </a:solidFill>
            <a:prstDash val="solid"/>
          </a:ln>
        </p:spPr>
      </p:sp>
      <p:sp>
        <p:nvSpPr>
          <p:cNvPr id="5" name="Shape 3"/>
          <p:cNvSpPr/>
          <p:nvPr/>
        </p:nvSpPr>
        <p:spPr>
          <a:xfrm>
            <a:off x="329184" y="457200"/>
            <a:ext cx="749808" cy="749808"/>
          </a:xfrm>
          <a:prstGeom prst="ellipse">
            <a:avLst/>
          </a:prstGeom>
          <a:solidFill>
            <a:srgbClr val="FAD2A3"/>
          </a:solidFill>
          <a:ln w="6350">
            <a:solidFill>
              <a:srgbClr val="FAD2A3"/>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B型開設の試算（西条市・定員20名）</a:t>
            </a:r>
            <a:endParaRPr lang="en-US" sz="3000" dirty="0"/>
          </a:p>
        </p:txBody>
      </p:sp>
      <p:sp>
        <p:nvSpPr>
          <p:cNvPr id="7" name="Shape 5"/>
          <p:cNvSpPr/>
          <p:nvPr/>
        </p:nvSpPr>
        <p:spPr>
          <a:xfrm>
            <a:off x="11222431" y="6291072"/>
            <a:ext cx="420624" cy="420624"/>
          </a:xfrm>
          <a:prstGeom prst="ellipse">
            <a:avLst/>
          </a:prstGeom>
          <a:solidFill>
            <a:srgbClr val="FBDCB8"/>
          </a:solidFill>
          <a:ln w="6350">
            <a:solidFill>
              <a:srgbClr val="FBDCB8"/>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8</a:t>
            </a:r>
            <a:endParaRPr lang="en-US" sz="1200" dirty="0"/>
          </a:p>
        </p:txBody>
      </p:sp>
      <p:sp>
        <p:nvSpPr>
          <p:cNvPr id="9" name="Shape 7"/>
          <p:cNvSpPr/>
          <p:nvPr/>
        </p:nvSpPr>
        <p:spPr>
          <a:xfrm>
            <a:off x="548640" y="1600200"/>
            <a:ext cx="6355080" cy="3657600"/>
          </a:xfrm>
          <a:prstGeom prst="roundRect">
            <a:avLst>
              <a:gd name="adj" fmla="val 7500"/>
            </a:avLst>
          </a:prstGeom>
          <a:solidFill>
            <a:srgbClr val="EFE7F6"/>
          </a:solidFill>
          <a:ln w="6350">
            <a:solidFill>
              <a:srgbClr val="EFE7F6"/>
            </a:solidFill>
            <a:prstDash val="solid"/>
          </a:ln>
        </p:spPr>
      </p:sp>
      <p:graphicFrame>
        <p:nvGraphicFramePr>
          <p:cNvPr id="10" name="Chart 0" descr=""/>
          <p:cNvGraphicFramePr/>
          <p:nvPr/>
        </p:nvGraphicFramePr>
        <p:xfrm>
          <a:off x="685800" y="1691640"/>
          <a:ext cx="6080760" cy="347472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132320" y="1600200"/>
            <a:ext cx="2163928" cy="1737360"/>
          </a:xfrm>
          <a:prstGeom prst="roundRect">
            <a:avLst>
              <a:gd name="adj" fmla="val 15789"/>
            </a:avLst>
          </a:prstGeom>
          <a:solidFill>
            <a:srgbClr val="FBE3E5"/>
          </a:solidFill>
          <a:ln w="6350">
            <a:solidFill>
              <a:srgbClr val="FBE3E5"/>
            </a:solidFill>
            <a:prstDash val="solid"/>
          </a:ln>
        </p:spPr>
      </p:sp>
      <p:sp>
        <p:nvSpPr>
          <p:cNvPr id="12" name="Text 9"/>
          <p:cNvSpPr txBox="1"/>
          <p:nvPr/>
        </p:nvSpPr>
        <p:spPr>
          <a:xfrm>
            <a:off x="7223760"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C73B4A"/>
                </a:solidFill>
                <a:latin typeface="Meiryo UI" pitchFamily="34" charset="0"/>
                <a:ea typeface="Meiryo UI" pitchFamily="34" charset="-122"/>
                <a:cs typeface="Meiryo UI" pitchFamily="34" charset="-120"/>
              </a:rPr>
              <a:t>18人</a:t>
            </a:r>
            <a:endParaRPr lang="en-US" sz="2800" dirty="0"/>
          </a:p>
        </p:txBody>
      </p:sp>
      <p:sp>
        <p:nvSpPr>
          <p:cNvPr id="13" name="Text 10"/>
          <p:cNvSpPr txBox="1"/>
          <p:nvPr/>
        </p:nvSpPr>
        <p:spPr>
          <a:xfrm>
            <a:off x="7269480"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1日の平均利用者数</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（安定期）</a:t>
            </a:r>
            <a:endParaRPr lang="en-US" sz="1200" dirty="0"/>
          </a:p>
        </p:txBody>
      </p:sp>
      <p:sp>
        <p:nvSpPr>
          <p:cNvPr id="14" name="Shape 11"/>
          <p:cNvSpPr/>
          <p:nvPr/>
        </p:nvSpPr>
        <p:spPr>
          <a:xfrm>
            <a:off x="9479128" y="1600200"/>
            <a:ext cx="2163928" cy="1737360"/>
          </a:xfrm>
          <a:prstGeom prst="roundRect">
            <a:avLst>
              <a:gd name="adj" fmla="val 15789"/>
            </a:avLst>
          </a:prstGeom>
          <a:solidFill>
            <a:srgbClr val="FDEFDE"/>
          </a:solidFill>
          <a:ln w="6350">
            <a:solidFill>
              <a:srgbClr val="FDEFDE"/>
            </a:solidFill>
            <a:prstDash val="solid"/>
          </a:ln>
        </p:spPr>
      </p:sp>
      <p:sp>
        <p:nvSpPr>
          <p:cNvPr id="15" name="Text 12"/>
          <p:cNvSpPr txBox="1"/>
          <p:nvPr/>
        </p:nvSpPr>
        <p:spPr>
          <a:xfrm>
            <a:off x="9570568"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A85800"/>
                </a:solidFill>
                <a:latin typeface="Meiryo UI" pitchFamily="34" charset="0"/>
                <a:ea typeface="Meiryo UI" pitchFamily="34" charset="-122"/>
                <a:cs typeface="Meiryo UI" pitchFamily="34" charset="-120"/>
              </a:rPr>
              <a:t>6か月目</a:t>
            </a:r>
            <a:endParaRPr lang="en-US" sz="2800" dirty="0"/>
          </a:p>
        </p:txBody>
      </p:sp>
      <p:sp>
        <p:nvSpPr>
          <p:cNvPr id="16" name="Text 13"/>
          <p:cNvSpPr txBox="1"/>
          <p:nvPr/>
        </p:nvSpPr>
        <p:spPr>
          <a:xfrm>
            <a:off x="9616288"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単月で黒字化</a:t>
            </a:r>
            <a:endParaRPr lang="en-US" sz="1200" dirty="0"/>
          </a:p>
        </p:txBody>
      </p:sp>
      <p:sp>
        <p:nvSpPr>
          <p:cNvPr id="17" name="Shape 14"/>
          <p:cNvSpPr/>
          <p:nvPr/>
        </p:nvSpPr>
        <p:spPr>
          <a:xfrm>
            <a:off x="7132320" y="3520440"/>
            <a:ext cx="2163928" cy="1737360"/>
          </a:xfrm>
          <a:prstGeom prst="roundRect">
            <a:avLst>
              <a:gd name="adj" fmla="val 15789"/>
            </a:avLst>
          </a:prstGeom>
          <a:solidFill>
            <a:srgbClr val="E5F4E6"/>
          </a:solidFill>
          <a:ln w="6350">
            <a:solidFill>
              <a:srgbClr val="E5F4E6"/>
            </a:solidFill>
            <a:prstDash val="solid"/>
          </a:ln>
        </p:spPr>
      </p:sp>
      <p:sp>
        <p:nvSpPr>
          <p:cNvPr id="18" name="Text 15"/>
          <p:cNvSpPr txBox="1"/>
          <p:nvPr/>
        </p:nvSpPr>
        <p:spPr>
          <a:xfrm>
            <a:off x="7223760" y="379841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2F7F3A"/>
                </a:solidFill>
                <a:latin typeface="Meiryo UI" pitchFamily="34" charset="0"/>
                <a:ea typeface="Meiryo UI" pitchFamily="34" charset="-122"/>
                <a:cs typeface="Meiryo UI" pitchFamily="34" charset="-120"/>
              </a:rPr>
              <a:t>27か月目</a:t>
            </a:r>
            <a:endParaRPr lang="en-US" sz="2800" dirty="0"/>
          </a:p>
        </p:txBody>
      </p:sp>
      <p:sp>
        <p:nvSpPr>
          <p:cNvPr id="19" name="Text 16"/>
          <p:cNvSpPr txBox="1"/>
          <p:nvPr/>
        </p:nvSpPr>
        <p:spPr>
          <a:xfrm>
            <a:off x="7269480"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初期投資900万円を回収</a:t>
            </a:r>
            <a:endParaRPr lang="en-US" sz="1200" dirty="0"/>
          </a:p>
        </p:txBody>
      </p:sp>
      <p:sp>
        <p:nvSpPr>
          <p:cNvPr id="20" name="Shape 17"/>
          <p:cNvSpPr/>
          <p:nvPr/>
        </p:nvSpPr>
        <p:spPr>
          <a:xfrm>
            <a:off x="9479128" y="3520440"/>
            <a:ext cx="2163928" cy="1737360"/>
          </a:xfrm>
          <a:prstGeom prst="roundRect">
            <a:avLst>
              <a:gd name="adj" fmla="val 15789"/>
            </a:avLst>
          </a:prstGeom>
          <a:solidFill>
            <a:srgbClr val="E2E8F6"/>
          </a:solidFill>
          <a:ln w="6350">
            <a:solidFill>
              <a:srgbClr val="E2E8F6"/>
            </a:solidFill>
            <a:prstDash val="solid"/>
          </a:ln>
        </p:spPr>
      </p:sp>
      <p:sp>
        <p:nvSpPr>
          <p:cNvPr id="21" name="Text 18"/>
          <p:cNvSpPr txBox="1"/>
          <p:nvPr/>
        </p:nvSpPr>
        <p:spPr>
          <a:xfrm>
            <a:off x="9570568" y="3798418"/>
            <a:ext cx="198104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3A5BB8"/>
                </a:solidFill>
                <a:latin typeface="Meiryo UI" pitchFamily="34" charset="0"/>
                <a:ea typeface="Meiryo UI" pitchFamily="34" charset="-122"/>
                <a:cs typeface="Meiryo UI" pitchFamily="34" charset="-120"/>
              </a:rPr>
              <a:t>1,140万円</a:t>
            </a:r>
            <a:endParaRPr lang="en-US" sz="2400" dirty="0"/>
          </a:p>
        </p:txBody>
      </p:sp>
      <p:sp>
        <p:nvSpPr>
          <p:cNvPr id="22" name="Text 19"/>
          <p:cNvSpPr txBox="1"/>
          <p:nvPr/>
        </p:nvSpPr>
        <p:spPr>
          <a:xfrm>
            <a:off x="9616288"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3年目の営業利益</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（概算）</a:t>
            </a:r>
            <a:endParaRPr lang="en-US" sz="1200" dirty="0"/>
          </a:p>
        </p:txBody>
      </p:sp>
      <p:sp>
        <p:nvSpPr>
          <p:cNvPr id="23" name="Shape 20"/>
          <p:cNvSpPr/>
          <p:nvPr/>
        </p:nvSpPr>
        <p:spPr>
          <a:xfrm>
            <a:off x="548640" y="5468112"/>
            <a:ext cx="11094415" cy="475488"/>
          </a:xfrm>
          <a:prstGeom prst="roundRect">
            <a:avLst>
              <a:gd name="adj" fmla="val 50000"/>
            </a:avLst>
          </a:prstGeom>
          <a:solidFill>
            <a:srgbClr val="E6EBF7"/>
          </a:solidFill>
          <a:ln w="6350">
            <a:solidFill>
              <a:srgbClr val="E6EBF7"/>
            </a:solidFill>
            <a:prstDash val="solid"/>
          </a:ln>
        </p:spPr>
      </p:sp>
      <p:sp>
        <p:nvSpPr>
          <p:cNvPr id="24" name="Text 21"/>
          <p:cNvSpPr txBox="1"/>
          <p:nvPr/>
        </p:nvSpPr>
        <p:spPr>
          <a:xfrm>
            <a:off x="914400" y="5468112"/>
            <a:ext cx="10362895" cy="475488"/>
          </a:xfrm>
          <a:prstGeom prst="rect">
            <a:avLst/>
          </a:prstGeom>
          <a:noFill/>
          <a:ln/>
        </p:spPr>
        <p:txBody>
          <a:bodyPr wrap="square" lIns="0" tIns="0" rIns="0" bIns="0" rtlCol="0" anchor="ctr"/>
          <a:lstStyle/>
          <a:p>
            <a:pPr indent="0" marL="0">
              <a:lnSpc>
                <a:spcPts val="2210"/>
              </a:lnSpc>
              <a:buNone/>
            </a:pPr>
            <a:r>
              <a:rPr lang="en-US" sz="1700" b="1" dirty="0">
                <a:solidFill>
                  <a:srgbClr val="3A5BB8"/>
                </a:solidFill>
                <a:latin typeface="Meiryo UI" pitchFamily="34" charset="0"/>
                <a:ea typeface="Meiryo UI" pitchFamily="34" charset="-122"/>
                <a:cs typeface="Meiryo UI" pitchFamily="34" charset="-120"/>
              </a:rPr>
              <a:t>黒字ラインは1日11人前後。工賃が愛媛平均（2.3万円）に届けば、年間約100万円の上乗せ。</a:t>
            </a:r>
            <a:endParaRPr lang="en-US" sz="1700" dirty="0"/>
          </a:p>
        </p:txBody>
      </p:sp>
      <p:sp>
        <p:nvSpPr>
          <p:cNvPr id="25" name="Text 22"/>
          <p:cNvSpPr txBox="1"/>
          <p:nvPr/>
        </p:nvSpPr>
        <p:spPr>
          <a:xfrm>
            <a:off x="548640" y="6035040"/>
            <a:ext cx="11094415" cy="256032"/>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※標準シナリオ（定員20名・人員配置6:1・2027年4月開設・初期投資900万円）。人件費・家賃は仮置き。報酬は令和8年6月の見直しと新規指定の特例（984/1000）を反映。</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774375" y="-1143000"/>
            <a:ext cx="2377440" cy="2377440"/>
          </a:xfrm>
          <a:prstGeom prst="ellipse">
            <a:avLst/>
          </a:prstGeom>
          <a:solidFill>
            <a:srgbClr val="D0DAF0"/>
          </a:solidFill>
          <a:ln w="6350">
            <a:solidFill>
              <a:srgbClr val="D0DAF0"/>
            </a:solidFill>
            <a:prstDash val="solid"/>
          </a:ln>
        </p:spPr>
      </p:sp>
      <p:sp>
        <p:nvSpPr>
          <p:cNvPr id="3" name="Shape 1"/>
          <p:cNvSpPr/>
          <p:nvPr/>
        </p:nvSpPr>
        <p:spPr>
          <a:xfrm>
            <a:off x="9585655" y="320040"/>
            <a:ext cx="1051560" cy="1051560"/>
          </a:xfrm>
          <a:prstGeom prst="ellipse">
            <a:avLst/>
          </a:prstGeom>
          <a:solidFill>
            <a:srgbClr val="F8C7CB"/>
          </a:solidFill>
          <a:ln w="6350">
            <a:solidFill>
              <a:srgbClr val="F8C7CB"/>
            </a:solidFill>
            <a:prstDash val="solid"/>
          </a:ln>
        </p:spPr>
      </p:sp>
      <p:sp>
        <p:nvSpPr>
          <p:cNvPr id="4" name="Shape 2"/>
          <p:cNvSpPr/>
          <p:nvPr/>
        </p:nvSpPr>
        <p:spPr>
          <a:xfrm>
            <a:off x="9128455" y="1143000"/>
            <a:ext cx="292608" cy="292608"/>
          </a:xfrm>
          <a:prstGeom prst="ellipse">
            <a:avLst/>
          </a:prstGeom>
          <a:solidFill>
            <a:srgbClr val="5DBB63"/>
          </a:solidFill>
          <a:ln w="6350">
            <a:solidFill>
              <a:srgbClr val="5DBB63"/>
            </a:solidFill>
            <a:prstDash val="solid"/>
          </a:ln>
        </p:spPr>
      </p:sp>
      <p:sp>
        <p:nvSpPr>
          <p:cNvPr id="5" name="Shape 3"/>
          <p:cNvSpPr/>
          <p:nvPr/>
        </p:nvSpPr>
        <p:spPr>
          <a:xfrm>
            <a:off x="329184" y="457200"/>
            <a:ext cx="749808" cy="749808"/>
          </a:xfrm>
          <a:prstGeom prst="ellipse">
            <a:avLst/>
          </a:prstGeom>
          <a:solidFill>
            <a:srgbClr val="F9E4A2"/>
          </a:solidFill>
          <a:ln w="6350">
            <a:solidFill>
              <a:srgbClr val="F9E4A2"/>
            </a:solidFill>
            <a:prstDash val="solid"/>
          </a:ln>
        </p:spPr>
      </p:sp>
      <p:sp>
        <p:nvSpPr>
          <p:cNvPr id="6" name="Text 4"/>
          <p:cNvSpPr txBox="1"/>
          <p:nvPr/>
        </p:nvSpPr>
        <p:spPr>
          <a:xfrm>
            <a:off x="548640" y="566928"/>
            <a:ext cx="850392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描く未来　― 愛媛から全国へ（仮構想）</a:t>
            </a:r>
            <a:endParaRPr lang="en-US" sz="3000" dirty="0"/>
          </a:p>
        </p:txBody>
      </p:sp>
      <p:sp>
        <p:nvSpPr>
          <p:cNvPr id="7" name="Shape 5"/>
          <p:cNvSpPr/>
          <p:nvPr/>
        </p:nvSpPr>
        <p:spPr>
          <a:xfrm>
            <a:off x="11222431" y="6291072"/>
            <a:ext cx="420624" cy="420624"/>
          </a:xfrm>
          <a:prstGeom prst="ellipse">
            <a:avLst/>
          </a:prstGeom>
          <a:solidFill>
            <a:srgbClr val="FAEAB7"/>
          </a:solidFill>
          <a:ln w="6350">
            <a:solidFill>
              <a:srgbClr val="FAEAB7"/>
            </a:solidFill>
            <a:prstDash val="solid"/>
          </a:ln>
        </p:spPr>
      </p:sp>
      <p:sp>
        <p:nvSpPr>
          <p:cNvPr id="8" name="Text 6"/>
          <p:cNvSpPr txBox="1"/>
          <p:nvPr/>
        </p:nvSpPr>
        <p:spPr>
          <a:xfrm>
            <a:off x="11222431" y="6291072"/>
            <a:ext cx="420624" cy="420624"/>
          </a:xfrm>
          <a:prstGeom prst="rect">
            <a:avLst/>
          </a:prstGeom>
          <a:noFill/>
          <a:ln/>
        </p:spPr>
        <p:txBody>
          <a:bodyPr wrap="square" lIns="0" tIns="0" rIns="0" bIns="0" rtlCol="0" anchor="ctr"/>
          <a:lstStyle/>
          <a:p>
            <a:pPr algn="ctr" indent="0" marL="0">
              <a:lnSpc>
                <a:spcPts val="1200"/>
              </a:lnSpc>
              <a:buNone/>
            </a:pPr>
            <a:r>
              <a:rPr lang="en-US" sz="1200" b="1" dirty="0">
                <a:solidFill>
                  <a:srgbClr val="2E3440"/>
                </a:solidFill>
                <a:latin typeface="Meiryo UI" pitchFamily="34" charset="0"/>
                <a:ea typeface="Meiryo UI" pitchFamily="34" charset="-122"/>
                <a:cs typeface="Meiryo UI" pitchFamily="34" charset="-120"/>
              </a:rPr>
              <a:t>9</a:t>
            </a:r>
            <a:endParaRPr lang="en-US" sz="1200" dirty="0"/>
          </a:p>
        </p:txBody>
      </p:sp>
      <p:sp>
        <p:nvSpPr>
          <p:cNvPr id="9" name="Shape 7"/>
          <p:cNvSpPr/>
          <p:nvPr/>
        </p:nvSpPr>
        <p:spPr>
          <a:xfrm>
            <a:off x="548640" y="1645920"/>
            <a:ext cx="2606040" cy="3063240"/>
          </a:xfrm>
          <a:prstGeom prst="roundRect">
            <a:avLst>
              <a:gd name="adj" fmla="val 10526"/>
            </a:avLst>
          </a:prstGeom>
          <a:solidFill>
            <a:srgbClr val="FBE3E5"/>
          </a:solidFill>
          <a:ln w="6350">
            <a:solidFill>
              <a:srgbClr val="FBE3E5"/>
            </a:solidFill>
            <a:prstDash val="solid"/>
          </a:ln>
        </p:spPr>
      </p:sp>
      <p:sp>
        <p:nvSpPr>
          <p:cNvPr id="10" name="Shape 8"/>
          <p:cNvSpPr/>
          <p:nvPr/>
        </p:nvSpPr>
        <p:spPr>
          <a:xfrm>
            <a:off x="822960" y="1920240"/>
            <a:ext cx="713232" cy="713232"/>
          </a:xfrm>
          <a:prstGeom prst="ellipse">
            <a:avLst/>
          </a:prstGeom>
          <a:solidFill>
            <a:srgbClr val="E8505B"/>
          </a:solidFill>
          <a:ln w="6350">
            <a:solidFill>
              <a:srgbClr val="E8505B"/>
            </a:solidFill>
            <a:prstDash val="solid"/>
          </a:ln>
        </p:spPr>
      </p:sp>
      <p:pic>
        <p:nvPicPr>
          <p:cNvPr id="11" name="Image 0" descr="preencoded.png">    </p:cNvPr>
          <p:cNvPicPr>
            <a:picLocks noChangeAspect="1"/>
          </p:cNvPicPr>
          <p:nvPr/>
        </p:nvPicPr>
        <p:blipFill>
          <a:blip r:embed="rId1"/>
          <a:stretch>
            <a:fillRect/>
          </a:stretch>
        </p:blipFill>
        <p:spPr>
          <a:xfrm>
            <a:off x="994136" y="2091416"/>
            <a:ext cx="370881" cy="370881"/>
          </a:xfrm>
          <a:prstGeom prst="rect">
            <a:avLst/>
          </a:prstGeom>
        </p:spPr>
      </p:pic>
      <p:sp>
        <p:nvSpPr>
          <p:cNvPr id="12" name="Text 9"/>
          <p:cNvSpPr txBox="1"/>
          <p:nvPr/>
        </p:nvSpPr>
        <p:spPr>
          <a:xfrm>
            <a:off x="1691640"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C73B4A"/>
                </a:solidFill>
                <a:latin typeface="Meiryo UI" pitchFamily="34" charset="0"/>
                <a:ea typeface="Meiryo UI" pitchFamily="34" charset="-122"/>
                <a:cs typeface="Meiryo UI" pitchFamily="34" charset="-120"/>
              </a:rPr>
              <a:t>STEP 1</a:t>
            </a:r>
            <a:endParaRPr lang="en-US" sz="1300" dirty="0"/>
          </a:p>
        </p:txBody>
      </p:sp>
      <p:sp>
        <p:nvSpPr>
          <p:cNvPr id="13" name="Text 10"/>
          <p:cNvSpPr txBox="1"/>
          <p:nvPr/>
        </p:nvSpPr>
        <p:spPr>
          <a:xfrm>
            <a:off x="822960"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愛媛で実践</a:t>
            </a:r>
            <a:endParaRPr lang="en-US" sz="2100" dirty="0"/>
          </a:p>
        </p:txBody>
      </p:sp>
      <p:sp>
        <p:nvSpPr>
          <p:cNvPr id="14" name="Text 11"/>
          <p:cNvSpPr txBox="1"/>
          <p:nvPr/>
        </p:nvSpPr>
        <p:spPr>
          <a:xfrm>
            <a:off x="822960"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B型を第一歩に、</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放デイ・児童クラブ・</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就労をつなぐ</a:t>
            </a:r>
            <a:endParaRPr lang="en-US" sz="1300" dirty="0"/>
          </a:p>
        </p:txBody>
      </p:sp>
      <p:sp>
        <p:nvSpPr>
          <p:cNvPr id="15" name="Shape 12"/>
          <p:cNvSpPr/>
          <p:nvPr/>
        </p:nvSpPr>
        <p:spPr>
          <a:xfrm>
            <a:off x="3206953" y="3040380"/>
            <a:ext cx="118872" cy="274320"/>
          </a:xfrm>
          <a:prstGeom prst="chevron">
            <a:avLst/>
          </a:prstGeom>
          <a:solidFill>
            <a:srgbClr val="B7C5E9"/>
          </a:solidFill>
          <a:ln w="6350">
            <a:solidFill>
              <a:srgbClr val="B7C5E9"/>
            </a:solidFill>
            <a:prstDash val="solid"/>
          </a:ln>
        </p:spPr>
      </p:sp>
      <p:sp>
        <p:nvSpPr>
          <p:cNvPr id="16" name="Shape 13"/>
          <p:cNvSpPr/>
          <p:nvPr/>
        </p:nvSpPr>
        <p:spPr>
          <a:xfrm>
            <a:off x="3378098" y="1645920"/>
            <a:ext cx="2606040" cy="3063240"/>
          </a:xfrm>
          <a:prstGeom prst="roundRect">
            <a:avLst>
              <a:gd name="adj" fmla="val 10526"/>
            </a:avLst>
          </a:prstGeom>
          <a:solidFill>
            <a:srgbClr val="FDF5DE"/>
          </a:solidFill>
          <a:ln w="6350">
            <a:solidFill>
              <a:srgbClr val="FDF5DE"/>
            </a:solidFill>
            <a:prstDash val="solid"/>
          </a:ln>
        </p:spPr>
      </p:sp>
      <p:sp>
        <p:nvSpPr>
          <p:cNvPr id="17" name="Shape 14"/>
          <p:cNvSpPr/>
          <p:nvPr/>
        </p:nvSpPr>
        <p:spPr>
          <a:xfrm>
            <a:off x="3652418" y="1920240"/>
            <a:ext cx="713232" cy="713232"/>
          </a:xfrm>
          <a:prstGeom prst="ellipse">
            <a:avLst/>
          </a:prstGeom>
          <a:solidFill>
            <a:srgbClr val="F2C230"/>
          </a:solidFill>
          <a:ln w="6350">
            <a:solidFill>
              <a:srgbClr val="F2C230"/>
            </a:solidFill>
            <a:prstDash val="solid"/>
          </a:ln>
        </p:spPr>
      </p:sp>
      <p:pic>
        <p:nvPicPr>
          <p:cNvPr id="18" name="Image 1" descr="preencoded.png">    </p:cNvPr>
          <p:cNvPicPr>
            <a:picLocks noChangeAspect="1"/>
          </p:cNvPicPr>
          <p:nvPr/>
        </p:nvPicPr>
        <p:blipFill>
          <a:blip r:embed="rId2"/>
          <a:stretch>
            <a:fillRect/>
          </a:stretch>
        </p:blipFill>
        <p:spPr>
          <a:xfrm>
            <a:off x="3823594" y="2091416"/>
            <a:ext cx="370881" cy="370881"/>
          </a:xfrm>
          <a:prstGeom prst="rect">
            <a:avLst/>
          </a:prstGeom>
        </p:spPr>
      </p:pic>
      <p:sp>
        <p:nvSpPr>
          <p:cNvPr id="19" name="Text 15"/>
          <p:cNvSpPr txBox="1"/>
          <p:nvPr/>
        </p:nvSpPr>
        <p:spPr>
          <a:xfrm>
            <a:off x="4521098"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8F6E00"/>
                </a:solidFill>
                <a:latin typeface="Meiryo UI" pitchFamily="34" charset="0"/>
                <a:ea typeface="Meiryo UI" pitchFamily="34" charset="-122"/>
                <a:cs typeface="Meiryo UI" pitchFamily="34" charset="-120"/>
              </a:rPr>
              <a:t>STEP 2</a:t>
            </a:r>
            <a:endParaRPr lang="en-US" sz="1300" dirty="0"/>
          </a:p>
        </p:txBody>
      </p:sp>
      <p:sp>
        <p:nvSpPr>
          <p:cNvPr id="20" name="Text 16"/>
          <p:cNvSpPr txBox="1"/>
          <p:nvPr/>
        </p:nvSpPr>
        <p:spPr>
          <a:xfrm>
            <a:off x="3652418"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四国支社</a:t>
            </a:r>
            <a:endParaRPr lang="en-US" sz="2100" dirty="0"/>
          </a:p>
        </p:txBody>
      </p:sp>
      <p:sp>
        <p:nvSpPr>
          <p:cNvPr id="21" name="Text 17"/>
          <p:cNvSpPr txBox="1"/>
          <p:nvPr/>
        </p:nvSpPr>
        <p:spPr>
          <a:xfrm>
            <a:off x="3652418"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愛媛から四国全域へ</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（インドネシアの特定技能</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等の人材も含めて）</a:t>
            </a:r>
            <a:endParaRPr lang="en-US" sz="1300" dirty="0"/>
          </a:p>
        </p:txBody>
      </p:sp>
      <p:sp>
        <p:nvSpPr>
          <p:cNvPr id="22" name="Shape 18"/>
          <p:cNvSpPr/>
          <p:nvPr/>
        </p:nvSpPr>
        <p:spPr>
          <a:xfrm>
            <a:off x="6036412" y="3040380"/>
            <a:ext cx="118872" cy="274320"/>
          </a:xfrm>
          <a:prstGeom prst="chevron">
            <a:avLst/>
          </a:prstGeom>
          <a:solidFill>
            <a:srgbClr val="B7C5E9"/>
          </a:solidFill>
          <a:ln w="6350">
            <a:solidFill>
              <a:srgbClr val="B7C5E9"/>
            </a:solidFill>
            <a:prstDash val="solid"/>
          </a:ln>
        </p:spPr>
      </p:sp>
      <p:sp>
        <p:nvSpPr>
          <p:cNvPr id="23" name="Shape 19"/>
          <p:cNvSpPr/>
          <p:nvPr/>
        </p:nvSpPr>
        <p:spPr>
          <a:xfrm>
            <a:off x="6207557" y="1645920"/>
            <a:ext cx="2606040" cy="3063240"/>
          </a:xfrm>
          <a:prstGeom prst="roundRect">
            <a:avLst>
              <a:gd name="adj" fmla="val 10526"/>
            </a:avLst>
          </a:prstGeom>
          <a:solidFill>
            <a:srgbClr val="E0F1F8"/>
          </a:solidFill>
          <a:ln w="6350">
            <a:solidFill>
              <a:srgbClr val="E0F1F8"/>
            </a:solidFill>
            <a:prstDash val="solid"/>
          </a:ln>
        </p:spPr>
      </p:sp>
      <p:sp>
        <p:nvSpPr>
          <p:cNvPr id="24" name="Shape 20"/>
          <p:cNvSpPr/>
          <p:nvPr/>
        </p:nvSpPr>
        <p:spPr>
          <a:xfrm>
            <a:off x="6481877" y="1920240"/>
            <a:ext cx="713232" cy="713232"/>
          </a:xfrm>
          <a:prstGeom prst="ellipse">
            <a:avLst/>
          </a:prstGeom>
          <a:solidFill>
            <a:srgbClr val="3FA7D6"/>
          </a:solidFill>
          <a:ln w="6350">
            <a:solidFill>
              <a:srgbClr val="3FA7D6"/>
            </a:solidFill>
            <a:prstDash val="solid"/>
          </a:ln>
        </p:spPr>
      </p:sp>
      <p:pic>
        <p:nvPicPr>
          <p:cNvPr id="25" name="Image 2" descr="preencoded.png">    </p:cNvPr>
          <p:cNvPicPr>
            <a:picLocks noChangeAspect="1"/>
          </p:cNvPicPr>
          <p:nvPr/>
        </p:nvPicPr>
        <p:blipFill>
          <a:blip r:embed="rId3"/>
          <a:stretch>
            <a:fillRect/>
          </a:stretch>
        </p:blipFill>
        <p:spPr>
          <a:xfrm>
            <a:off x="6653052" y="2091416"/>
            <a:ext cx="370881" cy="370881"/>
          </a:xfrm>
          <a:prstGeom prst="rect">
            <a:avLst/>
          </a:prstGeom>
        </p:spPr>
      </p:pic>
      <p:sp>
        <p:nvSpPr>
          <p:cNvPr id="26" name="Text 21"/>
          <p:cNvSpPr txBox="1"/>
          <p:nvPr/>
        </p:nvSpPr>
        <p:spPr>
          <a:xfrm>
            <a:off x="7350557"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D72A3"/>
                </a:solidFill>
                <a:latin typeface="Meiryo UI" pitchFamily="34" charset="0"/>
                <a:ea typeface="Meiryo UI" pitchFamily="34" charset="-122"/>
                <a:cs typeface="Meiryo UI" pitchFamily="34" charset="-120"/>
              </a:rPr>
              <a:t>STEP 3</a:t>
            </a:r>
            <a:endParaRPr lang="en-US" sz="1300" dirty="0"/>
          </a:p>
        </p:txBody>
      </p:sp>
      <p:sp>
        <p:nvSpPr>
          <p:cNvPr id="27" name="Text 22"/>
          <p:cNvSpPr txBox="1"/>
          <p:nvPr/>
        </p:nvSpPr>
        <p:spPr>
          <a:xfrm>
            <a:off x="6481877"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関西・中部支社</a:t>
            </a:r>
            <a:endParaRPr lang="en-US" sz="2100" dirty="0"/>
          </a:p>
        </p:txBody>
      </p:sp>
      <p:sp>
        <p:nvSpPr>
          <p:cNvPr id="28" name="Text 23"/>
          <p:cNvSpPr txBox="1"/>
          <p:nvPr/>
        </p:nvSpPr>
        <p:spPr>
          <a:xfrm>
            <a:off x="6481877"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エリアごとの拠点を</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各地に広げていく</a:t>
            </a:r>
            <a:endParaRPr lang="en-US" sz="1300" dirty="0"/>
          </a:p>
        </p:txBody>
      </p:sp>
      <p:sp>
        <p:nvSpPr>
          <p:cNvPr id="29" name="Shape 24"/>
          <p:cNvSpPr/>
          <p:nvPr/>
        </p:nvSpPr>
        <p:spPr>
          <a:xfrm>
            <a:off x="8865870" y="3040380"/>
            <a:ext cx="118872" cy="274320"/>
          </a:xfrm>
          <a:prstGeom prst="chevron">
            <a:avLst/>
          </a:prstGeom>
          <a:solidFill>
            <a:srgbClr val="B7C5E9"/>
          </a:solidFill>
          <a:ln w="6350">
            <a:solidFill>
              <a:srgbClr val="B7C5E9"/>
            </a:solidFill>
            <a:prstDash val="solid"/>
          </a:ln>
        </p:spPr>
      </p:sp>
      <p:sp>
        <p:nvSpPr>
          <p:cNvPr id="30" name="Shape 25"/>
          <p:cNvSpPr/>
          <p:nvPr/>
        </p:nvSpPr>
        <p:spPr>
          <a:xfrm>
            <a:off x="9037015" y="1645920"/>
            <a:ext cx="2606040" cy="3063240"/>
          </a:xfrm>
          <a:prstGeom prst="roundRect">
            <a:avLst>
              <a:gd name="adj" fmla="val 10526"/>
            </a:avLst>
          </a:prstGeom>
          <a:solidFill>
            <a:srgbClr val="EFE7F6"/>
          </a:solidFill>
          <a:ln w="6350">
            <a:solidFill>
              <a:srgbClr val="EFE7F6"/>
            </a:solidFill>
            <a:prstDash val="solid"/>
          </a:ln>
        </p:spPr>
      </p:sp>
      <p:sp>
        <p:nvSpPr>
          <p:cNvPr id="31" name="Shape 26"/>
          <p:cNvSpPr/>
          <p:nvPr/>
        </p:nvSpPr>
        <p:spPr>
          <a:xfrm>
            <a:off x="9311335" y="1920240"/>
            <a:ext cx="713232" cy="713232"/>
          </a:xfrm>
          <a:prstGeom prst="ellipse">
            <a:avLst/>
          </a:prstGeom>
          <a:solidFill>
            <a:srgbClr val="9A6BC4"/>
          </a:solidFill>
          <a:ln w="6350">
            <a:solidFill>
              <a:srgbClr val="9A6BC4"/>
            </a:solidFill>
            <a:prstDash val="solid"/>
          </a:ln>
        </p:spPr>
      </p:sp>
      <p:pic>
        <p:nvPicPr>
          <p:cNvPr id="32" name="Image 3" descr="preencoded.png">    </p:cNvPr>
          <p:cNvPicPr>
            <a:picLocks noChangeAspect="1"/>
          </p:cNvPicPr>
          <p:nvPr/>
        </p:nvPicPr>
        <p:blipFill>
          <a:blip r:embed="rId4"/>
          <a:stretch>
            <a:fillRect/>
          </a:stretch>
        </p:blipFill>
        <p:spPr>
          <a:xfrm>
            <a:off x="9482511" y="2091416"/>
            <a:ext cx="370881" cy="370881"/>
          </a:xfrm>
          <a:prstGeom prst="rect">
            <a:avLst/>
          </a:prstGeom>
        </p:spPr>
      </p:pic>
      <p:sp>
        <p:nvSpPr>
          <p:cNvPr id="33" name="Text 27"/>
          <p:cNvSpPr txBox="1"/>
          <p:nvPr/>
        </p:nvSpPr>
        <p:spPr>
          <a:xfrm>
            <a:off x="10180015"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7A4DAE"/>
                </a:solidFill>
                <a:latin typeface="Meiryo UI" pitchFamily="34" charset="0"/>
                <a:ea typeface="Meiryo UI" pitchFamily="34" charset="-122"/>
                <a:cs typeface="Meiryo UI" pitchFamily="34" charset="-120"/>
              </a:rPr>
              <a:t>GOAL</a:t>
            </a:r>
            <a:endParaRPr lang="en-US" sz="1300" dirty="0"/>
          </a:p>
        </p:txBody>
      </p:sp>
      <p:sp>
        <p:nvSpPr>
          <p:cNvPr id="34" name="Text 28"/>
          <p:cNvSpPr txBox="1"/>
          <p:nvPr/>
        </p:nvSpPr>
        <p:spPr>
          <a:xfrm>
            <a:off x="9311335"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全国へ</a:t>
            </a:r>
            <a:endParaRPr lang="en-US" sz="2100" dirty="0"/>
          </a:p>
        </p:txBody>
      </p:sp>
      <p:sp>
        <p:nvSpPr>
          <p:cNvPr id="35" name="Text 29"/>
          <p:cNvSpPr txBox="1"/>
          <p:nvPr/>
        </p:nvSpPr>
        <p:spPr>
          <a:xfrm>
            <a:off x="9311335"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全国にキャレオスの</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トータルサポートを</a:t>
            </a:r>
            <a:endParaRPr lang="en-US" sz="1300" dirty="0"/>
          </a:p>
        </p:txBody>
      </p:sp>
      <p:sp>
        <p:nvSpPr>
          <p:cNvPr id="36" name="Shape 30"/>
          <p:cNvSpPr/>
          <p:nvPr/>
        </p:nvSpPr>
        <p:spPr>
          <a:xfrm>
            <a:off x="548640" y="4983480"/>
            <a:ext cx="11094415" cy="868680"/>
          </a:xfrm>
          <a:prstGeom prst="roundRect">
            <a:avLst>
              <a:gd name="adj" fmla="val 42105"/>
            </a:avLst>
          </a:prstGeom>
          <a:solidFill>
            <a:srgbClr val="E6EBF7"/>
          </a:solidFill>
          <a:ln w="6350">
            <a:solidFill>
              <a:srgbClr val="E6EBF7"/>
            </a:solidFill>
            <a:prstDash val="solid"/>
          </a:ln>
        </p:spPr>
      </p:sp>
      <p:sp>
        <p:nvSpPr>
          <p:cNvPr id="37" name="Text 31"/>
          <p:cNvSpPr txBox="1"/>
          <p:nvPr/>
        </p:nvSpPr>
        <p:spPr>
          <a:xfrm>
            <a:off x="914400" y="4983480"/>
            <a:ext cx="10362895" cy="868680"/>
          </a:xfrm>
          <a:prstGeom prst="rect">
            <a:avLst/>
          </a:prstGeom>
          <a:noFill/>
          <a:ln/>
        </p:spPr>
        <p:txBody>
          <a:bodyPr wrap="square" lIns="0" tIns="0" rIns="0" bIns="0" rtlCol="0" anchor="ctr"/>
          <a:lstStyle/>
          <a:p>
            <a:pPr indent="0" marL="0">
              <a:lnSpc>
                <a:spcPts val="2470"/>
              </a:lnSpc>
              <a:buNone/>
            </a:pPr>
            <a:r>
              <a:rPr lang="en-US" sz="1900" b="1" dirty="0">
                <a:solidFill>
                  <a:srgbClr val="3A5BB8"/>
                </a:solidFill>
                <a:latin typeface="Meiryo UI" pitchFamily="34" charset="0"/>
                <a:ea typeface="Meiryo UI" pitchFamily="34" charset="-122"/>
                <a:cs typeface="Meiryo UI" pitchFamily="34" charset="-120"/>
              </a:rPr>
              <a:t>まだキャレオスにいない人材・ポジション。そこを確立させることに価値がある。</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822960"/>
            <a:ext cx="2743200" cy="2743200"/>
          </a:xfrm>
          <a:prstGeom prst="ellipse">
            <a:avLst/>
          </a:prstGeom>
          <a:solidFill>
            <a:srgbClr val="D7DFF3"/>
          </a:solidFill>
          <a:ln w="6350">
            <a:solidFill>
              <a:srgbClr val="D7DFF3"/>
            </a:solidFill>
            <a:prstDash val="solid"/>
          </a:ln>
        </p:spPr>
      </p:sp>
      <p:sp>
        <p:nvSpPr>
          <p:cNvPr id="3" name="Shape 1"/>
          <p:cNvSpPr/>
          <p:nvPr/>
        </p:nvSpPr>
        <p:spPr>
          <a:xfrm>
            <a:off x="1554480" y="411480"/>
            <a:ext cx="914400" cy="914400"/>
          </a:xfrm>
          <a:prstGeom prst="ellipse">
            <a:avLst/>
          </a:prstGeom>
          <a:solidFill>
            <a:srgbClr val="FBDFBE"/>
          </a:solidFill>
          <a:ln w="6350">
            <a:solidFill>
              <a:srgbClr val="FBDFBE"/>
            </a:solidFill>
            <a:prstDash val="solid"/>
          </a:ln>
        </p:spPr>
      </p:sp>
      <p:sp>
        <p:nvSpPr>
          <p:cNvPr id="4" name="Shape 2"/>
          <p:cNvSpPr/>
          <p:nvPr/>
        </p:nvSpPr>
        <p:spPr>
          <a:xfrm>
            <a:off x="9966960" y="4572000"/>
            <a:ext cx="2926080" cy="2926080"/>
          </a:xfrm>
          <a:prstGeom prst="ellipse">
            <a:avLst/>
          </a:prstGeom>
          <a:solidFill>
            <a:srgbClr val="D8EFDA"/>
          </a:solidFill>
          <a:ln w="6350">
            <a:solidFill>
              <a:srgbClr val="D8EFDA"/>
            </a:solidFill>
            <a:prstDash val="solid"/>
          </a:ln>
        </p:spPr>
      </p:sp>
      <p:sp>
        <p:nvSpPr>
          <p:cNvPr id="5" name="Shape 3"/>
          <p:cNvSpPr/>
          <p:nvPr/>
        </p:nvSpPr>
        <p:spPr>
          <a:xfrm>
            <a:off x="9235440" y="5806440"/>
            <a:ext cx="822960" cy="822960"/>
          </a:xfrm>
          <a:prstGeom prst="ellipse">
            <a:avLst/>
          </a:prstGeom>
          <a:solidFill>
            <a:srgbClr val="E1D3ED"/>
          </a:solidFill>
          <a:ln w="6350">
            <a:solidFill>
              <a:srgbClr val="E1D3ED"/>
            </a:solidFill>
            <a:prstDash val="solid"/>
          </a:ln>
        </p:spPr>
      </p:sp>
      <p:sp>
        <p:nvSpPr>
          <p:cNvPr id="6" name="Shape 4"/>
          <p:cNvSpPr/>
          <p:nvPr/>
        </p:nvSpPr>
        <p:spPr>
          <a:xfrm>
            <a:off x="10881360" y="457200"/>
            <a:ext cx="1188720" cy="1188720"/>
          </a:xfrm>
          <a:prstGeom prst="ellipse">
            <a:avLst/>
          </a:prstGeom>
          <a:solidFill>
            <a:srgbClr val="FBEDC1"/>
          </a:solidFill>
          <a:ln w="6350">
            <a:solidFill>
              <a:srgbClr val="FBEDC1"/>
            </a:solidFill>
            <a:prstDash val="solid"/>
          </a:ln>
        </p:spPr>
      </p:sp>
      <p:sp>
        <p:nvSpPr>
          <p:cNvPr id="7" name="Shape 5"/>
          <p:cNvSpPr/>
          <p:nvPr/>
        </p:nvSpPr>
        <p:spPr>
          <a:xfrm>
            <a:off x="2651760" y="1188720"/>
            <a:ext cx="219456" cy="219456"/>
          </a:xfrm>
          <a:prstGeom prst="ellipse">
            <a:avLst/>
          </a:prstGeom>
          <a:solidFill>
            <a:srgbClr val="E8505B"/>
          </a:solidFill>
          <a:ln w="6350">
            <a:solidFill>
              <a:srgbClr val="E8505B"/>
            </a:solidFill>
            <a:prstDash val="solid"/>
          </a:ln>
        </p:spPr>
      </p:sp>
      <p:sp>
        <p:nvSpPr>
          <p:cNvPr id="8" name="Shape 6"/>
          <p:cNvSpPr/>
          <p:nvPr/>
        </p:nvSpPr>
        <p:spPr>
          <a:xfrm>
            <a:off x="9418320" y="1371600"/>
            <a:ext cx="182880" cy="182880"/>
          </a:xfrm>
          <a:prstGeom prst="ellipse">
            <a:avLst/>
          </a:prstGeom>
          <a:solidFill>
            <a:srgbClr val="3FA7D6"/>
          </a:solidFill>
          <a:ln w="6350">
            <a:solidFill>
              <a:srgbClr val="3FA7D6"/>
            </a:solidFill>
            <a:prstDash val="solid"/>
          </a:ln>
        </p:spPr>
      </p:sp>
      <p:sp>
        <p:nvSpPr>
          <p:cNvPr id="9" name="Shape 7"/>
          <p:cNvSpPr/>
          <p:nvPr/>
        </p:nvSpPr>
        <p:spPr>
          <a:xfrm>
            <a:off x="1097280" y="5760720"/>
            <a:ext cx="237744" cy="237744"/>
          </a:xfrm>
          <a:prstGeom prst="ellipse">
            <a:avLst/>
          </a:prstGeom>
          <a:solidFill>
            <a:srgbClr val="9A6BC4"/>
          </a:solidFill>
          <a:ln w="6350">
            <a:solidFill>
              <a:srgbClr val="9A6BC4"/>
            </a:solidFill>
            <a:prstDash val="solid"/>
          </a:ln>
        </p:spPr>
      </p:sp>
      <p:sp>
        <p:nvSpPr>
          <p:cNvPr id="10" name="Shape 8"/>
          <p:cNvSpPr/>
          <p:nvPr/>
        </p:nvSpPr>
        <p:spPr>
          <a:xfrm>
            <a:off x="8778240" y="5394960"/>
            <a:ext cx="164592" cy="164592"/>
          </a:xfrm>
          <a:prstGeom prst="ellipse">
            <a:avLst/>
          </a:prstGeom>
          <a:solidFill>
            <a:srgbClr val="F39C33"/>
          </a:solidFill>
          <a:ln w="6350">
            <a:solidFill>
              <a:srgbClr val="F39C33"/>
            </a:solidFill>
            <a:prstDash val="solid"/>
          </a:ln>
        </p:spPr>
      </p:sp>
      <p:sp>
        <p:nvSpPr>
          <p:cNvPr id="11" name="Text 9"/>
          <p:cNvSpPr txBox="1"/>
          <p:nvPr/>
        </p:nvSpPr>
        <p:spPr>
          <a:xfrm>
            <a:off x="1371600" y="2103120"/>
            <a:ext cx="9448495" cy="457200"/>
          </a:xfrm>
          <a:prstGeom prst="rect">
            <a:avLst/>
          </a:prstGeom>
          <a:noFill/>
          <a:ln/>
        </p:spPr>
        <p:txBody>
          <a:bodyPr wrap="square" lIns="0" tIns="0" rIns="0" bIns="0" rtlCol="0" anchor="t"/>
          <a:lstStyle/>
          <a:p>
            <a:pPr algn="ctr" indent="0" marL="0">
              <a:lnSpc>
                <a:spcPts val="2600"/>
              </a:lnSpc>
              <a:buNone/>
            </a:pPr>
            <a:r>
              <a:rPr lang="en-US" sz="2000" dirty="0">
                <a:solidFill>
                  <a:srgbClr val="5B6472"/>
                </a:solidFill>
                <a:latin typeface="Meiryo UI" pitchFamily="34" charset="0"/>
                <a:ea typeface="Meiryo UI" pitchFamily="34" charset="-122"/>
                <a:cs typeface="Meiryo UI" pitchFamily="34" charset="-120"/>
              </a:rPr>
              <a:t>その始まりを、愛媛で実践する人材に。</a:t>
            </a:r>
            <a:endParaRPr lang="en-US" sz="2000" dirty="0"/>
          </a:p>
        </p:txBody>
      </p:sp>
      <p:sp>
        <p:nvSpPr>
          <p:cNvPr id="12" name="Text 10"/>
          <p:cNvSpPr txBox="1"/>
          <p:nvPr/>
        </p:nvSpPr>
        <p:spPr>
          <a:xfrm>
            <a:off x="1371600" y="2651760"/>
            <a:ext cx="9448495" cy="1645920"/>
          </a:xfrm>
          <a:prstGeom prst="rect">
            <a:avLst/>
          </a:prstGeom>
          <a:noFill/>
          <a:ln/>
        </p:spPr>
        <p:txBody>
          <a:bodyPr wrap="square" lIns="0" tIns="0" rIns="0" bIns="0" rtlCol="0" anchor="t"/>
          <a:lstStyle/>
          <a:p>
            <a:pPr algn="ctr" indent="0" marL="0">
              <a:lnSpc>
                <a:spcPts val="5750"/>
              </a:lnSpc>
              <a:buNone/>
            </a:pPr>
            <a:r>
              <a:rPr lang="en-US" sz="4600" b="1" dirty="0">
                <a:solidFill>
                  <a:srgbClr val="2E3440"/>
                </a:solidFill>
                <a:latin typeface="Meiryo UI" pitchFamily="34" charset="0"/>
                <a:ea typeface="Meiryo UI" pitchFamily="34" charset="-122"/>
                <a:cs typeface="Meiryo UI" pitchFamily="34" charset="-120"/>
              </a:rPr>
              <a:t>全国に</a:t>
            </a:r>
            <a:endParaRPr lang="en-US" sz="4600" dirty="0"/>
          </a:p>
          <a:p>
            <a:pPr algn="ctr" indent="0" marL="0">
              <a:lnSpc>
                <a:spcPts val="5750"/>
              </a:lnSpc>
              <a:buNone/>
            </a:pPr>
            <a:r>
              <a:rPr lang="en-US" sz="4600" b="1" dirty="0">
                <a:solidFill>
                  <a:srgbClr val="2E3440"/>
                </a:solidFill>
                <a:latin typeface="Meiryo UI" pitchFamily="34" charset="0"/>
                <a:ea typeface="Meiryo UI" pitchFamily="34" charset="-122"/>
                <a:cs typeface="Meiryo UI" pitchFamily="34" charset="-120"/>
              </a:rPr>
              <a:t>トータルサポートを。</a:t>
            </a:r>
            <a:endParaRPr lang="en-US" sz="4600" dirty="0"/>
          </a:p>
        </p:txBody>
      </p:sp>
      <p:sp>
        <p:nvSpPr>
          <p:cNvPr id="13" name="Text 11"/>
          <p:cNvSpPr txBox="1"/>
          <p:nvPr/>
        </p:nvSpPr>
        <p:spPr>
          <a:xfrm>
            <a:off x="1371600" y="4526280"/>
            <a:ext cx="9448495" cy="365760"/>
          </a:xfrm>
          <a:prstGeom prst="rect">
            <a:avLst/>
          </a:prstGeom>
          <a:noFill/>
          <a:ln/>
        </p:spPr>
        <p:txBody>
          <a:bodyPr wrap="square" lIns="0" tIns="0" rIns="0" bIns="0" rtlCol="0" anchor="t"/>
          <a:lstStyle/>
          <a:p>
            <a:pPr algn="ctr" indent="0" marL="0">
              <a:lnSpc>
                <a:spcPts val="1950"/>
              </a:lnSpc>
              <a:buNone/>
            </a:pPr>
            <a:r>
              <a:rPr lang="en-US" sz="1500" dirty="0">
                <a:solidFill>
                  <a:srgbClr val="5B6472"/>
                </a:solidFill>
                <a:latin typeface="Meiryo UI" pitchFamily="34" charset="0"/>
                <a:ea typeface="Meiryo UI" pitchFamily="34" charset="-122"/>
                <a:cs typeface="Meiryo UI" pitchFamily="34" charset="-120"/>
              </a:rPr>
              <a:t>ご清聴ありがとうございました</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全国にトータルサポートを。</dc:title>
  <dc:subject>PptxGenJS Presentation</dc:subject>
  <dc:creator>PptxGenJS</dc:creator>
  <cp:lastModifiedBy>PptxGenJS</cp:lastModifiedBy>
  <cp:revision>1</cp:revision>
  <dcterms:created xsi:type="dcterms:W3CDTF">2026-09-30T04:42:38Z</dcterms:created>
  <dcterms:modified xsi:type="dcterms:W3CDTF">2026-09-30T04:42:38Z</dcterms:modified>
</cp:coreProperties>
</file>