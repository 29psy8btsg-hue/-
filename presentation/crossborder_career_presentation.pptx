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本日は「全国にトータルサポートを。」というテーマで、クロスボーダーキャリアパスの候補生として、私がこれから何をしていきたいかをお話しします。（約15秒）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2019年に入社し、奈良津1組で放課後等デイサービスの現場を経験しました。2024年に愛媛県今治市の日吉へ異動、そして今月、西条へ異動し、管理者兼エリアマネージャーとして愛媛エリアを担っています。（約30秒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一つ目のきっかけは保護者の声です。異動先ではさまざまな困難もありましたが、愛媛の地にもキャレオス、夢門塾はあり、利用者の居場所として確立していました。そんな中、高校生になる利用者の保護者から「ゆうゆうを卒業したあとがとても不安」「愛媛にキャレオスの就労があったらとっても安心する」という言葉をいただきました。嬉しい一方で、胸の痛む言葉でした。（約40秒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二つ目は、サービス支給量の決定基準が制定されたことです。受給者証の支給日数の上限が、手帳や個別サポートの有無で決まるようになりました。これまで利用していた方が支給日数を減らされ、「お留守番ができるのか」「行き場がすぐに見つからない」「放課後等デイサービスに通っているなら児童クラブは利用できないと断られた」といった不安の声が多く聞かれました。キャレオスには放課後児童クラブの委託事業があります。愛媛でも参入の機会があるのではないかと考えました。（約50秒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つ目は、愛媛でナンバーワンになるためです。愛媛には、児童発達支援、就労継続支援、相談支援、グループホーム、介護などを多数展開し、地域の福祉を支えている来島会のような法人があります。10年後、20年後を見据えると、総量規制の始まりや人口減少の中で選ばれ続けるには、地域に根差した福祉を、同等かそれ以上のトータルサポートで提供しなければなりません。（約40秒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そのきっかけとして、クロスボーダーで第三管理部、地域共創課、ソーシャルカレッジリッツ、ラトリエトゥボナペティ、生活介護、相談支援など、数多くの事業部と連携し、学びを得たいと考えています。放課後等デイサービスという自分のボーダーを越え、ライフステージ全体を支える視点を身につけます。（約30秒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からは、まだ妄想の域を出ない仮構想です。まず愛媛で、放課後等デイサービス、児童クラブ、就労へとつながるトータルサポートの形をつくります。次に四国支社として、愛媛だけでなく四国全域へ。インドネシアの特定技能などの人材も含めて考えています。そして関西支社、中部支社と、全国へトータルサポートを広げていく。その始まりを愛媛で実践する人材になりたいと考えています。まだキャレオスにいない人材、ポジションだからこそ、それを確立させることに価値があると思っています。（約60秒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ゆうゆうを卒業したあとも安心できる」と言っていただける地域をつくるために。全国にトータルサポートを届ける、その始まりを愛媛で実践する人材になります。ご清聴ありがとうございました。（約20秒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17420"/>
            <a:ext cx="6583680" cy="6583680"/>
          </a:xfrm>
          <a:prstGeom prst="blockArc">
            <a:avLst>
              <a:gd name="adj1" fmla="val 10800000"/>
              <a:gd name="adj2" fmla="val 16200000"/>
              <a:gd name="adj3" fmla="val 4500"/>
            </a:avLst>
          </a:prstGeom>
          <a:solidFill>
            <a:srgbClr val="E8505B"/>
          </a:solidFill>
          <a:ln w="12700">
            <a:solidFill>
              <a:srgbClr val="E8505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882896" y="2528316"/>
            <a:ext cx="5961888" cy="5961888"/>
          </a:xfrm>
          <a:prstGeom prst="blockArc">
            <a:avLst>
              <a:gd name="adj1" fmla="val 10800000"/>
              <a:gd name="adj2" fmla="val 16200000"/>
              <a:gd name="adj3" fmla="val 4500"/>
            </a:avLst>
          </a:prstGeom>
          <a:solidFill>
            <a:srgbClr val="F39C33"/>
          </a:solidFill>
          <a:ln w="12700">
            <a:solidFill>
              <a:srgbClr val="F39C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193792" y="2839212"/>
            <a:ext cx="5340096" cy="5340096"/>
          </a:xfrm>
          <a:prstGeom prst="blockArc">
            <a:avLst>
              <a:gd name="adj1" fmla="val 10800000"/>
              <a:gd name="adj2" fmla="val 16200000"/>
              <a:gd name="adj3" fmla="val 4500"/>
            </a:avLst>
          </a:prstGeom>
          <a:solidFill>
            <a:srgbClr val="F2C230"/>
          </a:solidFill>
          <a:ln w="12700">
            <a:solidFill>
              <a:srgbClr val="F2C2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504688" y="3150108"/>
            <a:ext cx="4718304" cy="4718304"/>
          </a:xfrm>
          <a:prstGeom prst="blockArc">
            <a:avLst>
              <a:gd name="adj1" fmla="val 10800000"/>
              <a:gd name="adj2" fmla="val 16200000"/>
              <a:gd name="adj3" fmla="val 4500"/>
            </a:avLst>
          </a:prstGeom>
          <a:solidFill>
            <a:srgbClr val="5DBB63"/>
          </a:solidFill>
          <a:ln w="12700">
            <a:solidFill>
              <a:srgbClr val="5DBB6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815584" y="3461004"/>
            <a:ext cx="4096512" cy="4096512"/>
          </a:xfrm>
          <a:prstGeom prst="blockArc">
            <a:avLst>
              <a:gd name="adj1" fmla="val 10800000"/>
              <a:gd name="adj2" fmla="val 16200000"/>
              <a:gd name="adj3" fmla="val 4500"/>
            </a:avLst>
          </a:prstGeom>
          <a:solidFill>
            <a:srgbClr val="3FA7D6"/>
          </a:solidFill>
          <a:ln w="12700">
            <a:solidFill>
              <a:srgbClr val="3FA7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26480" y="3771900"/>
            <a:ext cx="3474720" cy="3474720"/>
          </a:xfrm>
          <a:prstGeom prst="blockArc">
            <a:avLst>
              <a:gd name="adj1" fmla="val 10800000"/>
              <a:gd name="adj2" fmla="val 16200000"/>
              <a:gd name="adj3" fmla="val 4500"/>
            </a:avLst>
          </a:prstGeom>
          <a:solidFill>
            <a:srgbClr val="4A6FC7"/>
          </a:solidFill>
          <a:ln w="12700">
            <a:solidFill>
              <a:srgbClr val="4A6FC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37376" y="4082796"/>
            <a:ext cx="2852928" cy="2852928"/>
          </a:xfrm>
          <a:prstGeom prst="blockArc">
            <a:avLst>
              <a:gd name="adj1" fmla="val 10800000"/>
              <a:gd name="adj2" fmla="val 16200000"/>
              <a:gd name="adj3" fmla="val 4500"/>
            </a:avLst>
          </a:prstGeom>
          <a:solidFill>
            <a:srgbClr val="9A6BC4"/>
          </a:solidFill>
          <a:ln w="12700">
            <a:solidFill>
              <a:srgbClr val="9A6BC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234440"/>
            <a:ext cx="100584" cy="100584"/>
          </a:xfrm>
          <a:prstGeom prst="ellipse">
            <a:avLst/>
          </a:prstGeom>
          <a:solidFill>
            <a:srgbClr val="E8505B"/>
          </a:solidFill>
          <a:ln w="12700">
            <a:solidFill>
              <a:srgbClr val="E8505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04672" y="1234440"/>
            <a:ext cx="100584" cy="100584"/>
          </a:xfrm>
          <a:prstGeom prst="ellipse">
            <a:avLst/>
          </a:prstGeom>
          <a:solidFill>
            <a:srgbClr val="F39C33"/>
          </a:solidFill>
          <a:ln w="12700">
            <a:solidFill>
              <a:srgbClr val="F39C3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9264" y="1234440"/>
            <a:ext cx="100584" cy="100584"/>
          </a:xfrm>
          <a:prstGeom prst="ellipse">
            <a:avLst/>
          </a:prstGeom>
          <a:solidFill>
            <a:srgbClr val="F2C230"/>
          </a:solidFill>
          <a:ln w="12700">
            <a:solidFill>
              <a:srgbClr val="F2C2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33856" y="1234440"/>
            <a:ext cx="100584" cy="100584"/>
          </a:xfrm>
          <a:prstGeom prst="ellipse">
            <a:avLst/>
          </a:prstGeom>
          <a:solidFill>
            <a:srgbClr val="5DBB63"/>
          </a:solidFill>
          <a:ln w="12700">
            <a:solidFill>
              <a:srgbClr val="5DBB6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98448" y="1234440"/>
            <a:ext cx="100584" cy="100584"/>
          </a:xfrm>
          <a:prstGeom prst="ellipse">
            <a:avLst/>
          </a:prstGeom>
          <a:solidFill>
            <a:srgbClr val="3FA7D6"/>
          </a:solidFill>
          <a:ln w="12700">
            <a:solidFill>
              <a:srgbClr val="3FA7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463040" y="1234440"/>
            <a:ext cx="100584" cy="100584"/>
          </a:xfrm>
          <a:prstGeom prst="ellipse">
            <a:avLst/>
          </a:prstGeom>
          <a:solidFill>
            <a:srgbClr val="4A6FC7"/>
          </a:solidFill>
          <a:ln w="12700">
            <a:solidFill>
              <a:srgbClr val="4A6FC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627632" y="1234440"/>
            <a:ext cx="100584" cy="100584"/>
          </a:xfrm>
          <a:prstGeom prst="ellipse">
            <a:avLst/>
          </a:prstGeom>
          <a:solidFill>
            <a:srgbClr val="9A6BC4"/>
          </a:solidFill>
          <a:ln w="12700">
            <a:solidFill>
              <a:srgbClr val="9A6B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1463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クロスボーダーキャリアパス　候補生発表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1874520"/>
            <a:ext cx="5669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2E344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全国に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2E344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トータルサポートを。</a:t>
            </a:r>
            <a:endParaRPr lang="en-US" sz="40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34747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4A6FC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その始まりを、愛媛から。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411480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放課後等デイサービス　管理者 兼 エリアマネージャー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夢門塾ゆうゆう西条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00584" cy="100584"/>
          </a:xfrm>
          <a:prstGeom prst="ellipse">
            <a:avLst/>
          </a:prstGeom>
          <a:solidFill>
            <a:srgbClr val="E8505B"/>
          </a:solidFill>
          <a:ln w="12700">
            <a:solidFill>
              <a:srgbClr val="E8505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21792" y="384048"/>
            <a:ext cx="100584" cy="100584"/>
          </a:xfrm>
          <a:prstGeom prst="ellipse">
            <a:avLst/>
          </a:prstGeom>
          <a:solidFill>
            <a:srgbClr val="F39C33"/>
          </a:solidFill>
          <a:ln w="12700">
            <a:solidFill>
              <a:srgbClr val="F39C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384048"/>
            <a:ext cx="100584" cy="100584"/>
          </a:xfrm>
          <a:prstGeom prst="ellipse">
            <a:avLst/>
          </a:prstGeom>
          <a:solidFill>
            <a:srgbClr val="F2C230"/>
          </a:solidFill>
          <a:ln w="12700">
            <a:solidFill>
              <a:srgbClr val="F2C2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0976" y="384048"/>
            <a:ext cx="100584" cy="100584"/>
          </a:xfrm>
          <a:prstGeom prst="ellipse">
            <a:avLst/>
          </a:prstGeom>
          <a:solidFill>
            <a:srgbClr val="5DBB63"/>
          </a:solidFill>
          <a:ln w="12700">
            <a:solidFill>
              <a:srgbClr val="5DBB6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" y="384048"/>
            <a:ext cx="100584" cy="100584"/>
          </a:xfrm>
          <a:prstGeom prst="ellipse">
            <a:avLst/>
          </a:prstGeom>
          <a:solidFill>
            <a:srgbClr val="3FA7D6"/>
          </a:solidFill>
          <a:ln w="12700">
            <a:solidFill>
              <a:srgbClr val="3FA7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80160" y="384048"/>
            <a:ext cx="100584" cy="100584"/>
          </a:xfrm>
          <a:prstGeom prst="ellipse">
            <a:avLst/>
          </a:prstGeom>
          <a:solidFill>
            <a:srgbClr val="4A6FC7"/>
          </a:solidFill>
          <a:ln w="12700">
            <a:solidFill>
              <a:srgbClr val="4A6FC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44752" y="384048"/>
            <a:ext cx="100584" cy="100584"/>
          </a:xfrm>
          <a:prstGeom prst="ellipse">
            <a:avLst/>
          </a:prstGeom>
          <a:solidFill>
            <a:srgbClr val="9A6BC4"/>
          </a:solidFill>
          <a:ln w="12700">
            <a:solidFill>
              <a:srgbClr val="9A6BC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53035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E344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これまでの歩み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914400" y="2286000"/>
            <a:ext cx="7315200" cy="0"/>
          </a:xfrm>
          <a:prstGeom prst="line">
            <a:avLst/>
          </a:prstGeom>
          <a:noFill/>
          <a:ln w="25400">
            <a:solidFill>
              <a:srgbClr val="D5DAE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2139696"/>
            <a:ext cx="292608" cy="292608"/>
          </a:xfrm>
          <a:prstGeom prst="ellipse">
            <a:avLst/>
          </a:prstGeom>
          <a:solidFill>
            <a:srgbClr val="E8505B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1627632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8505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2019.10.28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13716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入社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2651760"/>
            <a:ext cx="2468880" cy="1691640"/>
          </a:xfrm>
          <a:prstGeom prst="roundRect">
            <a:avLst>
              <a:gd name="adj" fmla="val 6486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1520" y="278892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E344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夢門塾ゆうゆう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2E344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奈良津1組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352044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放課後等デイサービスの現場からスタート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3566160" y="2139696"/>
            <a:ext cx="292608" cy="292608"/>
          </a:xfrm>
          <a:prstGeom prst="ellipse">
            <a:avLst/>
          </a:prstGeom>
          <a:solidFill>
            <a:srgbClr val="5DBB63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291840" y="1627632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DBB6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2024.4.1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3291840" y="13716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異動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291840" y="2651760"/>
            <a:ext cx="2468880" cy="1691640"/>
          </a:xfrm>
          <a:prstGeom prst="roundRect">
            <a:avLst>
              <a:gd name="adj" fmla="val 6486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474720" y="278892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E344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愛媛県今治市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2E344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夢門塾ゆうゆう日吉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3474720" y="352044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縁のない土地で、一から地域との関係づくり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309360" y="2139696"/>
            <a:ext cx="292608" cy="292608"/>
          </a:xfrm>
          <a:prstGeom prst="ellipse">
            <a:avLst/>
          </a:prstGeom>
          <a:solidFill>
            <a:srgbClr val="4A6FC7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035040" y="1627632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4A6FC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2026.9.1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6035040" y="13716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異動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035040" y="2651760"/>
            <a:ext cx="2468880" cy="1691640"/>
          </a:xfrm>
          <a:prstGeom prst="roundRect">
            <a:avLst>
              <a:gd name="adj" fmla="val 6486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217920" y="278892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E344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愛媛県西条市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2E344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夢門塾ゆうゆう西条</a:t>
            </a:r>
            <a:endParaRPr lang="en-US" sz="1350" dirty="0"/>
          </a:p>
        </p:txBody>
      </p:sp>
      <p:sp>
        <p:nvSpPr>
          <p:cNvPr id="29" name="Text 27"/>
          <p:cNvSpPr txBox="1"/>
          <p:nvPr/>
        </p:nvSpPr>
        <p:spPr>
          <a:xfrm>
            <a:off x="6217920" y="352044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管理者 兼 エリアマネージャーとして愛媛エリアを担う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00584" cy="100584"/>
          </a:xfrm>
          <a:prstGeom prst="ellipse">
            <a:avLst/>
          </a:prstGeom>
          <a:solidFill>
            <a:srgbClr val="E8505B"/>
          </a:solidFill>
          <a:ln w="12700">
            <a:solidFill>
              <a:srgbClr val="E8505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21792" y="384048"/>
            <a:ext cx="100584" cy="100584"/>
          </a:xfrm>
          <a:prstGeom prst="ellipse">
            <a:avLst/>
          </a:prstGeom>
          <a:solidFill>
            <a:srgbClr val="F39C33"/>
          </a:solidFill>
          <a:ln w="12700">
            <a:solidFill>
              <a:srgbClr val="F39C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384048"/>
            <a:ext cx="100584" cy="100584"/>
          </a:xfrm>
          <a:prstGeom prst="ellipse">
            <a:avLst/>
          </a:prstGeom>
          <a:solidFill>
            <a:srgbClr val="F2C230"/>
          </a:solidFill>
          <a:ln w="12700">
            <a:solidFill>
              <a:srgbClr val="F2C2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0976" y="384048"/>
            <a:ext cx="100584" cy="100584"/>
          </a:xfrm>
          <a:prstGeom prst="ellipse">
            <a:avLst/>
          </a:prstGeom>
          <a:solidFill>
            <a:srgbClr val="5DBB63"/>
          </a:solidFill>
          <a:ln w="12700">
            <a:solidFill>
              <a:srgbClr val="5DBB6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" y="384048"/>
            <a:ext cx="100584" cy="100584"/>
          </a:xfrm>
          <a:prstGeom prst="ellipse">
            <a:avLst/>
          </a:prstGeom>
          <a:solidFill>
            <a:srgbClr val="3FA7D6"/>
          </a:solidFill>
          <a:ln w="12700">
            <a:solidFill>
              <a:srgbClr val="3FA7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80160" y="384048"/>
            <a:ext cx="100584" cy="100584"/>
          </a:xfrm>
          <a:prstGeom prst="ellipse">
            <a:avLst/>
          </a:prstGeom>
          <a:solidFill>
            <a:srgbClr val="4A6FC7"/>
          </a:solidFill>
          <a:ln w="12700">
            <a:solidFill>
              <a:srgbClr val="4A6FC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44752" y="384048"/>
            <a:ext cx="100584" cy="100584"/>
          </a:xfrm>
          <a:prstGeom prst="ellipse">
            <a:avLst/>
          </a:prstGeom>
          <a:solidFill>
            <a:srgbClr val="9A6BC4"/>
          </a:solidFill>
          <a:ln w="12700">
            <a:solidFill>
              <a:srgbClr val="9A6BC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53035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E344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きっかけ ①　保護者の声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2801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異動先で困難もあった。それでも愛媛の地にもキャレオス・夢門塾はあり、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利用者の「居場所」として確立していた。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2103120"/>
            <a:ext cx="4023360" cy="1600200"/>
          </a:xfrm>
          <a:prstGeom prst="roundRect">
            <a:avLst>
              <a:gd name="adj" fmla="val 685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205740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E8505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“</a:t>
            </a:r>
            <a:endParaRPr lang="en-US" sz="48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265176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E344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「ゆうゆうを卒業したあとが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2E344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とても不安」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4663440" y="2103120"/>
            <a:ext cx="4023360" cy="1600200"/>
          </a:xfrm>
          <a:prstGeom prst="roundRect">
            <a:avLst>
              <a:gd name="adj" fmla="val 685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846320" y="205740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3FA7D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“</a:t>
            </a:r>
            <a:endParaRPr lang="en-US" sz="4800" dirty="0"/>
          </a:p>
        </p:txBody>
      </p:sp>
      <p:sp>
        <p:nvSpPr>
          <p:cNvPr id="17" name="Text 15"/>
          <p:cNvSpPr txBox="1"/>
          <p:nvPr/>
        </p:nvSpPr>
        <p:spPr>
          <a:xfrm>
            <a:off x="4983480" y="265176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E344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「愛媛にキャレオスの就労が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2E344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あったらとっても安心する」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3794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— 高校生になる利用者の保護者より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4206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4A6FC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嬉しい、けれど胸の痛いことば。卒業後の「次の居場所」を愛媛に。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00584" cy="100584"/>
          </a:xfrm>
          <a:prstGeom prst="ellipse">
            <a:avLst/>
          </a:prstGeom>
          <a:solidFill>
            <a:srgbClr val="E8505B"/>
          </a:solidFill>
          <a:ln w="12700">
            <a:solidFill>
              <a:srgbClr val="E8505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21792" y="384048"/>
            <a:ext cx="100584" cy="100584"/>
          </a:xfrm>
          <a:prstGeom prst="ellipse">
            <a:avLst/>
          </a:prstGeom>
          <a:solidFill>
            <a:srgbClr val="F39C33"/>
          </a:solidFill>
          <a:ln w="12700">
            <a:solidFill>
              <a:srgbClr val="F39C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384048"/>
            <a:ext cx="100584" cy="100584"/>
          </a:xfrm>
          <a:prstGeom prst="ellipse">
            <a:avLst/>
          </a:prstGeom>
          <a:solidFill>
            <a:srgbClr val="F2C230"/>
          </a:solidFill>
          <a:ln w="12700">
            <a:solidFill>
              <a:srgbClr val="F2C2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0976" y="384048"/>
            <a:ext cx="100584" cy="100584"/>
          </a:xfrm>
          <a:prstGeom prst="ellipse">
            <a:avLst/>
          </a:prstGeom>
          <a:solidFill>
            <a:srgbClr val="5DBB63"/>
          </a:solidFill>
          <a:ln w="12700">
            <a:solidFill>
              <a:srgbClr val="5DBB6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" y="384048"/>
            <a:ext cx="100584" cy="100584"/>
          </a:xfrm>
          <a:prstGeom prst="ellipse">
            <a:avLst/>
          </a:prstGeom>
          <a:solidFill>
            <a:srgbClr val="3FA7D6"/>
          </a:solidFill>
          <a:ln w="12700">
            <a:solidFill>
              <a:srgbClr val="3FA7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80160" y="384048"/>
            <a:ext cx="100584" cy="100584"/>
          </a:xfrm>
          <a:prstGeom prst="ellipse">
            <a:avLst/>
          </a:prstGeom>
          <a:solidFill>
            <a:srgbClr val="4A6FC7"/>
          </a:solidFill>
          <a:ln w="12700">
            <a:solidFill>
              <a:srgbClr val="4A6FC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44752" y="384048"/>
            <a:ext cx="100584" cy="100584"/>
          </a:xfrm>
          <a:prstGeom prst="ellipse">
            <a:avLst/>
          </a:prstGeom>
          <a:solidFill>
            <a:srgbClr val="9A6BC4"/>
          </a:solidFill>
          <a:ln w="12700">
            <a:solidFill>
              <a:srgbClr val="9A6BC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53035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E344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きっかけ ②　サービス支給量の決定基準の制定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1371600"/>
            <a:ext cx="2560320" cy="2514600"/>
          </a:xfrm>
          <a:prstGeom prst="roundRect">
            <a:avLst>
              <a:gd name="adj" fmla="val 4364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85800" y="1645920"/>
            <a:ext cx="384048" cy="384048"/>
          </a:xfrm>
          <a:prstGeom prst="ellipse">
            <a:avLst/>
          </a:prstGeom>
          <a:solidFill>
            <a:srgbClr val="F39C33"/>
          </a:solidFill>
          <a:ln w="12700">
            <a:solidFill>
              <a:srgbClr val="F39C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" y="1645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167335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344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制度の変化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685800" y="2240280"/>
            <a:ext cx="21488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2E344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受給者証の支給日数の上限が、手帳や個別サポートの有無で決まるように。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3081528" y="2487168"/>
            <a:ext cx="146304" cy="274320"/>
          </a:xfrm>
          <a:prstGeom prst="chevron">
            <a:avLst/>
          </a:prstGeom>
          <a:solidFill>
            <a:srgbClr val="C9CFDA"/>
          </a:solidFill>
          <a:ln w="12700">
            <a:solidFill>
              <a:srgbClr val="C9CFD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91840" y="1371600"/>
            <a:ext cx="2560320" cy="2514600"/>
          </a:xfrm>
          <a:prstGeom prst="roundRect">
            <a:avLst>
              <a:gd name="adj" fmla="val 4364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520440" y="1645920"/>
            <a:ext cx="384048" cy="384048"/>
          </a:xfrm>
          <a:prstGeom prst="ellipse">
            <a:avLst/>
          </a:prstGeom>
          <a:solidFill>
            <a:srgbClr val="E8505B"/>
          </a:solidFill>
          <a:ln w="12700">
            <a:solidFill>
              <a:srgbClr val="E8505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520440" y="1645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4023360" y="167335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344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現場の不安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3520440" y="2240280"/>
            <a:ext cx="21488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2E344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・支給日数が減り、お留守番ができるか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2E344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・次の行き場がすぐに見つからない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2E344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・放デイ利用中を理由に児童クラブを断られた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916168" y="2487168"/>
            <a:ext cx="146304" cy="274320"/>
          </a:xfrm>
          <a:prstGeom prst="chevron">
            <a:avLst/>
          </a:prstGeom>
          <a:solidFill>
            <a:srgbClr val="C9CFDA"/>
          </a:solidFill>
          <a:ln w="12700">
            <a:solidFill>
              <a:srgbClr val="C9CFD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126480" y="1371600"/>
            <a:ext cx="2560320" cy="2514600"/>
          </a:xfrm>
          <a:prstGeom prst="roundRect">
            <a:avLst>
              <a:gd name="adj" fmla="val 4364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55080" y="1645920"/>
            <a:ext cx="384048" cy="384048"/>
          </a:xfrm>
          <a:prstGeom prst="ellipse">
            <a:avLst/>
          </a:prstGeom>
          <a:solidFill>
            <a:srgbClr val="5DBB63"/>
          </a:solidFill>
          <a:ln w="12700">
            <a:solidFill>
              <a:srgbClr val="5DBB6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355080" y="1645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858000" y="167335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344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参入の機会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6355080" y="2240280"/>
            <a:ext cx="21488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2E344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キャレオスには放課後児童クラブの委託事業がある。愛媛でも受け皿になれないか。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4114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4A6FC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放デイだけでは支えきれない。地域の「放課後の受け皿」にキャレオスが。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00584" cy="100584"/>
          </a:xfrm>
          <a:prstGeom prst="ellipse">
            <a:avLst/>
          </a:prstGeom>
          <a:solidFill>
            <a:srgbClr val="E8505B"/>
          </a:solidFill>
          <a:ln w="12700">
            <a:solidFill>
              <a:srgbClr val="E8505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21792" y="384048"/>
            <a:ext cx="100584" cy="100584"/>
          </a:xfrm>
          <a:prstGeom prst="ellipse">
            <a:avLst/>
          </a:prstGeom>
          <a:solidFill>
            <a:srgbClr val="F39C33"/>
          </a:solidFill>
          <a:ln w="12700">
            <a:solidFill>
              <a:srgbClr val="F39C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384048"/>
            <a:ext cx="100584" cy="100584"/>
          </a:xfrm>
          <a:prstGeom prst="ellipse">
            <a:avLst/>
          </a:prstGeom>
          <a:solidFill>
            <a:srgbClr val="F2C230"/>
          </a:solidFill>
          <a:ln w="12700">
            <a:solidFill>
              <a:srgbClr val="F2C2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0976" y="384048"/>
            <a:ext cx="100584" cy="100584"/>
          </a:xfrm>
          <a:prstGeom prst="ellipse">
            <a:avLst/>
          </a:prstGeom>
          <a:solidFill>
            <a:srgbClr val="5DBB63"/>
          </a:solidFill>
          <a:ln w="12700">
            <a:solidFill>
              <a:srgbClr val="5DBB6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" y="384048"/>
            <a:ext cx="100584" cy="100584"/>
          </a:xfrm>
          <a:prstGeom prst="ellipse">
            <a:avLst/>
          </a:prstGeom>
          <a:solidFill>
            <a:srgbClr val="3FA7D6"/>
          </a:solidFill>
          <a:ln w="12700">
            <a:solidFill>
              <a:srgbClr val="3FA7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80160" y="384048"/>
            <a:ext cx="100584" cy="100584"/>
          </a:xfrm>
          <a:prstGeom prst="ellipse">
            <a:avLst/>
          </a:prstGeom>
          <a:solidFill>
            <a:srgbClr val="4A6FC7"/>
          </a:solidFill>
          <a:ln w="12700">
            <a:solidFill>
              <a:srgbClr val="4A6FC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44752" y="384048"/>
            <a:ext cx="100584" cy="100584"/>
          </a:xfrm>
          <a:prstGeom prst="ellipse">
            <a:avLst/>
          </a:prstGeom>
          <a:solidFill>
            <a:srgbClr val="9A6BC4"/>
          </a:solidFill>
          <a:ln w="12700">
            <a:solidFill>
              <a:srgbClr val="9A6BC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53035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E344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きっかけ ③　愛媛でナンバーワンになるために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5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1371600"/>
            <a:ext cx="3931920" cy="3108960"/>
          </a:xfrm>
          <a:prstGeom prst="roundRect">
            <a:avLst>
              <a:gd name="adj" fmla="val 3529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15544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E344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愛媛の福祉を支える地域大手（例：来島会）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85800" y="2011680"/>
            <a:ext cx="1645920" cy="43891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F2C23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85800" y="2011680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E344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児童発達支援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468880" y="2011680"/>
            <a:ext cx="1645920" cy="43891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5DBB6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468880" y="2011680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E344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就労継続支援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85800" y="2578608"/>
            <a:ext cx="1645920" cy="43891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3FA7D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5800" y="2578608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E344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相談支援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468880" y="2578608"/>
            <a:ext cx="1645920" cy="43891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4A6FC7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468880" y="2578608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E344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グループホーム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85800" y="3145536"/>
            <a:ext cx="1645920" cy="43891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9A6B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85800" y="3145536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E344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介護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85800" y="39776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ライフステージを通して多数展開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4754880" y="14173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E344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10年後・20年後を見据えると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4754880" y="1920240"/>
            <a:ext cx="201168" cy="201168"/>
          </a:xfrm>
          <a:prstGeom prst="ellipse">
            <a:avLst/>
          </a:prstGeom>
          <a:solidFill>
            <a:srgbClr val="E8505B"/>
          </a:solidFill>
          <a:ln w="12700">
            <a:solidFill>
              <a:srgbClr val="E8505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754880" y="192024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5074920" y="1874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E344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総量規制のはじまり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4754880" y="2487168"/>
            <a:ext cx="201168" cy="201168"/>
          </a:xfrm>
          <a:prstGeom prst="ellipse">
            <a:avLst/>
          </a:prstGeom>
          <a:solidFill>
            <a:srgbClr val="F39C33"/>
          </a:solidFill>
          <a:ln w="12700">
            <a:solidFill>
              <a:srgbClr val="F39C33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754880" y="2487168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5074920" y="244144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E344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人口減少</a:t>
            </a:r>
            <a:endParaRPr lang="en-US" sz="1350" dirty="0"/>
          </a:p>
        </p:txBody>
      </p:sp>
      <p:sp>
        <p:nvSpPr>
          <p:cNvPr id="31" name="Shape 29"/>
          <p:cNvSpPr/>
          <p:nvPr/>
        </p:nvSpPr>
        <p:spPr>
          <a:xfrm>
            <a:off x="4754880" y="3054096"/>
            <a:ext cx="201168" cy="201168"/>
          </a:xfrm>
          <a:prstGeom prst="ellipse">
            <a:avLst/>
          </a:prstGeom>
          <a:solidFill>
            <a:srgbClr val="5DBB63"/>
          </a:solidFill>
          <a:ln w="12700">
            <a:solidFill>
              <a:srgbClr val="5DBB63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754880" y="305409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074920" y="3008376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E344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「選ばれ続ける」ための地域に根差した福祉</a:t>
            </a:r>
            <a:endParaRPr lang="en-US" sz="1350" dirty="0"/>
          </a:p>
        </p:txBody>
      </p:sp>
      <p:sp>
        <p:nvSpPr>
          <p:cNvPr id="34" name="Text 32"/>
          <p:cNvSpPr txBox="1"/>
          <p:nvPr/>
        </p:nvSpPr>
        <p:spPr>
          <a:xfrm>
            <a:off x="4754880" y="365760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4A6FC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同等、それ以上の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4A6FC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トータルサポートが必要。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00584" cy="100584"/>
          </a:xfrm>
          <a:prstGeom prst="ellipse">
            <a:avLst/>
          </a:prstGeom>
          <a:solidFill>
            <a:srgbClr val="E8505B"/>
          </a:solidFill>
          <a:ln w="12700">
            <a:solidFill>
              <a:srgbClr val="E8505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21792" y="384048"/>
            <a:ext cx="100584" cy="100584"/>
          </a:xfrm>
          <a:prstGeom prst="ellipse">
            <a:avLst/>
          </a:prstGeom>
          <a:solidFill>
            <a:srgbClr val="F39C33"/>
          </a:solidFill>
          <a:ln w="12700">
            <a:solidFill>
              <a:srgbClr val="F39C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384048"/>
            <a:ext cx="100584" cy="100584"/>
          </a:xfrm>
          <a:prstGeom prst="ellipse">
            <a:avLst/>
          </a:prstGeom>
          <a:solidFill>
            <a:srgbClr val="F2C230"/>
          </a:solidFill>
          <a:ln w="12700">
            <a:solidFill>
              <a:srgbClr val="F2C2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0976" y="384048"/>
            <a:ext cx="100584" cy="100584"/>
          </a:xfrm>
          <a:prstGeom prst="ellipse">
            <a:avLst/>
          </a:prstGeom>
          <a:solidFill>
            <a:srgbClr val="5DBB63"/>
          </a:solidFill>
          <a:ln w="12700">
            <a:solidFill>
              <a:srgbClr val="5DBB6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" y="384048"/>
            <a:ext cx="100584" cy="100584"/>
          </a:xfrm>
          <a:prstGeom prst="ellipse">
            <a:avLst/>
          </a:prstGeom>
          <a:solidFill>
            <a:srgbClr val="3FA7D6"/>
          </a:solidFill>
          <a:ln w="12700">
            <a:solidFill>
              <a:srgbClr val="3FA7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80160" y="384048"/>
            <a:ext cx="100584" cy="100584"/>
          </a:xfrm>
          <a:prstGeom prst="ellipse">
            <a:avLst/>
          </a:prstGeom>
          <a:solidFill>
            <a:srgbClr val="4A6FC7"/>
          </a:solidFill>
          <a:ln w="12700">
            <a:solidFill>
              <a:srgbClr val="4A6FC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44752" y="384048"/>
            <a:ext cx="100584" cy="100584"/>
          </a:xfrm>
          <a:prstGeom prst="ellipse">
            <a:avLst/>
          </a:prstGeom>
          <a:solidFill>
            <a:srgbClr val="9A6BC4"/>
          </a:solidFill>
          <a:ln w="12700">
            <a:solidFill>
              <a:srgbClr val="9A6BC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53035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E344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クロスボーダーで、自分のボーダーを越える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1463040"/>
            <a:ext cx="2560320" cy="685800"/>
          </a:xfrm>
          <a:prstGeom prst="roundRect">
            <a:avLst>
              <a:gd name="adj" fmla="val 16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1700784"/>
            <a:ext cx="210312" cy="210312"/>
          </a:xfrm>
          <a:prstGeom prst="ellipse">
            <a:avLst/>
          </a:prstGeom>
          <a:solidFill>
            <a:srgbClr val="E8505B"/>
          </a:solidFill>
          <a:ln w="12700">
            <a:solidFill>
              <a:srgbClr val="E8505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32688" y="146304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344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第三管理部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3291840" y="1463040"/>
            <a:ext cx="2560320" cy="685800"/>
          </a:xfrm>
          <a:prstGeom prst="roundRect">
            <a:avLst>
              <a:gd name="adj" fmla="val 16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474720" y="1700784"/>
            <a:ext cx="210312" cy="210312"/>
          </a:xfrm>
          <a:prstGeom prst="ellipse">
            <a:avLst/>
          </a:prstGeom>
          <a:solidFill>
            <a:srgbClr val="F39C33"/>
          </a:solidFill>
          <a:ln w="12700">
            <a:solidFill>
              <a:srgbClr val="F39C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767328" y="146304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344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地域共創課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126480" y="1463040"/>
            <a:ext cx="2560320" cy="685800"/>
          </a:xfrm>
          <a:prstGeom prst="roundRect">
            <a:avLst>
              <a:gd name="adj" fmla="val 16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309360" y="1700784"/>
            <a:ext cx="210312" cy="210312"/>
          </a:xfrm>
          <a:prstGeom prst="ellipse">
            <a:avLst/>
          </a:prstGeom>
          <a:solidFill>
            <a:srgbClr val="F2C230"/>
          </a:solidFill>
          <a:ln w="12700">
            <a:solidFill>
              <a:srgbClr val="F2C23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601968" y="146304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344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ソーシャルカレッジリッツ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57200" y="3703320"/>
            <a:ext cx="2560320" cy="685800"/>
          </a:xfrm>
          <a:prstGeom prst="roundRect">
            <a:avLst>
              <a:gd name="adj" fmla="val 16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0080" y="3941064"/>
            <a:ext cx="210312" cy="210312"/>
          </a:xfrm>
          <a:prstGeom prst="ellipse">
            <a:avLst/>
          </a:prstGeom>
          <a:solidFill>
            <a:srgbClr val="5DBB63"/>
          </a:solidFill>
          <a:ln w="12700">
            <a:solidFill>
              <a:srgbClr val="5DBB6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32688" y="370332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344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ラトリエトゥボナペティ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3291840" y="3703320"/>
            <a:ext cx="2560320" cy="685800"/>
          </a:xfrm>
          <a:prstGeom prst="roundRect">
            <a:avLst>
              <a:gd name="adj" fmla="val 16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474720" y="3941064"/>
            <a:ext cx="210312" cy="210312"/>
          </a:xfrm>
          <a:prstGeom prst="ellipse">
            <a:avLst/>
          </a:prstGeom>
          <a:solidFill>
            <a:srgbClr val="3FA7D6"/>
          </a:solidFill>
          <a:ln w="12700">
            <a:solidFill>
              <a:srgbClr val="3FA7D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767328" y="370332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344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生活介護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126480" y="3703320"/>
            <a:ext cx="2560320" cy="685800"/>
          </a:xfrm>
          <a:prstGeom prst="roundRect">
            <a:avLst>
              <a:gd name="adj" fmla="val 16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309360" y="3941064"/>
            <a:ext cx="210312" cy="210312"/>
          </a:xfrm>
          <a:prstGeom prst="ellipse">
            <a:avLst/>
          </a:prstGeom>
          <a:solidFill>
            <a:srgbClr val="4A6FC7"/>
          </a:solidFill>
          <a:ln w="12700">
            <a:solidFill>
              <a:srgbClr val="4A6FC7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601968" y="370332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344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相談支援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1371600" y="2487168"/>
            <a:ext cx="6400800" cy="914400"/>
          </a:xfrm>
          <a:prstGeom prst="roundRect">
            <a:avLst>
              <a:gd name="adj" fmla="val 50000"/>
            </a:avLst>
          </a:prstGeom>
          <a:solidFill>
            <a:srgbClr val="4A6FC7"/>
          </a:solidFill>
          <a:ln w="12700">
            <a:solidFill>
              <a:srgbClr val="4A6FC7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371600" y="2487168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数多の事業部と連携し、学びを得る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1371600" y="30175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放デイの枠を越え、ライフステージ全体を支える視点へ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00584" cy="100584"/>
          </a:xfrm>
          <a:prstGeom prst="ellipse">
            <a:avLst/>
          </a:prstGeom>
          <a:solidFill>
            <a:srgbClr val="E8505B"/>
          </a:solidFill>
          <a:ln w="12700">
            <a:solidFill>
              <a:srgbClr val="E8505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21792" y="384048"/>
            <a:ext cx="100584" cy="100584"/>
          </a:xfrm>
          <a:prstGeom prst="ellipse">
            <a:avLst/>
          </a:prstGeom>
          <a:solidFill>
            <a:srgbClr val="F39C33"/>
          </a:solidFill>
          <a:ln w="12700">
            <a:solidFill>
              <a:srgbClr val="F39C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384048"/>
            <a:ext cx="100584" cy="100584"/>
          </a:xfrm>
          <a:prstGeom prst="ellipse">
            <a:avLst/>
          </a:prstGeom>
          <a:solidFill>
            <a:srgbClr val="F2C230"/>
          </a:solidFill>
          <a:ln w="12700">
            <a:solidFill>
              <a:srgbClr val="F2C2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0976" y="384048"/>
            <a:ext cx="100584" cy="100584"/>
          </a:xfrm>
          <a:prstGeom prst="ellipse">
            <a:avLst/>
          </a:prstGeom>
          <a:solidFill>
            <a:srgbClr val="5DBB63"/>
          </a:solidFill>
          <a:ln w="12700">
            <a:solidFill>
              <a:srgbClr val="5DBB6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5568" y="384048"/>
            <a:ext cx="100584" cy="100584"/>
          </a:xfrm>
          <a:prstGeom prst="ellipse">
            <a:avLst/>
          </a:prstGeom>
          <a:solidFill>
            <a:srgbClr val="3FA7D6"/>
          </a:solidFill>
          <a:ln w="12700">
            <a:solidFill>
              <a:srgbClr val="3FA7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80160" y="384048"/>
            <a:ext cx="100584" cy="100584"/>
          </a:xfrm>
          <a:prstGeom prst="ellipse">
            <a:avLst/>
          </a:prstGeom>
          <a:solidFill>
            <a:srgbClr val="4A6FC7"/>
          </a:solidFill>
          <a:ln w="12700">
            <a:solidFill>
              <a:srgbClr val="4A6FC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44752" y="384048"/>
            <a:ext cx="100584" cy="100584"/>
          </a:xfrm>
          <a:prstGeom prst="ellipse">
            <a:avLst/>
          </a:prstGeom>
          <a:solidFill>
            <a:srgbClr val="9A6BC4"/>
          </a:solidFill>
          <a:ln w="12700">
            <a:solidFill>
              <a:srgbClr val="9A6BC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53035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E344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描く未来　― 愛媛から全国へ（仮構想）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7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1417320"/>
            <a:ext cx="1920240" cy="2148840"/>
          </a:xfrm>
          <a:prstGeom prst="roundRect">
            <a:avLst>
              <a:gd name="adj" fmla="val 5714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1618488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E8505B"/>
          </a:solidFill>
          <a:ln w="12700">
            <a:solidFill>
              <a:srgbClr val="E8505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161848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STEP 1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205740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E344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愛媛で実践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2560320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放デイ・児童クラブ・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就労へとつながる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トータルサポートの形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2560320" y="1417320"/>
            <a:ext cx="1920240" cy="2148840"/>
          </a:xfrm>
          <a:prstGeom prst="roundRect">
            <a:avLst>
              <a:gd name="adj" fmla="val 5714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743200" y="1618488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F2C230"/>
          </a:solidFill>
          <a:ln w="12700">
            <a:solidFill>
              <a:srgbClr val="F2C23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743200" y="161848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STEP 2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2743200" y="205740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E344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四国支社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2743200" y="2560320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愛媛から四国全域へ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インドネシア特定技能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等の人材も含めて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663440" y="1417320"/>
            <a:ext cx="1920240" cy="2148840"/>
          </a:xfrm>
          <a:prstGeom prst="roundRect">
            <a:avLst>
              <a:gd name="adj" fmla="val 5714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846320" y="1618488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3FA7D6"/>
          </a:solidFill>
          <a:ln w="12700">
            <a:solidFill>
              <a:srgbClr val="3FA7D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846320" y="161848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STEP 3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4846320" y="205740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E344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関西・中部支社</a:t>
            </a:r>
            <a:endParaRPr lang="en-US" sz="1700" dirty="0"/>
          </a:p>
        </p:txBody>
      </p:sp>
      <p:sp>
        <p:nvSpPr>
          <p:cNvPr id="25" name="Text 23"/>
          <p:cNvSpPr txBox="1"/>
          <p:nvPr/>
        </p:nvSpPr>
        <p:spPr>
          <a:xfrm>
            <a:off x="4846320" y="2560320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エリアごとの拠点を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各地に広げていく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766560" y="1417320"/>
            <a:ext cx="1920240" cy="2148840"/>
          </a:xfrm>
          <a:prstGeom prst="roundRect">
            <a:avLst>
              <a:gd name="adj" fmla="val 5714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949440" y="1618488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9A6BC4"/>
          </a:solidFill>
          <a:ln w="12700">
            <a:solidFill>
              <a:srgbClr val="9A6BC4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949440" y="161848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GOAL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6949440" y="205740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E344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全国へ</a:t>
            </a:r>
            <a:endParaRPr lang="en-US" sz="1700" dirty="0"/>
          </a:p>
        </p:txBody>
      </p:sp>
      <p:sp>
        <p:nvSpPr>
          <p:cNvPr id="30" name="Text 28"/>
          <p:cNvSpPr txBox="1"/>
          <p:nvPr/>
        </p:nvSpPr>
        <p:spPr>
          <a:xfrm>
            <a:off x="6949440" y="2560320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全国にキャレオスの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トータルサポートを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57200" y="3794760"/>
            <a:ext cx="8229600" cy="777240"/>
          </a:xfrm>
          <a:prstGeom prst="roundRect">
            <a:avLst>
              <a:gd name="adj" fmla="val 14118"/>
            </a:avLst>
          </a:prstGeom>
          <a:solidFill>
            <a:srgbClr val="EEF1FB"/>
          </a:solidFill>
          <a:ln w="12700">
            <a:solidFill>
              <a:srgbClr val="EEF1FB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85800" y="3794760"/>
            <a:ext cx="7772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A6FC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まだキャレオスにいない人材・ポジション。そこを確立させることに価値がある。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834640" y="-2834640"/>
            <a:ext cx="5669280" cy="5669280"/>
          </a:xfrm>
          <a:prstGeom prst="blockArc">
            <a:avLst>
              <a:gd name="adj1" fmla="val 0"/>
              <a:gd name="adj2" fmla="val 5400000"/>
              <a:gd name="adj3" fmla="val 4500"/>
            </a:avLst>
          </a:prstGeom>
          <a:solidFill>
            <a:srgbClr val="E8505B"/>
          </a:solidFill>
          <a:ln w="12700">
            <a:solidFill>
              <a:srgbClr val="E8505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2560320" y="-2560320"/>
            <a:ext cx="5120640" cy="5120640"/>
          </a:xfrm>
          <a:prstGeom prst="blockArc">
            <a:avLst>
              <a:gd name="adj1" fmla="val 0"/>
              <a:gd name="adj2" fmla="val 5400000"/>
              <a:gd name="adj3" fmla="val 4500"/>
            </a:avLst>
          </a:prstGeom>
          <a:solidFill>
            <a:srgbClr val="F39C33"/>
          </a:solidFill>
          <a:ln w="12700">
            <a:solidFill>
              <a:srgbClr val="F39C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2286000" y="-2286000"/>
            <a:ext cx="4572000" cy="4572000"/>
          </a:xfrm>
          <a:prstGeom prst="blockArc">
            <a:avLst>
              <a:gd name="adj1" fmla="val 0"/>
              <a:gd name="adj2" fmla="val 5400000"/>
              <a:gd name="adj3" fmla="val 4500"/>
            </a:avLst>
          </a:prstGeom>
          <a:solidFill>
            <a:srgbClr val="F2C230"/>
          </a:solidFill>
          <a:ln w="12700">
            <a:solidFill>
              <a:srgbClr val="F2C2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-2011680" y="-2011680"/>
            <a:ext cx="4023360" cy="4023360"/>
          </a:xfrm>
          <a:prstGeom prst="blockArc">
            <a:avLst>
              <a:gd name="adj1" fmla="val 0"/>
              <a:gd name="adj2" fmla="val 5400000"/>
              <a:gd name="adj3" fmla="val 4500"/>
            </a:avLst>
          </a:prstGeom>
          <a:solidFill>
            <a:srgbClr val="5DBB63"/>
          </a:solidFill>
          <a:ln w="12700">
            <a:solidFill>
              <a:srgbClr val="5DBB6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-1737360" y="-1737360"/>
            <a:ext cx="3474720" cy="3474720"/>
          </a:xfrm>
          <a:prstGeom prst="blockArc">
            <a:avLst>
              <a:gd name="adj1" fmla="val 0"/>
              <a:gd name="adj2" fmla="val 5400000"/>
              <a:gd name="adj3" fmla="val 4500"/>
            </a:avLst>
          </a:prstGeom>
          <a:solidFill>
            <a:srgbClr val="3FA7D6"/>
          </a:solidFill>
          <a:ln w="12700">
            <a:solidFill>
              <a:srgbClr val="3FA7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-1463040" y="-1463040"/>
            <a:ext cx="2926080" cy="2926080"/>
          </a:xfrm>
          <a:prstGeom prst="blockArc">
            <a:avLst>
              <a:gd name="adj1" fmla="val 0"/>
              <a:gd name="adj2" fmla="val 5400000"/>
              <a:gd name="adj3" fmla="val 4500"/>
            </a:avLst>
          </a:prstGeom>
          <a:solidFill>
            <a:srgbClr val="4A6FC7"/>
          </a:solidFill>
          <a:ln w="12700">
            <a:solidFill>
              <a:srgbClr val="4A6FC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-1188720" y="-1188720"/>
            <a:ext cx="2377440" cy="2377440"/>
          </a:xfrm>
          <a:prstGeom prst="blockArc">
            <a:avLst>
              <a:gd name="adj1" fmla="val 0"/>
              <a:gd name="adj2" fmla="val 5400000"/>
              <a:gd name="adj3" fmla="val 4500"/>
            </a:avLst>
          </a:prstGeom>
          <a:solidFill>
            <a:srgbClr val="9A6BC4"/>
          </a:solidFill>
          <a:ln w="12700">
            <a:solidFill>
              <a:srgbClr val="9A6BC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4400" y="182880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その始まりを、愛媛で実践する人材に。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2743200" y="2331720"/>
            <a:ext cx="5943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2E344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全国に</a:t>
            </a:r>
            <a:endParaRPr lang="en-US" sz="400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2E344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トータルサポートを。</a:t>
            </a:r>
            <a:endParaRPr lang="en-US" sz="4000" dirty="0"/>
          </a:p>
        </p:txBody>
      </p:sp>
      <p:sp>
        <p:nvSpPr>
          <p:cNvPr id="11" name="Shape 9"/>
          <p:cNvSpPr/>
          <p:nvPr/>
        </p:nvSpPr>
        <p:spPr>
          <a:xfrm>
            <a:off x="7598664" y="4069080"/>
            <a:ext cx="100584" cy="100584"/>
          </a:xfrm>
          <a:prstGeom prst="ellipse">
            <a:avLst/>
          </a:prstGeom>
          <a:solidFill>
            <a:srgbClr val="E8505B"/>
          </a:solidFill>
          <a:ln w="12700">
            <a:solidFill>
              <a:srgbClr val="E8505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63256" y="4069080"/>
            <a:ext cx="100584" cy="100584"/>
          </a:xfrm>
          <a:prstGeom prst="ellipse">
            <a:avLst/>
          </a:prstGeom>
          <a:solidFill>
            <a:srgbClr val="F39C33"/>
          </a:solidFill>
          <a:ln w="12700">
            <a:solidFill>
              <a:srgbClr val="F39C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927848" y="4069080"/>
            <a:ext cx="100584" cy="100584"/>
          </a:xfrm>
          <a:prstGeom prst="ellipse">
            <a:avLst/>
          </a:prstGeom>
          <a:solidFill>
            <a:srgbClr val="F2C230"/>
          </a:solidFill>
          <a:ln w="12700">
            <a:solidFill>
              <a:srgbClr val="F2C23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92440" y="4069080"/>
            <a:ext cx="100584" cy="100584"/>
          </a:xfrm>
          <a:prstGeom prst="ellipse">
            <a:avLst/>
          </a:prstGeom>
          <a:solidFill>
            <a:srgbClr val="5DBB63"/>
          </a:solidFill>
          <a:ln w="12700">
            <a:solidFill>
              <a:srgbClr val="5DBB6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57032" y="4069080"/>
            <a:ext cx="100584" cy="100584"/>
          </a:xfrm>
          <a:prstGeom prst="ellipse">
            <a:avLst/>
          </a:prstGeom>
          <a:solidFill>
            <a:srgbClr val="3FA7D6"/>
          </a:solidFill>
          <a:ln w="12700">
            <a:solidFill>
              <a:srgbClr val="3FA7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21624" y="4069080"/>
            <a:ext cx="100584" cy="100584"/>
          </a:xfrm>
          <a:prstGeom prst="ellipse">
            <a:avLst/>
          </a:prstGeom>
          <a:solidFill>
            <a:srgbClr val="4A6FC7"/>
          </a:solidFill>
          <a:ln w="12700">
            <a:solidFill>
              <a:srgbClr val="4A6FC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86216" y="4069080"/>
            <a:ext cx="100584" cy="100584"/>
          </a:xfrm>
          <a:prstGeom prst="ellipse">
            <a:avLst/>
          </a:prstGeom>
          <a:solidFill>
            <a:srgbClr val="9A6BC4"/>
          </a:solidFill>
          <a:ln w="12700">
            <a:solidFill>
              <a:srgbClr val="9A6BC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743200" y="43434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ご清聴ありがとうございました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全国にトータルサポートを。</dc:title>
  <dc:subject>PptxGenJS Presentation</dc:subject>
  <dc:creator>PptxGenJS</dc:creator>
  <cp:lastModifiedBy>PptxGenJS</cp:lastModifiedBy>
  <cp:revision>1</cp:revision>
  <dcterms:created xsi:type="dcterms:W3CDTF">2026-09-25T13:02:07Z</dcterms:created>
  <dcterms:modified xsi:type="dcterms:W3CDTF">2026-09-25T13:02:07Z</dcterms:modified>
</cp:coreProperties>
</file>