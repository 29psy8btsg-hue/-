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資金残高の推移（万円）　横軸：開設からの月数</a:t>
            </a:r>
          </a:p>
        </c:rich>
      </c:tx>
      <c:layout/>
      <c:overlay val="0"/>
    </c:title>
    <c:autoTitleDeleted val="0"/>
    <c:plotArea>
      <c:layout/>
      <c:lineChart>
        <c:varyColors val="0"/>
        <c:ser>
          <c:idx val="0"/>
          <c:order val="0"/>
          <c:tx>
            <c:strRef>
              <c:f>Sheet1!$B$1</c:f>
              <c:strCache>
                <c:ptCount val="1"/>
                <c:pt idx="0">
                  <c:v>資金残高（万円）</c:v>
                </c:pt>
              </c:strCache>
            </c:strRef>
          </c:tx>
          <c:spPr>
            <a:solidFill>
              <a:srgbClr val="1F5FD6"/>
            </a:solidFill>
            <a:ln w="31750" cap="flat">
              <a:solidFill>
                <a:srgbClr val="1F5F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5FD6"/>
              </a:solidFill>
              <a:ln w="9525" cap="flat">
                <a:solidFill>
                  <a:srgbClr val="1F5FD6"/>
                </a:solidFill>
                <a:prstDash val="solid"/>
                <a:round/>
              </a:ln>
              <a:effectLst/>
            </c:spPr>
          </c:marker>
          <c:cat>
            <c:multiLvlStrRef>
              <c:f>Sheet1!$A$2:$A$38</c:f>
              <c:multiLvlStrCache>
                <c:ptCount val="37"/>
                <c:lvl>
                  <c:pt idx="0">
                    <c:v>0</c:v>
                  </c:pt>
                  <c:pt idx="1">
                    <c:v/>
                  </c:pt>
                  <c:pt idx="2">
                    <c:v/>
                  </c:pt>
                  <c:pt idx="3">
                    <c:v/>
                  </c:pt>
                  <c:pt idx="4">
                    <c:v/>
                  </c:pt>
                  <c:pt idx="5">
                    <c:v/>
                  </c:pt>
                  <c:pt idx="6">
                    <c:v>6</c:v>
                  </c:pt>
                  <c:pt idx="7">
                    <c:v/>
                  </c:pt>
                  <c:pt idx="8">
                    <c:v/>
                  </c:pt>
                  <c:pt idx="9">
                    <c:v/>
                  </c:pt>
                  <c:pt idx="10">
                    <c:v/>
                  </c:pt>
                  <c:pt idx="11">
                    <c:v/>
                  </c:pt>
                  <c:pt idx="12">
                    <c:v>12</c:v>
                  </c:pt>
                  <c:pt idx="13">
                    <c:v/>
                  </c:pt>
                  <c:pt idx="14">
                    <c:v/>
                  </c:pt>
                  <c:pt idx="15">
                    <c:v/>
                  </c:pt>
                  <c:pt idx="16">
                    <c:v/>
                  </c:pt>
                  <c:pt idx="17">
                    <c:v/>
                  </c:pt>
                  <c:pt idx="18">
                    <c:v>18</c:v>
                  </c:pt>
                  <c:pt idx="19">
                    <c:v/>
                  </c:pt>
                  <c:pt idx="20">
                    <c:v/>
                  </c:pt>
                  <c:pt idx="21">
                    <c:v/>
                  </c:pt>
                  <c:pt idx="22">
                    <c:v/>
                  </c:pt>
                  <c:pt idx="23">
                    <c:v/>
                  </c:pt>
                  <c:pt idx="24">
                    <c:v>24</c:v>
                  </c:pt>
                  <c:pt idx="25">
                    <c:v/>
                  </c:pt>
                  <c:pt idx="26">
                    <c:v/>
                  </c:pt>
                  <c:pt idx="27">
                    <c:v/>
                  </c:pt>
                  <c:pt idx="28">
                    <c:v/>
                  </c:pt>
                  <c:pt idx="29">
                    <c:v/>
                  </c:pt>
                  <c:pt idx="30">
                    <c:v>30</c:v>
                  </c:pt>
                  <c:pt idx="31">
                    <c:v/>
                  </c:pt>
                  <c:pt idx="32">
                    <c:v/>
                  </c:pt>
                  <c:pt idx="33">
                    <c:v/>
                  </c:pt>
                  <c:pt idx="34">
                    <c:v/>
                  </c:pt>
                  <c:pt idx="35">
                    <c:v/>
                  </c:pt>
                  <c:pt idx="36">
                    <c:v>36</c:v>
                  </c:pt>
                </c:lvl>
              </c:multiLvlStrCache>
            </c:multiLvlStrRef>
          </c:cat>
          <c:val>
            <c:numRef>
              <c:f>Sheet1!$B$2:$B$38</c:f>
              <c:numCache>
                <c:formatCode>General</c:formatCode>
                <c:ptCount val="37"/>
                <c:pt idx="0">
                  <c:v>-900</c:v>
                </c:pt>
                <c:pt idx="1">
                  <c:v>-1056</c:v>
                </c:pt>
                <c:pt idx="2">
                  <c:v>-1214</c:v>
                </c:pt>
                <c:pt idx="3">
                  <c:v>-1290</c:v>
                </c:pt>
                <c:pt idx="4">
                  <c:v>-1348</c:v>
                </c:pt>
                <c:pt idx="5">
                  <c:v>-1389</c:v>
                </c:pt>
                <c:pt idx="6">
                  <c:v>-1412</c:v>
                </c:pt>
                <c:pt idx="7">
                  <c:v>-1432</c:v>
                </c:pt>
                <c:pt idx="8">
                  <c:v>-1435</c:v>
                </c:pt>
                <c:pt idx="9">
                  <c:v>-1420</c:v>
                </c:pt>
                <c:pt idx="10">
                  <c:v>-1403</c:v>
                </c:pt>
                <c:pt idx="11">
                  <c:v>-1369</c:v>
                </c:pt>
                <c:pt idx="12">
                  <c:v>-1316</c:v>
                </c:pt>
                <c:pt idx="13">
                  <c:v>-1242</c:v>
                </c:pt>
                <c:pt idx="14">
                  <c:v>-1152</c:v>
                </c:pt>
                <c:pt idx="15">
                  <c:v>-1061</c:v>
                </c:pt>
                <c:pt idx="16">
                  <c:v>-971</c:v>
                </c:pt>
                <c:pt idx="17">
                  <c:v>-880</c:v>
                </c:pt>
                <c:pt idx="18">
                  <c:v>-790</c:v>
                </c:pt>
                <c:pt idx="19">
                  <c:v>-699</c:v>
                </c:pt>
                <c:pt idx="20">
                  <c:v>-609</c:v>
                </c:pt>
                <c:pt idx="21">
                  <c:v>-518</c:v>
                </c:pt>
                <c:pt idx="22">
                  <c:v>-428</c:v>
                </c:pt>
                <c:pt idx="23">
                  <c:v>-337</c:v>
                </c:pt>
                <c:pt idx="24">
                  <c:v>-247</c:v>
                </c:pt>
                <c:pt idx="25">
                  <c:v>-158</c:v>
                </c:pt>
                <c:pt idx="26">
                  <c:v>-69</c:v>
                </c:pt>
                <c:pt idx="27">
                  <c:v>33</c:v>
                </c:pt>
                <c:pt idx="28">
                  <c:v>135</c:v>
                </c:pt>
                <c:pt idx="29">
                  <c:v>237</c:v>
                </c:pt>
                <c:pt idx="30">
                  <c:v>339</c:v>
                </c:pt>
                <c:pt idx="31">
                  <c:v>441</c:v>
                </c:pt>
                <c:pt idx="32">
                  <c:v>542</c:v>
                </c:pt>
                <c:pt idx="33">
                  <c:v>644</c:v>
                </c:pt>
                <c:pt idx="34">
                  <c:v>746</c:v>
                </c:pt>
                <c:pt idx="35">
                  <c:v>848</c:v>
                </c:pt>
                <c:pt idx="36">
                  <c:v>950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B2"/>
            </a:solidFill>
            <a:prstDash val="solid"/>
            <a:round/>
          </a:ln>
        </c:spPr>
        <c:txPr>
          <a:bodyPr/>
          <a:lstStyle/>
          <a:p>
            <a:pPr>
              <a:defRPr sz="1000" b="0" i="0" u="none" strike="noStrike">
                <a:solidFill>
                  <a:srgbClr val="5B6472"/>
                </a:solidFill>
                <a:latin typeface="Meiryo UI"/>
              </a:defRPr>
            </a:pPr>
            <a:endParaRPr lang="en-US"/>
          </a:p>
        </c:txPr>
        <c:crossAx val="2094734552"/>
        <c:crosses val="autoZero"/>
        <c:auto val="1"/>
        <c:lblAlgn val="ctr"/>
        <c:noMultiLvlLbl val="1"/>
      </c:catAx>
      <c:valAx>
        <c:axId val="2094734552"/>
        <c:scaling>
          <c:orientation val="minMax"/>
          <c:max val="1200"/>
          <c:min val="-160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eiryo UI"/>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本日は「全国にトータルサポートを。」というテーマで、クロスボーダーキャリアパスの候補生として、これから取り組みたいことをお話しします。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2019年に奈良津1組で入社し、放課後等デイサービスの現場を経験しました。2024年に愛媛県今治市の日吉へ、2026年9月からは西条へ異動し、管理者兼エリアマネージャーとして愛媛エリアを担っています。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きっかけは保護者の声です。異動先ではさまざまな困難もありましたが、愛媛の地にもキャレオス、夢門塾はあり、利用者の居場所として確立していました。そんな中、高校生になる利用者の保護者から「ゆうゆうを卒業したあとがとても不安」「愛媛にキャレオスの就労があったらとっても安心する」という言葉をいただきました。嬉しい一方で、胸の痛む言葉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サービス支給量の決定基準の制定です。支給日数の上限が手帳や個別サポートの有無で決まるようになり、「お留守番ができるのか」「行き場が見つからない」「放デイ利用中を理由に児童クラブを断られた」といった不安の声が聞かれました。キャレオスには放課後児童クラブの委託事業があり、愛媛でも受け皿になれるのではと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愛媛でナンバーワンになるためです。愛媛には、児童から就労、介護まで多数展開する法人があります。総量規制や人口減少の中で選ばれ続けるには、同等以上のトータルサポートを、地域に根差して提供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スボーダーで関わりたいのは、第三管理部の事業開発課・地域共創係と、マーケティング課・トータルサポート推進係です。地域共創係では新規事業の立ち上げ方と、自治体・地域企業・学校と関係を築く動き方を。推進係では、トータルサポートの全体像と事業部のつなぎ方、放デイから就労へ切れ目なくつなぐ導線づくりを学び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第一歩は、愛媛での就労継続支援B型です。西条市で定員20名の事業所を開設した場合の試算です。標準シナリオでは1日18人の利用で、6か月目に単月黒字、27か月目に初期投資を回収し、3年目の営業利益は約1,140万円です。黒字ラインは1日11人前後。放デイ卒業生の受け皿になれるかが集客の土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クロスボーダーの期間に何をするか。最初の3か月は、2つの係の業務に同行して学びながら、日吉・西条の保護者アンケートと、西条市・今治市への事前相談で、ニーズと制度のリスクを確かめます。半年までにB型の事業計画書を社内の形式で作り、受託先や特別支援学校との連携を広げます。1年までに役員へ提案し、承認いただければ開設準備へ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まだ妄想の域を出ない仮構想です。まず愛媛で、B型を第一歩に、放デイ・児童クラブ・就労をつなぐトータルサポートの形をつくります。次に四国支社として四国全域へ。インドネシアの特定技能などの人材も含めて考えています。そして関西支社、中部支社と、全国へ。まだキャレオスにいない人材、ポジションだからこそ、確立させることに価値があ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全国にトータルサポートを届ける。その始まりを、愛媛で実践する人材になります。ご清聴ありがとうございました。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WAVE_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WAVE_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AVE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AVE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67512" y="1901952"/>
            <a:ext cx="6400800" cy="292608"/>
          </a:xfrm>
          <a:prstGeom prst="rect">
            <a:avLst/>
          </a:prstGeom>
          <a:noFill/>
          <a:ln/>
        </p:spPr>
        <p:txBody>
          <a:bodyPr wrap="square" lIns="0" tIns="0" rIns="0" bIns="0" rtlCol="0" anchor="ctr"/>
          <a:lstStyle/>
          <a:p>
            <a:pPr indent="0" marL="0">
              <a:lnSpc>
                <a:spcPts val="1300"/>
              </a:lnSpc>
              <a:buNone/>
            </a:pPr>
            <a:r>
              <a:rPr lang="en-US" sz="1300" b="1" spc="500" kern="0" dirty="0">
                <a:solidFill>
                  <a:srgbClr val="3F6FC6"/>
                </a:solidFill>
                <a:latin typeface="Meiryo UI" pitchFamily="34" charset="0"/>
                <a:ea typeface="Meiryo UI" pitchFamily="34" charset="-122"/>
                <a:cs typeface="Meiryo UI" pitchFamily="34" charset="-120"/>
              </a:rPr>
              <a:t>CROSS-BORDER CAREER PATH</a:t>
            </a:r>
            <a:endParaRPr lang="en-US" sz="1300" dirty="0"/>
          </a:p>
        </p:txBody>
      </p:sp>
      <p:sp>
        <p:nvSpPr>
          <p:cNvPr id="3" name="Text 1"/>
          <p:cNvSpPr txBox="1"/>
          <p:nvPr/>
        </p:nvSpPr>
        <p:spPr>
          <a:xfrm>
            <a:off x="667512" y="2212848"/>
            <a:ext cx="6858000" cy="329184"/>
          </a:xfrm>
          <a:prstGeom prst="rect">
            <a:avLst/>
          </a:prstGeom>
          <a:noFill/>
          <a:ln/>
        </p:spPr>
        <p:txBody>
          <a:bodyPr wrap="square" lIns="0" tIns="0" rIns="0" bIns="0" rtlCol="0" anchor="ctr"/>
          <a:lstStyle/>
          <a:p>
            <a:pPr indent="0" marL="0">
              <a:lnSpc>
                <a:spcPts val="1650"/>
              </a:lnSpc>
              <a:buNone/>
            </a:pPr>
            <a:r>
              <a:rPr lang="en-US" sz="1500" dirty="0">
                <a:solidFill>
                  <a:srgbClr val="2D4C8A"/>
                </a:solidFill>
                <a:latin typeface="Meiryo UI" pitchFamily="34" charset="0"/>
                <a:ea typeface="Meiryo UI" pitchFamily="34" charset="-122"/>
                <a:cs typeface="Meiryo UI" pitchFamily="34" charset="-120"/>
              </a:rPr>
              <a:t>クロスボーダーキャリアパス　候補生発表</a:t>
            </a:r>
            <a:endParaRPr lang="en-US" sz="1500" dirty="0"/>
          </a:p>
        </p:txBody>
      </p:sp>
      <p:sp>
        <p:nvSpPr>
          <p:cNvPr id="4" name="Text 2"/>
          <p:cNvSpPr txBox="1"/>
          <p:nvPr/>
        </p:nvSpPr>
        <p:spPr>
          <a:xfrm>
            <a:off x="667512" y="2606040"/>
            <a:ext cx="6766560" cy="1554480"/>
          </a:xfrm>
          <a:prstGeom prst="rect">
            <a:avLst/>
          </a:prstGeom>
          <a:noFill/>
          <a:ln/>
        </p:spPr>
        <p:txBody>
          <a:bodyPr wrap="square" lIns="0" tIns="0" rIns="0" bIns="0" rtlCol="0" anchor="t"/>
          <a:lstStyle/>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全国に</a:t>
            </a:r>
            <a:endParaRPr lang="en-US" sz="4600" dirty="0"/>
          </a:p>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トータルサポートを。</a:t>
            </a:r>
            <a:endParaRPr lang="en-US" sz="4600" dirty="0"/>
          </a:p>
        </p:txBody>
      </p:sp>
      <p:sp>
        <p:nvSpPr>
          <p:cNvPr id="5" name="Text 3"/>
          <p:cNvSpPr txBox="1"/>
          <p:nvPr/>
        </p:nvSpPr>
        <p:spPr>
          <a:xfrm>
            <a:off x="8595360" y="3931920"/>
            <a:ext cx="3047695" cy="914400"/>
          </a:xfrm>
          <a:prstGeom prst="rect">
            <a:avLst/>
          </a:prstGeom>
          <a:noFill/>
          <a:ln/>
        </p:spPr>
        <p:txBody>
          <a:bodyPr wrap="square" lIns="0" tIns="0" rIns="0" bIns="0" rtlCol="0" anchor="t"/>
          <a:lstStyle/>
          <a:p>
            <a:pPr indent="0" marL="0">
              <a:lnSpc>
                <a:spcPts val="3480"/>
              </a:lnSpc>
              <a:buNone/>
            </a:pPr>
            <a:r>
              <a:rPr lang="en-US" sz="2400" dirty="0">
                <a:solidFill>
                  <a:srgbClr val="0B3A9E"/>
                </a:solidFill>
                <a:latin typeface="Meiryo UI" pitchFamily="34" charset="0"/>
                <a:ea typeface="Meiryo UI" pitchFamily="34" charset="-122"/>
                <a:cs typeface="Meiryo UI" pitchFamily="34" charset="-120"/>
              </a:rPr>
              <a:t>その始まりを、</a:t>
            </a:r>
            <a:endParaRPr lang="en-US" sz="2400" dirty="0"/>
          </a:p>
          <a:p>
            <a:pPr indent="0" marL="0">
              <a:lnSpc>
                <a:spcPts val="3480"/>
              </a:lnSpc>
              <a:buNone/>
            </a:pPr>
            <a:r>
              <a:rPr lang="en-US" sz="2400" dirty="0">
                <a:solidFill>
                  <a:srgbClr val="0B3A9E"/>
                </a:solidFill>
                <a:latin typeface="Meiryo UI" pitchFamily="34" charset="0"/>
                <a:ea typeface="Meiryo UI" pitchFamily="34" charset="-122"/>
                <a:cs typeface="Meiryo UI" pitchFamily="34" charset="-120"/>
              </a:rPr>
              <a:t>　愛媛から。</a:t>
            </a:r>
            <a:endParaRPr lang="en-US" sz="2400" dirty="0"/>
          </a:p>
        </p:txBody>
      </p:sp>
      <p:sp>
        <p:nvSpPr>
          <p:cNvPr id="6" name="Text 4"/>
          <p:cNvSpPr txBox="1"/>
          <p:nvPr/>
        </p:nvSpPr>
        <p:spPr>
          <a:xfrm>
            <a:off x="8595360" y="4956048"/>
            <a:ext cx="3047695" cy="731520"/>
          </a:xfrm>
          <a:prstGeom prst="rect">
            <a:avLst/>
          </a:prstGeom>
          <a:noFill/>
          <a:ln/>
        </p:spPr>
        <p:txBody>
          <a:bodyPr wrap="square" lIns="0" tIns="0" rIns="0" bIns="0" rtlCol="0" anchor="t"/>
          <a:lstStyle/>
          <a:p>
            <a:pPr indent="0" marL="0">
              <a:lnSpc>
                <a:spcPts val="1740"/>
              </a:lnSpc>
              <a:buNone/>
            </a:pPr>
            <a:r>
              <a:rPr lang="en-US" sz="1200" dirty="0">
                <a:solidFill>
                  <a:srgbClr val="2D4C8A"/>
                </a:solidFill>
                <a:latin typeface="Meiryo UI" pitchFamily="34" charset="0"/>
                <a:ea typeface="Meiryo UI" pitchFamily="34" charset="-122"/>
                <a:cs typeface="Meiryo UI" pitchFamily="34" charset="-120"/>
              </a:rPr>
              <a:t>放課後等デイサービス</a:t>
            </a:r>
            <a:endParaRPr lang="en-US" sz="1200" dirty="0"/>
          </a:p>
          <a:p>
            <a:pPr indent="0" marL="0">
              <a:lnSpc>
                <a:spcPts val="1740"/>
              </a:lnSpc>
              <a:buNone/>
            </a:pPr>
            <a:r>
              <a:rPr lang="en-US" sz="1200" dirty="0">
                <a:solidFill>
                  <a:srgbClr val="2D4C8A"/>
                </a:solidFill>
                <a:latin typeface="Meiryo UI" pitchFamily="34" charset="0"/>
                <a:ea typeface="Meiryo UI" pitchFamily="34" charset="-122"/>
                <a:cs typeface="Meiryo UI" pitchFamily="34" charset="-120"/>
              </a:rPr>
              <a:t>管理者 兼 エリアマネージャー</a:t>
            </a:r>
            <a:endParaRPr lang="en-US" sz="1200" dirty="0"/>
          </a:p>
          <a:p>
            <a:pPr indent="0" marL="0">
              <a:lnSpc>
                <a:spcPts val="1740"/>
              </a:lnSpc>
              <a:buNone/>
            </a:pPr>
            <a:r>
              <a:rPr lang="en-US" sz="1200" dirty="0">
                <a:solidFill>
                  <a:srgbClr val="2D4C8A"/>
                </a:solidFill>
                <a:latin typeface="Meiryo UI" pitchFamily="34" charset="0"/>
                <a:ea typeface="Meiryo UI" pitchFamily="34" charset="-122"/>
                <a:cs typeface="Meiryo UI" pitchFamily="34" charset="-120"/>
              </a:rPr>
              <a:t>夢門塾ゆうゆう西条</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PROFILE</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これまでの歩み</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2</a:t>
            </a:r>
            <a:endParaRPr lang="en-US" sz="1100" dirty="0"/>
          </a:p>
        </p:txBody>
      </p:sp>
      <p:pic>
        <p:nvPicPr>
          <p:cNvPr id="5" name="Image 0" descr="/home/user/-/presentation/candidates/assets/axis.png">    </p:cNvPr>
          <p:cNvPicPr>
            <a:picLocks noChangeAspect="1"/>
          </p:cNvPicPr>
          <p:nvPr/>
        </p:nvPicPr>
        <p:blipFill>
          <a:blip r:embed="rId1"/>
          <a:stretch>
            <a:fillRect/>
          </a:stretch>
        </p:blipFill>
        <p:spPr>
          <a:xfrm>
            <a:off x="548640" y="2944368"/>
            <a:ext cx="11094415" cy="54864"/>
          </a:xfrm>
          <a:prstGeom prst="rect">
            <a:avLst/>
          </a:prstGeom>
        </p:spPr>
      </p:pic>
      <p:sp>
        <p:nvSpPr>
          <p:cNvPr id="6" name="Text 3"/>
          <p:cNvSpPr txBox="1"/>
          <p:nvPr/>
        </p:nvSpPr>
        <p:spPr>
          <a:xfrm>
            <a:off x="548640"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入社</a:t>
            </a:r>
            <a:endParaRPr lang="en-US" sz="1300" dirty="0"/>
          </a:p>
        </p:txBody>
      </p:sp>
      <p:sp>
        <p:nvSpPr>
          <p:cNvPr id="7" name="Text 4"/>
          <p:cNvSpPr txBox="1"/>
          <p:nvPr/>
        </p:nvSpPr>
        <p:spPr>
          <a:xfrm>
            <a:off x="548640"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0B3A9E"/>
                </a:solidFill>
                <a:latin typeface="Meiryo UI" pitchFamily="34" charset="0"/>
                <a:ea typeface="Meiryo UI" pitchFamily="34" charset="-122"/>
                <a:cs typeface="Meiryo UI" pitchFamily="34" charset="-120"/>
              </a:rPr>
              <a:t>2019.10.28</a:t>
            </a:r>
            <a:endParaRPr lang="en-US" sz="2600" dirty="0"/>
          </a:p>
        </p:txBody>
      </p:sp>
      <p:sp>
        <p:nvSpPr>
          <p:cNvPr id="8" name="Shape 5"/>
          <p:cNvSpPr/>
          <p:nvPr/>
        </p:nvSpPr>
        <p:spPr>
          <a:xfrm>
            <a:off x="694944" y="2770632"/>
            <a:ext cx="402336" cy="402336"/>
          </a:xfrm>
          <a:prstGeom prst="ellipse">
            <a:avLst/>
          </a:prstGeom>
          <a:solidFill>
            <a:srgbClr val="FFFFFF"/>
          </a:solidFill>
          <a:ln w="6350">
            <a:solidFill>
              <a:srgbClr val="FFFFFF"/>
            </a:solidFill>
            <a:prstDash val="solid"/>
          </a:ln>
        </p:spPr>
      </p:sp>
      <p:pic>
        <p:nvPicPr>
          <p:cNvPr id="9" name="Image 1" descr="/home/user/-/presentation/candidates/assets/orb_0.png">    </p:cNvPr>
          <p:cNvPicPr>
            <a:picLocks noChangeAspect="1"/>
          </p:cNvPicPr>
          <p:nvPr/>
        </p:nvPicPr>
        <p:blipFill>
          <a:blip r:embed="rId2"/>
          <a:stretch>
            <a:fillRect/>
          </a:stretch>
        </p:blipFill>
        <p:spPr>
          <a:xfrm>
            <a:off x="731520" y="2807208"/>
            <a:ext cx="329184" cy="329184"/>
          </a:xfrm>
          <a:prstGeom prst="rect">
            <a:avLst/>
          </a:prstGeom>
        </p:spPr>
      </p:pic>
      <p:sp>
        <p:nvSpPr>
          <p:cNvPr id="10" name="Shape 6"/>
          <p:cNvSpPr/>
          <p:nvPr/>
        </p:nvSpPr>
        <p:spPr>
          <a:xfrm>
            <a:off x="548640" y="3337560"/>
            <a:ext cx="3474720" cy="2286000"/>
          </a:xfrm>
          <a:prstGeom prst="roundRect">
            <a:avLst>
              <a:gd name="adj" fmla="val 64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1" name="Text 7"/>
          <p:cNvSpPr txBox="1"/>
          <p:nvPr/>
        </p:nvSpPr>
        <p:spPr>
          <a:xfrm>
            <a:off x="822960"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奈良津1組</a:t>
            </a:r>
            <a:endParaRPr lang="en-US" sz="1800" dirty="0"/>
          </a:p>
        </p:txBody>
      </p:sp>
      <p:sp>
        <p:nvSpPr>
          <p:cNvPr id="12" name="Text 8"/>
          <p:cNvSpPr txBox="1"/>
          <p:nvPr/>
        </p:nvSpPr>
        <p:spPr>
          <a:xfrm>
            <a:off x="822960"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放課後等デイサービスの</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現場からスタート</a:t>
            </a:r>
            <a:endParaRPr lang="en-US" sz="1400" dirty="0"/>
          </a:p>
        </p:txBody>
      </p:sp>
      <p:sp>
        <p:nvSpPr>
          <p:cNvPr id="13" name="Text 9"/>
          <p:cNvSpPr txBox="1"/>
          <p:nvPr/>
        </p:nvSpPr>
        <p:spPr>
          <a:xfrm>
            <a:off x="4358488"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14" name="Text 10"/>
          <p:cNvSpPr txBox="1"/>
          <p:nvPr/>
        </p:nvSpPr>
        <p:spPr>
          <a:xfrm>
            <a:off x="4358488"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2E4FD8"/>
                </a:solidFill>
                <a:latin typeface="Meiryo UI" pitchFamily="34" charset="0"/>
                <a:ea typeface="Meiryo UI" pitchFamily="34" charset="-122"/>
                <a:cs typeface="Meiryo UI" pitchFamily="34" charset="-120"/>
              </a:rPr>
              <a:t>2024.4.1</a:t>
            </a:r>
            <a:endParaRPr lang="en-US" sz="2600" dirty="0"/>
          </a:p>
        </p:txBody>
      </p:sp>
      <p:sp>
        <p:nvSpPr>
          <p:cNvPr id="15" name="Shape 11"/>
          <p:cNvSpPr/>
          <p:nvPr/>
        </p:nvSpPr>
        <p:spPr>
          <a:xfrm>
            <a:off x="4504792" y="2770632"/>
            <a:ext cx="402336" cy="402336"/>
          </a:xfrm>
          <a:prstGeom prst="ellipse">
            <a:avLst/>
          </a:prstGeom>
          <a:solidFill>
            <a:srgbClr val="FFFFFF"/>
          </a:solidFill>
          <a:ln w="6350">
            <a:solidFill>
              <a:srgbClr val="FFFFFF"/>
            </a:solidFill>
            <a:prstDash val="solid"/>
          </a:ln>
        </p:spPr>
      </p:sp>
      <p:pic>
        <p:nvPicPr>
          <p:cNvPr id="16" name="Image 2" descr="/home/user/-/presentation/candidates/assets/orb_3.png">    </p:cNvPr>
          <p:cNvPicPr>
            <a:picLocks noChangeAspect="1"/>
          </p:cNvPicPr>
          <p:nvPr/>
        </p:nvPicPr>
        <p:blipFill>
          <a:blip r:embed="rId3"/>
          <a:stretch>
            <a:fillRect/>
          </a:stretch>
        </p:blipFill>
        <p:spPr>
          <a:xfrm>
            <a:off x="4541368" y="2807208"/>
            <a:ext cx="329184" cy="329184"/>
          </a:xfrm>
          <a:prstGeom prst="rect">
            <a:avLst/>
          </a:prstGeom>
        </p:spPr>
      </p:pic>
      <p:sp>
        <p:nvSpPr>
          <p:cNvPr id="17" name="Shape 12"/>
          <p:cNvSpPr/>
          <p:nvPr/>
        </p:nvSpPr>
        <p:spPr>
          <a:xfrm>
            <a:off x="4358488" y="3337560"/>
            <a:ext cx="3474720" cy="2286000"/>
          </a:xfrm>
          <a:prstGeom prst="roundRect">
            <a:avLst>
              <a:gd name="adj" fmla="val 64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8" name="Text 13"/>
          <p:cNvSpPr txBox="1"/>
          <p:nvPr/>
        </p:nvSpPr>
        <p:spPr>
          <a:xfrm>
            <a:off x="4632808"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愛媛県今治市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夢門塾ゆうゆう日吉</a:t>
            </a:r>
            <a:endParaRPr lang="en-US" sz="1800" dirty="0"/>
          </a:p>
        </p:txBody>
      </p:sp>
      <p:sp>
        <p:nvSpPr>
          <p:cNvPr id="19" name="Text 14"/>
          <p:cNvSpPr txBox="1"/>
          <p:nvPr/>
        </p:nvSpPr>
        <p:spPr>
          <a:xfrm>
            <a:off x="4632808"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困難も経験しながら、愛媛で</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利用者の居場所づくりに向き合う</a:t>
            </a:r>
            <a:endParaRPr lang="en-US" sz="1400" dirty="0"/>
          </a:p>
        </p:txBody>
      </p:sp>
      <p:sp>
        <p:nvSpPr>
          <p:cNvPr id="20" name="Text 15"/>
          <p:cNvSpPr txBox="1"/>
          <p:nvPr/>
        </p:nvSpPr>
        <p:spPr>
          <a:xfrm>
            <a:off x="8168335"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21" name="Text 16"/>
          <p:cNvSpPr txBox="1"/>
          <p:nvPr/>
        </p:nvSpPr>
        <p:spPr>
          <a:xfrm>
            <a:off x="8168335"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6A3FC9"/>
                </a:solidFill>
                <a:latin typeface="Meiryo UI" pitchFamily="34" charset="0"/>
                <a:ea typeface="Meiryo UI" pitchFamily="34" charset="-122"/>
                <a:cs typeface="Meiryo UI" pitchFamily="34" charset="-120"/>
              </a:rPr>
              <a:t>2026.9.1</a:t>
            </a:r>
            <a:endParaRPr lang="en-US" sz="2600" dirty="0"/>
          </a:p>
        </p:txBody>
      </p:sp>
      <p:sp>
        <p:nvSpPr>
          <p:cNvPr id="22" name="Shape 17"/>
          <p:cNvSpPr/>
          <p:nvPr/>
        </p:nvSpPr>
        <p:spPr>
          <a:xfrm>
            <a:off x="8314639" y="2770632"/>
            <a:ext cx="402336" cy="402336"/>
          </a:xfrm>
          <a:prstGeom prst="ellipse">
            <a:avLst/>
          </a:prstGeom>
          <a:solidFill>
            <a:srgbClr val="FFFFFF"/>
          </a:solidFill>
          <a:ln w="6350">
            <a:solidFill>
              <a:srgbClr val="FFFFFF"/>
            </a:solidFill>
            <a:prstDash val="solid"/>
          </a:ln>
        </p:spPr>
      </p:sp>
      <p:pic>
        <p:nvPicPr>
          <p:cNvPr id="23" name="Image 3" descr="/home/user/-/presentation/candidates/assets/orb_5.png">    </p:cNvPr>
          <p:cNvPicPr>
            <a:picLocks noChangeAspect="1"/>
          </p:cNvPicPr>
          <p:nvPr/>
        </p:nvPicPr>
        <p:blipFill>
          <a:blip r:embed="rId4"/>
          <a:stretch>
            <a:fillRect/>
          </a:stretch>
        </p:blipFill>
        <p:spPr>
          <a:xfrm>
            <a:off x="8351215" y="2807208"/>
            <a:ext cx="329184" cy="329184"/>
          </a:xfrm>
          <a:prstGeom prst="rect">
            <a:avLst/>
          </a:prstGeom>
        </p:spPr>
      </p:pic>
      <p:sp>
        <p:nvSpPr>
          <p:cNvPr id="24" name="Shape 18"/>
          <p:cNvSpPr/>
          <p:nvPr/>
        </p:nvSpPr>
        <p:spPr>
          <a:xfrm>
            <a:off x="8168335" y="3337560"/>
            <a:ext cx="3474720" cy="2286000"/>
          </a:xfrm>
          <a:prstGeom prst="roundRect">
            <a:avLst>
              <a:gd name="adj" fmla="val 64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25" name="Text 19"/>
          <p:cNvSpPr txBox="1"/>
          <p:nvPr/>
        </p:nvSpPr>
        <p:spPr>
          <a:xfrm>
            <a:off x="8442655"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愛媛県西条市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夢門塾ゆうゆう西条</a:t>
            </a:r>
            <a:endParaRPr lang="en-US" sz="1800" dirty="0"/>
          </a:p>
        </p:txBody>
      </p:sp>
      <p:sp>
        <p:nvSpPr>
          <p:cNvPr id="26" name="Text 20"/>
          <p:cNvSpPr txBox="1"/>
          <p:nvPr/>
        </p:nvSpPr>
        <p:spPr>
          <a:xfrm>
            <a:off x="8442655"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管理者 兼 エリアマネージャー</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として愛媛エリアを担う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WHY</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きっかけ ①　保護者の声</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3</a:t>
            </a:r>
            <a:endParaRPr lang="en-US" sz="1100" dirty="0"/>
          </a:p>
        </p:txBody>
      </p:sp>
      <p:sp>
        <p:nvSpPr>
          <p:cNvPr id="5" name="Text 3"/>
          <p:cNvSpPr txBox="1"/>
          <p:nvPr/>
        </p:nvSpPr>
        <p:spPr>
          <a:xfrm>
            <a:off x="548640" y="1572768"/>
            <a:ext cx="11094415" cy="777240"/>
          </a:xfrm>
          <a:prstGeom prst="rect">
            <a:avLst/>
          </a:prstGeom>
          <a:noFill/>
          <a:ln/>
        </p:spPr>
        <p:txBody>
          <a:bodyPr wrap="square" lIns="0" tIns="0" rIns="0" bIns="0" rtlCol="0" anchor="t"/>
          <a:lstStyle/>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異動先ではさまざまな困難もあった。それでも愛媛の地にもキャレオス・夢門塾はあり、</a:t>
            </a:r>
            <a:endParaRPr lang="en-US" sz="1500" dirty="0"/>
          </a:p>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利用者の「居場所」として確立していた。</a:t>
            </a:r>
            <a:endParaRPr lang="en-US" sz="1500" dirty="0"/>
          </a:p>
        </p:txBody>
      </p:sp>
      <p:sp>
        <p:nvSpPr>
          <p:cNvPr id="6" name="Shape 4"/>
          <p:cNvSpPr/>
          <p:nvPr/>
        </p:nvSpPr>
        <p:spPr>
          <a:xfrm>
            <a:off x="548640" y="2514600"/>
            <a:ext cx="5396332" cy="2103120"/>
          </a:xfrm>
          <a:prstGeom prst="roundRect">
            <a:avLst>
              <a:gd name="adj" fmla="val 695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7" name="Text 5"/>
          <p:cNvSpPr txBox="1"/>
          <p:nvPr/>
        </p:nvSpPr>
        <p:spPr>
          <a:xfrm>
            <a:off x="822960"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0B3A9E"/>
                </a:solidFill>
                <a:latin typeface="Meiryo UI" pitchFamily="34" charset="0"/>
                <a:ea typeface="Meiryo UI" pitchFamily="34" charset="-122"/>
                <a:cs typeface="Meiryo UI" pitchFamily="34" charset="-120"/>
              </a:rPr>
              <a:t>“</a:t>
            </a:r>
            <a:endParaRPr lang="en-US" sz="6000" dirty="0"/>
          </a:p>
        </p:txBody>
      </p:sp>
      <p:sp>
        <p:nvSpPr>
          <p:cNvPr id="8" name="Text 6"/>
          <p:cNvSpPr txBox="1"/>
          <p:nvPr/>
        </p:nvSpPr>
        <p:spPr>
          <a:xfrm>
            <a:off x="960120"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「ゆうゆうを卒業したあとが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とても不安」</a:t>
            </a:r>
            <a:endParaRPr lang="en-US" sz="2100" dirty="0"/>
          </a:p>
        </p:txBody>
      </p:sp>
      <p:sp>
        <p:nvSpPr>
          <p:cNvPr id="9" name="Shape 7"/>
          <p:cNvSpPr/>
          <p:nvPr/>
        </p:nvSpPr>
        <p:spPr>
          <a:xfrm>
            <a:off x="6246724" y="2514600"/>
            <a:ext cx="5396332" cy="2103120"/>
          </a:xfrm>
          <a:prstGeom prst="roundRect">
            <a:avLst>
              <a:gd name="adj" fmla="val 695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0" name="Text 8"/>
          <p:cNvSpPr txBox="1"/>
          <p:nvPr/>
        </p:nvSpPr>
        <p:spPr>
          <a:xfrm>
            <a:off x="6521044"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4B3BC9"/>
                </a:solidFill>
                <a:latin typeface="Meiryo UI" pitchFamily="34" charset="0"/>
                <a:ea typeface="Meiryo UI" pitchFamily="34" charset="-122"/>
                <a:cs typeface="Meiryo UI" pitchFamily="34" charset="-120"/>
              </a:rPr>
              <a:t>“</a:t>
            </a:r>
            <a:endParaRPr lang="en-US" sz="6000" dirty="0"/>
          </a:p>
        </p:txBody>
      </p:sp>
      <p:sp>
        <p:nvSpPr>
          <p:cNvPr id="11" name="Text 9"/>
          <p:cNvSpPr txBox="1"/>
          <p:nvPr/>
        </p:nvSpPr>
        <p:spPr>
          <a:xfrm>
            <a:off x="6658204"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「愛媛にキャレオスの就労が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あったらとっても安心する」</a:t>
            </a:r>
            <a:endParaRPr lang="en-US" sz="2100" dirty="0"/>
          </a:p>
        </p:txBody>
      </p:sp>
      <p:sp>
        <p:nvSpPr>
          <p:cNvPr id="12" name="Text 10"/>
          <p:cNvSpPr txBox="1"/>
          <p:nvPr/>
        </p:nvSpPr>
        <p:spPr>
          <a:xfrm>
            <a:off x="548640" y="4709160"/>
            <a:ext cx="11094415" cy="320040"/>
          </a:xfrm>
          <a:prstGeom prst="rect">
            <a:avLst/>
          </a:prstGeom>
          <a:noFill/>
          <a:ln/>
        </p:spPr>
        <p:txBody>
          <a:bodyPr wrap="square" lIns="0" tIns="0" rIns="0" bIns="0" rtlCol="0" anchor="t"/>
          <a:lstStyle/>
          <a:p>
            <a:pPr algn="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 高校生になる利用者の保護者より</a:t>
            </a:r>
            <a:endParaRPr lang="en-US" sz="1200" dirty="0"/>
          </a:p>
        </p:txBody>
      </p:sp>
      <p:pic>
        <p:nvPicPr>
          <p:cNvPr id="13" name="Image 0" descr="/home/user/-/presentation/candidates/assets/orb_5.png">    </p:cNvPr>
          <p:cNvPicPr>
            <a:picLocks noChangeAspect="1"/>
          </p:cNvPicPr>
          <p:nvPr/>
        </p:nvPicPr>
        <p:blipFill>
          <a:blip r:embed="rId1"/>
          <a:stretch>
            <a:fillRect/>
          </a:stretch>
        </p:blipFill>
        <p:spPr>
          <a:xfrm>
            <a:off x="548640" y="5394960"/>
            <a:ext cx="219456" cy="219456"/>
          </a:xfrm>
          <a:prstGeom prst="rect">
            <a:avLst/>
          </a:prstGeom>
        </p:spPr>
      </p:pic>
      <p:sp>
        <p:nvSpPr>
          <p:cNvPr id="14" name="Text 11"/>
          <p:cNvSpPr txBox="1"/>
          <p:nvPr/>
        </p:nvSpPr>
        <p:spPr>
          <a:xfrm>
            <a:off x="932688" y="5230368"/>
            <a:ext cx="10710367" cy="548640"/>
          </a:xfrm>
          <a:prstGeom prst="rect">
            <a:avLst/>
          </a:prstGeom>
          <a:noFill/>
          <a:ln/>
        </p:spPr>
        <p:txBody>
          <a:bodyPr wrap="square" lIns="0" tIns="0" rIns="0" bIns="0" rtlCol="0" anchor="ctr"/>
          <a:lstStyle/>
          <a:p>
            <a:pPr indent="0" marL="0">
              <a:lnSpc>
                <a:spcPts val="2600"/>
              </a:lnSpc>
              <a:buNone/>
            </a:pPr>
            <a:r>
              <a:rPr lang="en-US" sz="2000" b="1" dirty="0">
                <a:solidFill>
                  <a:srgbClr val="0B3A9E"/>
                </a:solidFill>
                <a:latin typeface="Meiryo UI" pitchFamily="34" charset="0"/>
                <a:ea typeface="Meiryo UI" pitchFamily="34" charset="-122"/>
                <a:cs typeface="Meiryo UI" pitchFamily="34" charset="-120"/>
              </a:rPr>
              <a:t>嬉しい、けれど胸の痛いことば。卒業後の「次の居場所」を愛媛に。</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WHY</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きっかけ ②　サービス支給量の決定基準の制定</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4</a:t>
            </a:r>
            <a:endParaRPr lang="en-US" sz="1100" dirty="0"/>
          </a:p>
        </p:txBody>
      </p:sp>
      <p:sp>
        <p:nvSpPr>
          <p:cNvPr id="5" name="Shape 3"/>
          <p:cNvSpPr/>
          <p:nvPr/>
        </p:nvSpPr>
        <p:spPr>
          <a:xfrm>
            <a:off x="548640" y="1645920"/>
            <a:ext cx="3474720" cy="3246120"/>
          </a:xfrm>
          <a:prstGeom prst="roundRect">
            <a:avLst>
              <a:gd name="adj" fmla="val 450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6" name="Image 0" descr="/home/user/-/presentation/candidates/assets/orb_1.png">    </p:cNvPr>
          <p:cNvPicPr>
            <a:picLocks noChangeAspect="1"/>
          </p:cNvPicPr>
          <p:nvPr/>
        </p:nvPicPr>
        <p:blipFill>
          <a:blip r:embed="rId1"/>
          <a:stretch>
            <a:fillRect/>
          </a:stretch>
        </p:blipFill>
        <p:spPr>
          <a:xfrm>
            <a:off x="822960" y="1920240"/>
            <a:ext cx="502920" cy="502920"/>
          </a:xfrm>
          <a:prstGeom prst="rect">
            <a:avLst/>
          </a:prstGeom>
        </p:spPr>
      </p:pic>
      <p:sp>
        <p:nvSpPr>
          <p:cNvPr id="7" name="Text 4"/>
          <p:cNvSpPr txBox="1"/>
          <p:nvPr/>
        </p:nvSpPr>
        <p:spPr>
          <a:xfrm>
            <a:off x="822960"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1</a:t>
            </a:r>
            <a:endParaRPr lang="en-US" sz="1700" dirty="0"/>
          </a:p>
        </p:txBody>
      </p:sp>
      <p:sp>
        <p:nvSpPr>
          <p:cNvPr id="8" name="Text 5"/>
          <p:cNvSpPr txBox="1"/>
          <p:nvPr/>
        </p:nvSpPr>
        <p:spPr>
          <a:xfrm>
            <a:off x="1481328"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制度の変化</a:t>
            </a:r>
            <a:endParaRPr lang="en-US" sz="1900" dirty="0"/>
          </a:p>
        </p:txBody>
      </p:sp>
      <p:sp>
        <p:nvSpPr>
          <p:cNvPr id="9" name="Text 6"/>
          <p:cNvSpPr txBox="1"/>
          <p:nvPr/>
        </p:nvSpPr>
        <p:spPr>
          <a:xfrm>
            <a:off x="822960"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受給者証の支給日数の上限が、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手帳や個別サポートの有無で</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決まるように。</a:t>
            </a:r>
            <a:endParaRPr lang="en-US" sz="1400" dirty="0"/>
          </a:p>
        </p:txBody>
      </p:sp>
      <p:sp>
        <p:nvSpPr>
          <p:cNvPr id="10" name="Shape 7"/>
          <p:cNvSpPr/>
          <p:nvPr/>
        </p:nvSpPr>
        <p:spPr>
          <a:xfrm>
            <a:off x="4108628" y="3104388"/>
            <a:ext cx="164592" cy="329184"/>
          </a:xfrm>
          <a:prstGeom prst="chevron">
            <a:avLst/>
          </a:prstGeom>
          <a:solidFill>
            <a:srgbClr val="B9CCF2"/>
          </a:solidFill>
          <a:ln w="6350">
            <a:solidFill>
              <a:srgbClr val="B9CCF2"/>
            </a:solidFill>
            <a:prstDash val="solid"/>
          </a:ln>
        </p:spPr>
      </p:sp>
      <p:sp>
        <p:nvSpPr>
          <p:cNvPr id="11" name="Shape 8"/>
          <p:cNvSpPr/>
          <p:nvPr/>
        </p:nvSpPr>
        <p:spPr>
          <a:xfrm>
            <a:off x="4358488" y="1645920"/>
            <a:ext cx="3474720" cy="3246120"/>
          </a:xfrm>
          <a:prstGeom prst="roundRect">
            <a:avLst>
              <a:gd name="adj" fmla="val 450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2" name="Image 1" descr="/home/user/-/presentation/candidates/assets/orb_0.png">    </p:cNvPr>
          <p:cNvPicPr>
            <a:picLocks noChangeAspect="1"/>
          </p:cNvPicPr>
          <p:nvPr/>
        </p:nvPicPr>
        <p:blipFill>
          <a:blip r:embed="rId2"/>
          <a:stretch>
            <a:fillRect/>
          </a:stretch>
        </p:blipFill>
        <p:spPr>
          <a:xfrm>
            <a:off x="4632808" y="1920240"/>
            <a:ext cx="502920" cy="502920"/>
          </a:xfrm>
          <a:prstGeom prst="rect">
            <a:avLst/>
          </a:prstGeom>
        </p:spPr>
      </p:pic>
      <p:sp>
        <p:nvSpPr>
          <p:cNvPr id="13" name="Text 9"/>
          <p:cNvSpPr txBox="1"/>
          <p:nvPr/>
        </p:nvSpPr>
        <p:spPr>
          <a:xfrm>
            <a:off x="4632808"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2</a:t>
            </a:r>
            <a:endParaRPr lang="en-US" sz="1700" dirty="0"/>
          </a:p>
        </p:txBody>
      </p:sp>
      <p:sp>
        <p:nvSpPr>
          <p:cNvPr id="14" name="Text 10"/>
          <p:cNvSpPr txBox="1"/>
          <p:nvPr/>
        </p:nvSpPr>
        <p:spPr>
          <a:xfrm>
            <a:off x="5291176"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現場の不安</a:t>
            </a:r>
            <a:endParaRPr lang="en-US" sz="1900" dirty="0"/>
          </a:p>
        </p:txBody>
      </p:sp>
      <p:sp>
        <p:nvSpPr>
          <p:cNvPr id="15" name="Text 11"/>
          <p:cNvSpPr txBox="1"/>
          <p:nvPr/>
        </p:nvSpPr>
        <p:spPr>
          <a:xfrm>
            <a:off x="4632808"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・支給日数が減り、お留守番が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できるか不安</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・次の行き場がすぐに見つからない</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・放デイ利用中を理由に、</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児童クラブを断られた</a:t>
            </a:r>
            <a:endParaRPr lang="en-US" sz="1400" dirty="0"/>
          </a:p>
        </p:txBody>
      </p:sp>
      <p:sp>
        <p:nvSpPr>
          <p:cNvPr id="16" name="Shape 12"/>
          <p:cNvSpPr/>
          <p:nvPr/>
        </p:nvSpPr>
        <p:spPr>
          <a:xfrm>
            <a:off x="7918475" y="3104388"/>
            <a:ext cx="164592" cy="329184"/>
          </a:xfrm>
          <a:prstGeom prst="chevron">
            <a:avLst/>
          </a:prstGeom>
          <a:solidFill>
            <a:srgbClr val="B9CCF2"/>
          </a:solidFill>
          <a:ln w="6350">
            <a:solidFill>
              <a:srgbClr val="B9CCF2"/>
            </a:solidFill>
            <a:prstDash val="solid"/>
          </a:ln>
        </p:spPr>
      </p:sp>
      <p:sp>
        <p:nvSpPr>
          <p:cNvPr id="17" name="Shape 13"/>
          <p:cNvSpPr/>
          <p:nvPr/>
        </p:nvSpPr>
        <p:spPr>
          <a:xfrm>
            <a:off x="8168335" y="1645920"/>
            <a:ext cx="3474720" cy="3246120"/>
          </a:xfrm>
          <a:prstGeom prst="roundRect">
            <a:avLst>
              <a:gd name="adj" fmla="val 4507"/>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8" name="Image 2" descr="/home/user/-/presentation/candidates/assets/orb_3.png">    </p:cNvPr>
          <p:cNvPicPr>
            <a:picLocks noChangeAspect="1"/>
          </p:cNvPicPr>
          <p:nvPr/>
        </p:nvPicPr>
        <p:blipFill>
          <a:blip r:embed="rId3"/>
          <a:stretch>
            <a:fillRect/>
          </a:stretch>
        </p:blipFill>
        <p:spPr>
          <a:xfrm>
            <a:off x="8442655" y="1920240"/>
            <a:ext cx="502920" cy="502920"/>
          </a:xfrm>
          <a:prstGeom prst="rect">
            <a:avLst/>
          </a:prstGeom>
        </p:spPr>
      </p:pic>
      <p:sp>
        <p:nvSpPr>
          <p:cNvPr id="19" name="Text 14"/>
          <p:cNvSpPr txBox="1"/>
          <p:nvPr/>
        </p:nvSpPr>
        <p:spPr>
          <a:xfrm>
            <a:off x="8442655"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FFFFFF"/>
                </a:solidFill>
                <a:latin typeface="Meiryo UI" pitchFamily="34" charset="0"/>
                <a:ea typeface="Meiryo UI" pitchFamily="34" charset="-122"/>
                <a:cs typeface="Meiryo UI" pitchFamily="34" charset="-120"/>
              </a:rPr>
              <a:t>3</a:t>
            </a:r>
            <a:endParaRPr lang="en-US" sz="1700" dirty="0"/>
          </a:p>
        </p:txBody>
      </p:sp>
      <p:sp>
        <p:nvSpPr>
          <p:cNvPr id="20" name="Text 15"/>
          <p:cNvSpPr txBox="1"/>
          <p:nvPr/>
        </p:nvSpPr>
        <p:spPr>
          <a:xfrm>
            <a:off x="9101023"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参入の機会</a:t>
            </a:r>
            <a:endParaRPr lang="en-US" sz="1900" dirty="0"/>
          </a:p>
        </p:txBody>
      </p:sp>
      <p:sp>
        <p:nvSpPr>
          <p:cNvPr id="21" name="Text 16"/>
          <p:cNvSpPr txBox="1"/>
          <p:nvPr/>
        </p:nvSpPr>
        <p:spPr>
          <a:xfrm>
            <a:off x="8442655"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キャレオスには放課後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児童クラブの委託事業がある。</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愛媛でも受け皿になれないか。</a:t>
            </a:r>
            <a:endParaRPr lang="en-US" sz="1400" dirty="0"/>
          </a:p>
        </p:txBody>
      </p:sp>
      <p:pic>
        <p:nvPicPr>
          <p:cNvPr id="22" name="Image 3" descr="/home/user/-/presentation/candidates/assets/orb_5.png">    </p:cNvPr>
          <p:cNvPicPr>
            <a:picLocks noChangeAspect="1"/>
          </p:cNvPicPr>
          <p:nvPr/>
        </p:nvPicPr>
        <p:blipFill>
          <a:blip r:embed="rId4"/>
          <a:stretch>
            <a:fillRect/>
          </a:stretch>
        </p:blipFill>
        <p:spPr>
          <a:xfrm>
            <a:off x="548640" y="5394960"/>
            <a:ext cx="219456" cy="219456"/>
          </a:xfrm>
          <a:prstGeom prst="rect">
            <a:avLst/>
          </a:prstGeom>
        </p:spPr>
      </p:pic>
      <p:sp>
        <p:nvSpPr>
          <p:cNvPr id="23" name="Text 17"/>
          <p:cNvSpPr txBox="1"/>
          <p:nvPr/>
        </p:nvSpPr>
        <p:spPr>
          <a:xfrm>
            <a:off x="932688" y="5230368"/>
            <a:ext cx="10710367" cy="548640"/>
          </a:xfrm>
          <a:prstGeom prst="rect">
            <a:avLst/>
          </a:prstGeom>
          <a:noFill/>
          <a:ln/>
        </p:spPr>
        <p:txBody>
          <a:bodyPr wrap="square" lIns="0" tIns="0" rIns="0" bIns="0" rtlCol="0" anchor="ctr"/>
          <a:lstStyle/>
          <a:p>
            <a:pPr indent="0" marL="0">
              <a:lnSpc>
                <a:spcPts val="2600"/>
              </a:lnSpc>
              <a:buNone/>
            </a:pPr>
            <a:r>
              <a:rPr lang="en-US" sz="2000" b="1" dirty="0">
                <a:solidFill>
                  <a:srgbClr val="0B3A9E"/>
                </a:solidFill>
                <a:latin typeface="Meiryo UI" pitchFamily="34" charset="0"/>
                <a:ea typeface="Meiryo UI" pitchFamily="34" charset="-122"/>
                <a:cs typeface="Meiryo UI" pitchFamily="34" charset="-120"/>
              </a:rPr>
              <a:t>放デイだけでは支えきれない。地域の「放課後の受け皿」にキャレオスが。</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WHY</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きっかけ ③　愛媛でナンバーワンになるために</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5</a:t>
            </a:r>
            <a:endParaRPr lang="en-US" sz="1100" dirty="0"/>
          </a:p>
        </p:txBody>
      </p:sp>
      <p:sp>
        <p:nvSpPr>
          <p:cNvPr id="5" name="Shape 3"/>
          <p:cNvSpPr/>
          <p:nvPr/>
        </p:nvSpPr>
        <p:spPr>
          <a:xfrm>
            <a:off x="548640" y="1645920"/>
            <a:ext cx="5394960" cy="3977640"/>
          </a:xfrm>
          <a:prstGeom prst="roundRect">
            <a:avLst>
              <a:gd name="adj" fmla="val 3678"/>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6" name="Text 4"/>
          <p:cNvSpPr txBox="1"/>
          <p:nvPr/>
        </p:nvSpPr>
        <p:spPr>
          <a:xfrm>
            <a:off x="868680" y="1920240"/>
            <a:ext cx="4754880" cy="411480"/>
          </a:xfrm>
          <a:prstGeom prst="rect">
            <a:avLst/>
          </a:prstGeom>
          <a:noFill/>
          <a:ln/>
        </p:spPr>
        <p:txBody>
          <a:bodyPr wrap="square" lIns="0" tIns="0" rIns="0" bIns="0" rtlCol="0" anchor="ctr"/>
          <a:lstStyle/>
          <a:p>
            <a:pPr indent="0" marL="0">
              <a:lnSpc>
                <a:spcPts val="2080"/>
              </a:lnSpc>
              <a:buNone/>
            </a:pPr>
            <a:r>
              <a:rPr lang="en-US" sz="1600" b="1" dirty="0">
                <a:solidFill>
                  <a:srgbClr val="2E3440"/>
                </a:solidFill>
                <a:latin typeface="Meiryo UI" pitchFamily="34" charset="0"/>
                <a:ea typeface="Meiryo UI" pitchFamily="34" charset="-122"/>
                <a:cs typeface="Meiryo UI" pitchFamily="34" charset="-120"/>
              </a:rPr>
              <a:t>愛媛の福祉を支える地域大手（例：来島会）</a:t>
            </a:r>
            <a:endParaRPr lang="en-US" sz="1600" dirty="0"/>
          </a:p>
        </p:txBody>
      </p:sp>
      <p:sp>
        <p:nvSpPr>
          <p:cNvPr id="7" name="Shape 5"/>
          <p:cNvSpPr/>
          <p:nvPr/>
        </p:nvSpPr>
        <p:spPr>
          <a:xfrm>
            <a:off x="868680" y="2560320"/>
            <a:ext cx="2240280" cy="548640"/>
          </a:xfrm>
          <a:prstGeom prst="roundRect">
            <a:avLst>
              <a:gd name="adj" fmla="val 50000"/>
            </a:avLst>
          </a:prstGeom>
          <a:solidFill>
            <a:srgbClr val="FFFFFF"/>
          </a:solidFill>
          <a:ln w="19050">
            <a:solidFill>
              <a:srgbClr val="1E88D0"/>
            </a:solidFill>
            <a:prstDash val="solid"/>
          </a:ln>
        </p:spPr>
      </p:sp>
      <p:sp>
        <p:nvSpPr>
          <p:cNvPr id="8" name="Text 6"/>
          <p:cNvSpPr txBox="1"/>
          <p:nvPr/>
        </p:nvSpPr>
        <p:spPr>
          <a:xfrm>
            <a:off x="86868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児童発達支援</a:t>
            </a:r>
            <a:endParaRPr lang="en-US" sz="1500" dirty="0"/>
          </a:p>
        </p:txBody>
      </p:sp>
      <p:sp>
        <p:nvSpPr>
          <p:cNvPr id="9" name="Shape 7"/>
          <p:cNvSpPr/>
          <p:nvPr/>
        </p:nvSpPr>
        <p:spPr>
          <a:xfrm>
            <a:off x="3291840" y="2560320"/>
            <a:ext cx="2240280" cy="548640"/>
          </a:xfrm>
          <a:prstGeom prst="roundRect">
            <a:avLst>
              <a:gd name="adj" fmla="val 50000"/>
            </a:avLst>
          </a:prstGeom>
          <a:solidFill>
            <a:srgbClr val="FFFFFF"/>
          </a:solidFill>
          <a:ln w="19050">
            <a:solidFill>
              <a:srgbClr val="2E5BE8"/>
            </a:solidFill>
            <a:prstDash val="solid"/>
          </a:ln>
        </p:spPr>
      </p:sp>
      <p:sp>
        <p:nvSpPr>
          <p:cNvPr id="10" name="Text 8"/>
          <p:cNvSpPr txBox="1"/>
          <p:nvPr/>
        </p:nvSpPr>
        <p:spPr>
          <a:xfrm>
            <a:off x="329184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就労継続支援</a:t>
            </a:r>
            <a:endParaRPr lang="en-US" sz="1500" dirty="0"/>
          </a:p>
        </p:txBody>
      </p:sp>
      <p:sp>
        <p:nvSpPr>
          <p:cNvPr id="11" name="Shape 9"/>
          <p:cNvSpPr/>
          <p:nvPr/>
        </p:nvSpPr>
        <p:spPr>
          <a:xfrm>
            <a:off x="868680" y="3310128"/>
            <a:ext cx="2240280" cy="548640"/>
          </a:xfrm>
          <a:prstGeom prst="roundRect">
            <a:avLst>
              <a:gd name="adj" fmla="val 50000"/>
            </a:avLst>
          </a:prstGeom>
          <a:solidFill>
            <a:srgbClr val="FFFFFF"/>
          </a:solidFill>
          <a:ln w="19050">
            <a:solidFill>
              <a:srgbClr val="4B3BC9"/>
            </a:solidFill>
            <a:prstDash val="solid"/>
          </a:ln>
        </p:spPr>
      </p:sp>
      <p:sp>
        <p:nvSpPr>
          <p:cNvPr id="12" name="Text 10"/>
          <p:cNvSpPr txBox="1"/>
          <p:nvPr/>
        </p:nvSpPr>
        <p:spPr>
          <a:xfrm>
            <a:off x="86868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相談支援</a:t>
            </a:r>
            <a:endParaRPr lang="en-US" sz="1500" dirty="0"/>
          </a:p>
        </p:txBody>
      </p:sp>
      <p:sp>
        <p:nvSpPr>
          <p:cNvPr id="13" name="Shape 11"/>
          <p:cNvSpPr/>
          <p:nvPr/>
        </p:nvSpPr>
        <p:spPr>
          <a:xfrm>
            <a:off x="3291840" y="3310128"/>
            <a:ext cx="2240280" cy="548640"/>
          </a:xfrm>
          <a:prstGeom prst="roundRect">
            <a:avLst>
              <a:gd name="adj" fmla="val 50000"/>
            </a:avLst>
          </a:prstGeom>
          <a:solidFill>
            <a:srgbClr val="FFFFFF"/>
          </a:solidFill>
          <a:ln w="19050">
            <a:solidFill>
              <a:srgbClr val="6A3FC9"/>
            </a:solidFill>
            <a:prstDash val="solid"/>
          </a:ln>
        </p:spPr>
      </p:sp>
      <p:sp>
        <p:nvSpPr>
          <p:cNvPr id="14" name="Text 12"/>
          <p:cNvSpPr txBox="1"/>
          <p:nvPr/>
        </p:nvSpPr>
        <p:spPr>
          <a:xfrm>
            <a:off x="329184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グループホーム</a:t>
            </a:r>
            <a:endParaRPr lang="en-US" sz="1500" dirty="0"/>
          </a:p>
        </p:txBody>
      </p:sp>
      <p:sp>
        <p:nvSpPr>
          <p:cNvPr id="15" name="Shape 13"/>
          <p:cNvSpPr/>
          <p:nvPr/>
        </p:nvSpPr>
        <p:spPr>
          <a:xfrm>
            <a:off x="868680" y="4059936"/>
            <a:ext cx="2240280" cy="548640"/>
          </a:xfrm>
          <a:prstGeom prst="roundRect">
            <a:avLst>
              <a:gd name="adj" fmla="val 50000"/>
            </a:avLst>
          </a:prstGeom>
          <a:solidFill>
            <a:srgbClr val="FFFFFF"/>
          </a:solidFill>
          <a:ln w="19050">
            <a:solidFill>
              <a:srgbClr val="9A4DC9"/>
            </a:solidFill>
            <a:prstDash val="solid"/>
          </a:ln>
        </p:spPr>
      </p:sp>
      <p:sp>
        <p:nvSpPr>
          <p:cNvPr id="16" name="Text 14"/>
          <p:cNvSpPr txBox="1"/>
          <p:nvPr/>
        </p:nvSpPr>
        <p:spPr>
          <a:xfrm>
            <a:off x="868680" y="4059936"/>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D4C8A"/>
                </a:solidFill>
                <a:latin typeface="Meiryo UI" pitchFamily="34" charset="0"/>
                <a:ea typeface="Meiryo UI" pitchFamily="34" charset="-122"/>
                <a:cs typeface="Meiryo UI" pitchFamily="34" charset="-120"/>
              </a:rPr>
              <a:t>介護</a:t>
            </a:r>
            <a:endParaRPr lang="en-US" sz="1500" dirty="0"/>
          </a:p>
        </p:txBody>
      </p:sp>
      <p:sp>
        <p:nvSpPr>
          <p:cNvPr id="17" name="Text 15"/>
          <p:cNvSpPr txBox="1"/>
          <p:nvPr/>
        </p:nvSpPr>
        <p:spPr>
          <a:xfrm>
            <a:off x="868680" y="4919472"/>
            <a:ext cx="4754880" cy="320040"/>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ライフステージを通して多数展開</a:t>
            </a:r>
            <a:endParaRPr lang="en-US" sz="1300" dirty="0"/>
          </a:p>
        </p:txBody>
      </p:sp>
      <p:sp>
        <p:nvSpPr>
          <p:cNvPr id="18" name="Text 16"/>
          <p:cNvSpPr txBox="1"/>
          <p:nvPr/>
        </p:nvSpPr>
        <p:spPr>
          <a:xfrm>
            <a:off x="6309360" y="1691640"/>
            <a:ext cx="5333695" cy="411480"/>
          </a:xfrm>
          <a:prstGeom prst="rect">
            <a:avLst/>
          </a:prstGeom>
          <a:noFill/>
          <a:ln/>
        </p:spPr>
        <p:txBody>
          <a:bodyPr wrap="square" lIns="0" tIns="0" rIns="0" bIns="0" rtlCol="0" anchor="ctr"/>
          <a:lstStyle/>
          <a:p>
            <a:pPr indent="0" marL="0">
              <a:lnSpc>
                <a:spcPts val="2470"/>
              </a:lnSpc>
              <a:buNone/>
            </a:pPr>
            <a:r>
              <a:rPr lang="en-US" sz="1900" b="1" dirty="0">
                <a:solidFill>
                  <a:srgbClr val="2E3440"/>
                </a:solidFill>
                <a:latin typeface="Meiryo UI" pitchFamily="34" charset="0"/>
                <a:ea typeface="Meiryo UI" pitchFamily="34" charset="-122"/>
                <a:cs typeface="Meiryo UI" pitchFamily="34" charset="-120"/>
              </a:rPr>
              <a:t>10年後・20年後を見据えると</a:t>
            </a:r>
            <a:endParaRPr lang="en-US" sz="1900" dirty="0"/>
          </a:p>
        </p:txBody>
      </p:sp>
      <p:pic>
        <p:nvPicPr>
          <p:cNvPr id="19" name="Image 0" descr="/home/user/-/presentation/candidates/assets/orb_0.png">    </p:cNvPr>
          <p:cNvPicPr>
            <a:picLocks noChangeAspect="1"/>
          </p:cNvPicPr>
          <p:nvPr/>
        </p:nvPicPr>
        <p:blipFill>
          <a:blip r:embed="rId1"/>
          <a:stretch>
            <a:fillRect/>
          </a:stretch>
        </p:blipFill>
        <p:spPr>
          <a:xfrm>
            <a:off x="6309360" y="2496312"/>
            <a:ext cx="237744" cy="237744"/>
          </a:xfrm>
          <a:prstGeom prst="rect">
            <a:avLst/>
          </a:prstGeom>
        </p:spPr>
      </p:pic>
      <p:sp>
        <p:nvSpPr>
          <p:cNvPr id="20" name="Text 17"/>
          <p:cNvSpPr txBox="1"/>
          <p:nvPr/>
        </p:nvSpPr>
        <p:spPr>
          <a:xfrm>
            <a:off x="6720840" y="2377440"/>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総量規制のはじまり</a:t>
            </a:r>
            <a:endParaRPr lang="en-US" sz="1600" dirty="0"/>
          </a:p>
        </p:txBody>
      </p:sp>
      <p:pic>
        <p:nvPicPr>
          <p:cNvPr id="21" name="Image 1" descr="/home/user/-/presentation/candidates/assets/orb_3.png">    </p:cNvPr>
          <p:cNvPicPr>
            <a:picLocks noChangeAspect="1"/>
          </p:cNvPicPr>
          <p:nvPr/>
        </p:nvPicPr>
        <p:blipFill>
          <a:blip r:embed="rId2"/>
          <a:stretch>
            <a:fillRect/>
          </a:stretch>
        </p:blipFill>
        <p:spPr>
          <a:xfrm>
            <a:off x="6309360" y="3209544"/>
            <a:ext cx="237744" cy="237744"/>
          </a:xfrm>
          <a:prstGeom prst="rect">
            <a:avLst/>
          </a:prstGeom>
        </p:spPr>
      </p:pic>
      <p:sp>
        <p:nvSpPr>
          <p:cNvPr id="22" name="Text 18"/>
          <p:cNvSpPr txBox="1"/>
          <p:nvPr/>
        </p:nvSpPr>
        <p:spPr>
          <a:xfrm>
            <a:off x="6720840" y="3090672"/>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人口減少</a:t>
            </a:r>
            <a:endParaRPr lang="en-US" sz="1600" dirty="0"/>
          </a:p>
        </p:txBody>
      </p:sp>
      <p:pic>
        <p:nvPicPr>
          <p:cNvPr id="23" name="Image 2" descr="/home/user/-/presentation/candidates/assets/orb_5.png">    </p:cNvPr>
          <p:cNvPicPr>
            <a:picLocks noChangeAspect="1"/>
          </p:cNvPicPr>
          <p:nvPr/>
        </p:nvPicPr>
        <p:blipFill>
          <a:blip r:embed="rId3"/>
          <a:stretch>
            <a:fillRect/>
          </a:stretch>
        </p:blipFill>
        <p:spPr>
          <a:xfrm>
            <a:off x="6309360" y="3922776"/>
            <a:ext cx="237744" cy="237744"/>
          </a:xfrm>
          <a:prstGeom prst="rect">
            <a:avLst/>
          </a:prstGeom>
        </p:spPr>
      </p:pic>
      <p:sp>
        <p:nvSpPr>
          <p:cNvPr id="24" name="Text 19"/>
          <p:cNvSpPr txBox="1"/>
          <p:nvPr/>
        </p:nvSpPr>
        <p:spPr>
          <a:xfrm>
            <a:off x="6720840" y="3803904"/>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「選ばれ続ける」ための、地域に根差した福祉</a:t>
            </a:r>
            <a:endParaRPr lang="en-US" sz="1600" dirty="0"/>
          </a:p>
        </p:txBody>
      </p:sp>
      <p:sp>
        <p:nvSpPr>
          <p:cNvPr id="25" name="Text 20"/>
          <p:cNvSpPr txBox="1"/>
          <p:nvPr/>
        </p:nvSpPr>
        <p:spPr>
          <a:xfrm>
            <a:off x="6309360" y="4526280"/>
            <a:ext cx="5333695" cy="1097280"/>
          </a:xfrm>
          <a:prstGeom prst="rect">
            <a:avLst/>
          </a:prstGeom>
          <a:noFill/>
          <a:ln/>
        </p:spPr>
        <p:txBody>
          <a:bodyPr wrap="square" lIns="0" tIns="0" rIns="0" bIns="0" rtlCol="0" anchor="ctr"/>
          <a:lstStyle/>
          <a:p>
            <a:pPr indent="0" marL="0">
              <a:lnSpc>
                <a:spcPts val="3110"/>
              </a:lnSpc>
              <a:buNone/>
            </a:pPr>
            <a:r>
              <a:rPr lang="en-US" sz="2300" b="1" dirty="0">
                <a:solidFill>
                  <a:srgbClr val="0B3A9E"/>
                </a:solidFill>
                <a:latin typeface="Meiryo UI" pitchFamily="34" charset="0"/>
                <a:ea typeface="Meiryo UI" pitchFamily="34" charset="-122"/>
                <a:cs typeface="Meiryo UI" pitchFamily="34" charset="-120"/>
              </a:rPr>
              <a:t>同等、それ以上の</a:t>
            </a:r>
            <a:endParaRPr lang="en-US" sz="2300" dirty="0"/>
          </a:p>
          <a:p>
            <a:pPr indent="0" marL="0">
              <a:lnSpc>
                <a:spcPts val="3110"/>
              </a:lnSpc>
              <a:buNone/>
            </a:pPr>
            <a:r>
              <a:rPr lang="en-US" sz="2300" b="1" dirty="0">
                <a:solidFill>
                  <a:srgbClr val="0B3A9E"/>
                </a:solidFill>
                <a:latin typeface="Meiryo UI" pitchFamily="34" charset="0"/>
                <a:ea typeface="Meiryo UI" pitchFamily="34" charset="-122"/>
                <a:cs typeface="Meiryo UI" pitchFamily="34" charset="-120"/>
              </a:rPr>
              <a:t>トータルサポートが必要。</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LEARN</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クロスボーダーで関わりたい部署</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6</a:t>
            </a:r>
            <a:endParaRPr lang="en-US" sz="1100" dirty="0"/>
          </a:p>
        </p:txBody>
      </p:sp>
      <p:sp>
        <p:nvSpPr>
          <p:cNvPr id="5" name="Text 3"/>
          <p:cNvSpPr txBox="1"/>
          <p:nvPr/>
        </p:nvSpPr>
        <p:spPr>
          <a:xfrm>
            <a:off x="548640" y="1554480"/>
            <a:ext cx="11094415" cy="411480"/>
          </a:xfrm>
          <a:prstGeom prst="rect">
            <a:avLst/>
          </a:prstGeom>
          <a:noFill/>
          <a:ln/>
        </p:spPr>
        <p:txBody>
          <a:bodyPr wrap="square" lIns="0" tIns="0" rIns="0" bIns="0" rtlCol="0" anchor="ctr"/>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愛媛などで福祉施設を広げるための「知識」と「動き方」を身につける</a:t>
            </a:r>
            <a:endParaRPr lang="en-US" sz="1600" dirty="0"/>
          </a:p>
        </p:txBody>
      </p:sp>
      <p:sp>
        <p:nvSpPr>
          <p:cNvPr id="6" name="Shape 4"/>
          <p:cNvSpPr/>
          <p:nvPr/>
        </p:nvSpPr>
        <p:spPr>
          <a:xfrm>
            <a:off x="548640" y="2103120"/>
            <a:ext cx="5396332" cy="3108960"/>
          </a:xfrm>
          <a:prstGeom prst="roundRect">
            <a:avLst>
              <a:gd name="adj" fmla="val 4706"/>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7" name="Image 0" descr="/home/user/-/presentation/candidates/assets/orb_3.png">    </p:cNvPr>
          <p:cNvPicPr>
            <a:picLocks noChangeAspect="1"/>
          </p:cNvPicPr>
          <p:nvPr/>
        </p:nvPicPr>
        <p:blipFill>
          <a:blip r:embed="rId1"/>
          <a:stretch>
            <a:fillRect/>
          </a:stretch>
        </p:blipFill>
        <p:spPr>
          <a:xfrm>
            <a:off x="868680" y="2395728"/>
            <a:ext cx="658368" cy="658368"/>
          </a:xfrm>
          <a:prstGeom prst="rect">
            <a:avLst/>
          </a:prstGeom>
        </p:spPr>
      </p:pic>
      <p:pic>
        <p:nvPicPr>
          <p:cNvPr id="8" name="Image 1" descr="preencoded.png">    </p:cNvPr>
          <p:cNvPicPr>
            <a:picLocks noChangeAspect="1"/>
          </p:cNvPicPr>
          <p:nvPr/>
        </p:nvPicPr>
        <p:blipFill>
          <a:blip r:embed="rId2"/>
          <a:stretch>
            <a:fillRect/>
          </a:stretch>
        </p:blipFill>
        <p:spPr>
          <a:xfrm>
            <a:off x="1026688" y="2553736"/>
            <a:ext cx="342351" cy="342351"/>
          </a:xfrm>
          <a:prstGeom prst="rect">
            <a:avLst/>
          </a:prstGeom>
        </p:spPr>
      </p:pic>
      <p:sp>
        <p:nvSpPr>
          <p:cNvPr id="9" name="Text 5"/>
          <p:cNvSpPr txBox="1"/>
          <p:nvPr/>
        </p:nvSpPr>
        <p:spPr>
          <a:xfrm>
            <a:off x="1737360"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事業開発課</a:t>
            </a:r>
            <a:endParaRPr lang="en-US" sz="1300" dirty="0"/>
          </a:p>
        </p:txBody>
      </p:sp>
      <p:sp>
        <p:nvSpPr>
          <p:cNvPr id="10" name="Text 6"/>
          <p:cNvSpPr txBox="1"/>
          <p:nvPr/>
        </p:nvSpPr>
        <p:spPr>
          <a:xfrm>
            <a:off x="1737360"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地域共創係</a:t>
            </a:r>
            <a:endParaRPr lang="en-US" sz="2200" dirty="0"/>
          </a:p>
        </p:txBody>
      </p:sp>
      <p:sp>
        <p:nvSpPr>
          <p:cNvPr id="11" name="Shape 7"/>
          <p:cNvSpPr/>
          <p:nvPr/>
        </p:nvSpPr>
        <p:spPr>
          <a:xfrm>
            <a:off x="868680" y="3429000"/>
            <a:ext cx="868680" cy="347472"/>
          </a:xfrm>
          <a:prstGeom prst="roundRect">
            <a:avLst>
              <a:gd name="adj" fmla="val 50000"/>
            </a:avLst>
          </a:prstGeom>
          <a:solidFill>
            <a:srgbClr val="2E4FD8"/>
          </a:solidFill>
          <a:ln w="6350">
            <a:solidFill>
              <a:srgbClr val="2E4FD8"/>
            </a:solidFill>
            <a:prstDash val="solid"/>
          </a:ln>
        </p:spPr>
      </p:sp>
      <p:sp>
        <p:nvSpPr>
          <p:cNvPr id="12" name="Text 8"/>
          <p:cNvSpPr txBox="1"/>
          <p:nvPr/>
        </p:nvSpPr>
        <p:spPr>
          <a:xfrm>
            <a:off x="868680"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13" name="Text 9"/>
          <p:cNvSpPr txBox="1"/>
          <p:nvPr/>
        </p:nvSpPr>
        <p:spPr>
          <a:xfrm>
            <a:off x="1892808"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新規事業の立ち上げ方</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（市場調査・事業計画・収支・指定申請）</a:t>
            </a:r>
            <a:endParaRPr lang="en-US" sz="1400" dirty="0"/>
          </a:p>
        </p:txBody>
      </p:sp>
      <p:sp>
        <p:nvSpPr>
          <p:cNvPr id="14" name="Shape 10"/>
          <p:cNvSpPr/>
          <p:nvPr/>
        </p:nvSpPr>
        <p:spPr>
          <a:xfrm>
            <a:off x="868680" y="4297680"/>
            <a:ext cx="868680" cy="347472"/>
          </a:xfrm>
          <a:prstGeom prst="roundRect">
            <a:avLst>
              <a:gd name="adj" fmla="val 50000"/>
            </a:avLst>
          </a:prstGeom>
          <a:solidFill>
            <a:srgbClr val="2E4FD8"/>
          </a:solidFill>
          <a:ln w="6350">
            <a:solidFill>
              <a:srgbClr val="2E4FD8"/>
            </a:solidFill>
            <a:prstDash val="solid"/>
          </a:ln>
        </p:spPr>
      </p:sp>
      <p:sp>
        <p:nvSpPr>
          <p:cNvPr id="15" name="Text 11"/>
          <p:cNvSpPr txBox="1"/>
          <p:nvPr/>
        </p:nvSpPr>
        <p:spPr>
          <a:xfrm>
            <a:off x="868680"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16" name="Text 12"/>
          <p:cNvSpPr txBox="1"/>
          <p:nvPr/>
        </p:nvSpPr>
        <p:spPr>
          <a:xfrm>
            <a:off x="1892808"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自治体・地域企業・学校と関係を築き、</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地域に根差した事業をつくる</a:t>
            </a:r>
            <a:endParaRPr lang="en-US" sz="1400" dirty="0"/>
          </a:p>
        </p:txBody>
      </p:sp>
      <p:sp>
        <p:nvSpPr>
          <p:cNvPr id="17" name="Shape 13"/>
          <p:cNvSpPr/>
          <p:nvPr/>
        </p:nvSpPr>
        <p:spPr>
          <a:xfrm>
            <a:off x="6246724" y="2103120"/>
            <a:ext cx="5396332" cy="3108960"/>
          </a:xfrm>
          <a:prstGeom prst="roundRect">
            <a:avLst>
              <a:gd name="adj" fmla="val 4706"/>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8" name="Image 2" descr="/home/user/-/presentation/candidates/assets/orb_4.png">    </p:cNvPr>
          <p:cNvPicPr>
            <a:picLocks noChangeAspect="1"/>
          </p:cNvPicPr>
          <p:nvPr/>
        </p:nvPicPr>
        <p:blipFill>
          <a:blip r:embed="rId3"/>
          <a:stretch>
            <a:fillRect/>
          </a:stretch>
        </p:blipFill>
        <p:spPr>
          <a:xfrm>
            <a:off x="6566764" y="2395728"/>
            <a:ext cx="658368" cy="658368"/>
          </a:xfrm>
          <a:prstGeom prst="rect">
            <a:avLst/>
          </a:prstGeom>
        </p:spPr>
      </p:pic>
      <p:pic>
        <p:nvPicPr>
          <p:cNvPr id="19" name="Image 3" descr="preencoded.png">    </p:cNvPr>
          <p:cNvPicPr>
            <a:picLocks noChangeAspect="1"/>
          </p:cNvPicPr>
          <p:nvPr/>
        </p:nvPicPr>
        <p:blipFill>
          <a:blip r:embed="rId4"/>
          <a:stretch>
            <a:fillRect/>
          </a:stretch>
        </p:blipFill>
        <p:spPr>
          <a:xfrm>
            <a:off x="6724772" y="2553736"/>
            <a:ext cx="342351" cy="342351"/>
          </a:xfrm>
          <a:prstGeom prst="rect">
            <a:avLst/>
          </a:prstGeom>
        </p:spPr>
      </p:pic>
      <p:sp>
        <p:nvSpPr>
          <p:cNvPr id="20" name="Text 14"/>
          <p:cNvSpPr txBox="1"/>
          <p:nvPr/>
        </p:nvSpPr>
        <p:spPr>
          <a:xfrm>
            <a:off x="7435444"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マーケティング課</a:t>
            </a:r>
            <a:endParaRPr lang="en-US" sz="1300" dirty="0"/>
          </a:p>
        </p:txBody>
      </p:sp>
      <p:sp>
        <p:nvSpPr>
          <p:cNvPr id="21" name="Text 15"/>
          <p:cNvSpPr txBox="1"/>
          <p:nvPr/>
        </p:nvSpPr>
        <p:spPr>
          <a:xfrm>
            <a:off x="7435444"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トータルサポート推進係</a:t>
            </a:r>
            <a:endParaRPr lang="en-US" sz="2200" dirty="0"/>
          </a:p>
        </p:txBody>
      </p:sp>
      <p:sp>
        <p:nvSpPr>
          <p:cNvPr id="22" name="Shape 16"/>
          <p:cNvSpPr/>
          <p:nvPr/>
        </p:nvSpPr>
        <p:spPr>
          <a:xfrm>
            <a:off x="6566764" y="3429000"/>
            <a:ext cx="868680" cy="347472"/>
          </a:xfrm>
          <a:prstGeom prst="roundRect">
            <a:avLst>
              <a:gd name="adj" fmla="val 50000"/>
            </a:avLst>
          </a:prstGeom>
          <a:solidFill>
            <a:srgbClr val="4B3BC9"/>
          </a:solidFill>
          <a:ln w="6350">
            <a:solidFill>
              <a:srgbClr val="4B3BC9"/>
            </a:solidFill>
            <a:prstDash val="solid"/>
          </a:ln>
        </p:spPr>
      </p:sp>
      <p:sp>
        <p:nvSpPr>
          <p:cNvPr id="23" name="Text 17"/>
          <p:cNvSpPr txBox="1"/>
          <p:nvPr/>
        </p:nvSpPr>
        <p:spPr>
          <a:xfrm>
            <a:off x="6566764"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24" name="Text 18"/>
          <p:cNvSpPr txBox="1"/>
          <p:nvPr/>
        </p:nvSpPr>
        <p:spPr>
          <a:xfrm>
            <a:off x="7590892"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トータルサポートの全体像と、</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事業部どうしのつなぎ方</a:t>
            </a:r>
            <a:endParaRPr lang="en-US" sz="1400" dirty="0"/>
          </a:p>
        </p:txBody>
      </p:sp>
      <p:sp>
        <p:nvSpPr>
          <p:cNvPr id="25" name="Shape 19"/>
          <p:cNvSpPr/>
          <p:nvPr/>
        </p:nvSpPr>
        <p:spPr>
          <a:xfrm>
            <a:off x="6566764" y="4297680"/>
            <a:ext cx="868680" cy="347472"/>
          </a:xfrm>
          <a:prstGeom prst="roundRect">
            <a:avLst>
              <a:gd name="adj" fmla="val 50000"/>
            </a:avLst>
          </a:prstGeom>
          <a:solidFill>
            <a:srgbClr val="4B3BC9"/>
          </a:solidFill>
          <a:ln w="6350">
            <a:solidFill>
              <a:srgbClr val="4B3BC9"/>
            </a:solidFill>
            <a:prstDash val="solid"/>
          </a:ln>
        </p:spPr>
      </p:sp>
      <p:sp>
        <p:nvSpPr>
          <p:cNvPr id="26" name="Text 20"/>
          <p:cNvSpPr txBox="1"/>
          <p:nvPr/>
        </p:nvSpPr>
        <p:spPr>
          <a:xfrm>
            <a:off x="6566764"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27" name="Text 21"/>
          <p:cNvSpPr txBox="1"/>
          <p:nvPr/>
        </p:nvSpPr>
        <p:spPr>
          <a:xfrm>
            <a:off x="7590892"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利用者・保護者の声から、</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放デイ→就労へ切れ目なくつなぐ導線づくり</a:t>
            </a:r>
            <a:endParaRPr lang="en-US" sz="1400" dirty="0"/>
          </a:p>
        </p:txBody>
      </p:sp>
      <p:pic>
        <p:nvPicPr>
          <p:cNvPr id="28" name="Image 4" descr="/home/user/-/presentation/candidates/assets/orb_5.png">    </p:cNvPr>
          <p:cNvPicPr>
            <a:picLocks noChangeAspect="1"/>
          </p:cNvPicPr>
          <p:nvPr/>
        </p:nvPicPr>
        <p:blipFill>
          <a:blip r:embed="rId5"/>
          <a:stretch>
            <a:fillRect/>
          </a:stretch>
        </p:blipFill>
        <p:spPr>
          <a:xfrm>
            <a:off x="548640" y="5605272"/>
            <a:ext cx="219456" cy="219456"/>
          </a:xfrm>
          <a:prstGeom prst="rect">
            <a:avLst/>
          </a:prstGeom>
        </p:spPr>
      </p:pic>
      <p:sp>
        <p:nvSpPr>
          <p:cNvPr id="29" name="Text 22"/>
          <p:cNvSpPr txBox="1"/>
          <p:nvPr/>
        </p:nvSpPr>
        <p:spPr>
          <a:xfrm>
            <a:off x="932688" y="5440680"/>
            <a:ext cx="10710367" cy="548640"/>
          </a:xfrm>
          <a:prstGeom prst="rect">
            <a:avLst/>
          </a:prstGeom>
          <a:noFill/>
          <a:ln/>
        </p:spPr>
        <p:txBody>
          <a:bodyPr wrap="square" lIns="0" tIns="0" rIns="0" bIns="0" rtlCol="0" anchor="ctr"/>
          <a:lstStyle/>
          <a:p>
            <a:pPr indent="0" marL="0">
              <a:lnSpc>
                <a:spcPts val="2600"/>
              </a:lnSpc>
              <a:buNone/>
            </a:pPr>
            <a:r>
              <a:rPr lang="en-US" sz="2000" b="1" dirty="0">
                <a:solidFill>
                  <a:srgbClr val="0B3A9E"/>
                </a:solidFill>
                <a:latin typeface="Meiryo UI" pitchFamily="34" charset="0"/>
                <a:ea typeface="Meiryo UI" pitchFamily="34" charset="-122"/>
                <a:cs typeface="Meiryo UI" pitchFamily="34" charset="-120"/>
              </a:rPr>
              <a:t>現場（愛媛）の声 × 本部の知識と動き方 ＝ 自分のボーダーを越える</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FIRST STEP</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まずは愛媛にB型を　― 開設の試算</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7</a:t>
            </a:r>
            <a:endParaRPr lang="en-US" sz="1100" dirty="0"/>
          </a:p>
        </p:txBody>
      </p:sp>
      <p:sp>
        <p:nvSpPr>
          <p:cNvPr id="5" name="Shape 3"/>
          <p:cNvSpPr/>
          <p:nvPr/>
        </p:nvSpPr>
        <p:spPr>
          <a:xfrm>
            <a:off x="548640" y="1600200"/>
            <a:ext cx="6355080" cy="3657600"/>
          </a:xfrm>
          <a:prstGeom prst="roundRect">
            <a:avLst>
              <a:gd name="adj" fmla="val 4000"/>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graphicFrame>
        <p:nvGraphicFramePr>
          <p:cNvPr id="6" name="Chart 0" descr=""/>
          <p:cNvGraphicFramePr/>
          <p:nvPr/>
        </p:nvGraphicFramePr>
        <p:xfrm>
          <a:off x="685800" y="1691640"/>
          <a:ext cx="608076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132320" y="160020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8" name="Text 5"/>
          <p:cNvSpPr txBox="1"/>
          <p:nvPr/>
        </p:nvSpPr>
        <p:spPr>
          <a:xfrm>
            <a:off x="7223760"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0B3A9E"/>
                </a:solidFill>
                <a:latin typeface="Meiryo UI" pitchFamily="34" charset="0"/>
                <a:ea typeface="Meiryo UI" pitchFamily="34" charset="-122"/>
                <a:cs typeface="Meiryo UI" pitchFamily="34" charset="-120"/>
              </a:rPr>
              <a:t>18人</a:t>
            </a:r>
            <a:endParaRPr lang="en-US" sz="2800" dirty="0"/>
          </a:p>
        </p:txBody>
      </p:sp>
      <p:sp>
        <p:nvSpPr>
          <p:cNvPr id="9" name="Text 6"/>
          <p:cNvSpPr txBox="1"/>
          <p:nvPr/>
        </p:nvSpPr>
        <p:spPr>
          <a:xfrm>
            <a:off x="7269480"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1日の平均利用者数</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（安定期）</a:t>
            </a:r>
            <a:endParaRPr lang="en-US" sz="1200" dirty="0"/>
          </a:p>
        </p:txBody>
      </p:sp>
      <p:sp>
        <p:nvSpPr>
          <p:cNvPr id="10" name="Shape 7"/>
          <p:cNvSpPr/>
          <p:nvPr/>
        </p:nvSpPr>
        <p:spPr>
          <a:xfrm>
            <a:off x="9479128" y="160020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1" name="Text 8"/>
          <p:cNvSpPr txBox="1"/>
          <p:nvPr/>
        </p:nvSpPr>
        <p:spPr>
          <a:xfrm>
            <a:off x="9570568"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1F5FD6"/>
                </a:solidFill>
                <a:latin typeface="Meiryo UI" pitchFamily="34" charset="0"/>
                <a:ea typeface="Meiryo UI" pitchFamily="34" charset="-122"/>
                <a:cs typeface="Meiryo UI" pitchFamily="34" charset="-120"/>
              </a:rPr>
              <a:t>6か月目</a:t>
            </a:r>
            <a:endParaRPr lang="en-US" sz="2800" dirty="0"/>
          </a:p>
        </p:txBody>
      </p:sp>
      <p:sp>
        <p:nvSpPr>
          <p:cNvPr id="12" name="Text 9"/>
          <p:cNvSpPr txBox="1"/>
          <p:nvPr/>
        </p:nvSpPr>
        <p:spPr>
          <a:xfrm>
            <a:off x="9616288"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単月で黒字化</a:t>
            </a:r>
            <a:endParaRPr lang="en-US" sz="1200" dirty="0"/>
          </a:p>
        </p:txBody>
      </p:sp>
      <p:sp>
        <p:nvSpPr>
          <p:cNvPr id="13" name="Shape 10"/>
          <p:cNvSpPr/>
          <p:nvPr/>
        </p:nvSpPr>
        <p:spPr>
          <a:xfrm>
            <a:off x="7132320" y="352044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4" name="Text 11"/>
          <p:cNvSpPr txBox="1"/>
          <p:nvPr/>
        </p:nvSpPr>
        <p:spPr>
          <a:xfrm>
            <a:off x="7223760" y="379841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2E4FD8"/>
                </a:solidFill>
                <a:latin typeface="Meiryo UI" pitchFamily="34" charset="0"/>
                <a:ea typeface="Meiryo UI" pitchFamily="34" charset="-122"/>
                <a:cs typeface="Meiryo UI" pitchFamily="34" charset="-120"/>
              </a:rPr>
              <a:t>27か月目</a:t>
            </a:r>
            <a:endParaRPr lang="en-US" sz="2800" dirty="0"/>
          </a:p>
        </p:txBody>
      </p:sp>
      <p:sp>
        <p:nvSpPr>
          <p:cNvPr id="15" name="Text 12"/>
          <p:cNvSpPr txBox="1"/>
          <p:nvPr/>
        </p:nvSpPr>
        <p:spPr>
          <a:xfrm>
            <a:off x="7269480"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初期投資900万円を回収</a:t>
            </a:r>
            <a:endParaRPr lang="en-US" sz="1200" dirty="0"/>
          </a:p>
        </p:txBody>
      </p:sp>
      <p:sp>
        <p:nvSpPr>
          <p:cNvPr id="16" name="Shape 13"/>
          <p:cNvSpPr/>
          <p:nvPr/>
        </p:nvSpPr>
        <p:spPr>
          <a:xfrm>
            <a:off x="9479128" y="3520440"/>
            <a:ext cx="2163928" cy="1737360"/>
          </a:xfrm>
          <a:prstGeom prst="roundRect">
            <a:avLst>
              <a:gd name="adj" fmla="val 8421"/>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sp>
        <p:nvSpPr>
          <p:cNvPr id="17" name="Text 14"/>
          <p:cNvSpPr txBox="1"/>
          <p:nvPr/>
        </p:nvSpPr>
        <p:spPr>
          <a:xfrm>
            <a:off x="9570568" y="3798418"/>
            <a:ext cx="198104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6A3FC9"/>
                </a:solidFill>
                <a:latin typeface="Meiryo UI" pitchFamily="34" charset="0"/>
                <a:ea typeface="Meiryo UI" pitchFamily="34" charset="-122"/>
                <a:cs typeface="Meiryo UI" pitchFamily="34" charset="-120"/>
              </a:rPr>
              <a:t>1,140万円</a:t>
            </a:r>
            <a:endParaRPr lang="en-US" sz="2400" dirty="0"/>
          </a:p>
        </p:txBody>
      </p:sp>
      <p:sp>
        <p:nvSpPr>
          <p:cNvPr id="18" name="Text 15"/>
          <p:cNvSpPr txBox="1"/>
          <p:nvPr/>
        </p:nvSpPr>
        <p:spPr>
          <a:xfrm>
            <a:off x="9616288"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3年目の営業利益</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（概算）</a:t>
            </a:r>
            <a:endParaRPr lang="en-US" sz="1200" dirty="0"/>
          </a:p>
        </p:txBody>
      </p:sp>
      <p:pic>
        <p:nvPicPr>
          <p:cNvPr id="19" name="Image 0" descr="/home/user/-/presentation/candidates/assets/orb_5.png">    </p:cNvPr>
          <p:cNvPicPr>
            <a:picLocks noChangeAspect="1"/>
          </p:cNvPicPr>
          <p:nvPr/>
        </p:nvPicPr>
        <p:blipFill>
          <a:blip r:embed="rId2"/>
          <a:stretch>
            <a:fillRect/>
          </a:stretch>
        </p:blipFill>
        <p:spPr>
          <a:xfrm>
            <a:off x="548640" y="5596128"/>
            <a:ext cx="219456" cy="219456"/>
          </a:xfrm>
          <a:prstGeom prst="rect">
            <a:avLst/>
          </a:prstGeom>
        </p:spPr>
      </p:pic>
      <p:sp>
        <p:nvSpPr>
          <p:cNvPr id="20" name="Text 16"/>
          <p:cNvSpPr txBox="1"/>
          <p:nvPr/>
        </p:nvSpPr>
        <p:spPr>
          <a:xfrm>
            <a:off x="932688" y="5468112"/>
            <a:ext cx="10710367" cy="475488"/>
          </a:xfrm>
          <a:prstGeom prst="rect">
            <a:avLst/>
          </a:prstGeom>
          <a:noFill/>
          <a:ln/>
        </p:spPr>
        <p:txBody>
          <a:bodyPr wrap="square" lIns="0" tIns="0" rIns="0" bIns="0" rtlCol="0" anchor="ctr"/>
          <a:lstStyle/>
          <a:p>
            <a:pPr indent="0" marL="0">
              <a:lnSpc>
                <a:spcPts val="2210"/>
              </a:lnSpc>
              <a:buNone/>
            </a:pPr>
            <a:r>
              <a:rPr lang="en-US" sz="1700" b="1" dirty="0">
                <a:solidFill>
                  <a:srgbClr val="0B3A9E"/>
                </a:solidFill>
                <a:latin typeface="Meiryo UI" pitchFamily="34" charset="0"/>
                <a:ea typeface="Meiryo UI" pitchFamily="34" charset="-122"/>
                <a:cs typeface="Meiryo UI" pitchFamily="34" charset="-120"/>
              </a:rPr>
              <a:t>黒字ラインは1日11人前後。工賃が愛媛平均（2.3万円）に届けば、年間約100万円の上乗せ。</a:t>
            </a:r>
            <a:endParaRPr lang="en-US" sz="1700" dirty="0"/>
          </a:p>
        </p:txBody>
      </p:sp>
      <p:sp>
        <p:nvSpPr>
          <p:cNvPr id="21" name="Text 17"/>
          <p:cNvSpPr txBox="1"/>
          <p:nvPr/>
        </p:nvSpPr>
        <p:spPr>
          <a:xfrm>
            <a:off x="548640" y="6035040"/>
            <a:ext cx="11094415" cy="256032"/>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※西条市・定員20名・2027年4月開設・初期投資900万円の標準シナリオ。人件費・家賃は仮置き。報酬は令和8年6月の見直しと新規指定の特例（984/1000）を反映。</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ACTION PLAN</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クロスボーダー期間の行動計画</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8</a:t>
            </a:r>
            <a:endParaRPr lang="en-US" sz="1100" dirty="0"/>
          </a:p>
        </p:txBody>
      </p:sp>
      <p:sp>
        <p:nvSpPr>
          <p:cNvPr id="5" name="Shape 3"/>
          <p:cNvSpPr/>
          <p:nvPr/>
        </p:nvSpPr>
        <p:spPr>
          <a:xfrm>
            <a:off x="548640" y="1600200"/>
            <a:ext cx="2606040" cy="37490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6" name="Image 0" descr="/home/user/-/presentation/candidates/assets/orb_0.png">    </p:cNvPr>
          <p:cNvPicPr>
            <a:picLocks noChangeAspect="1"/>
          </p:cNvPicPr>
          <p:nvPr/>
        </p:nvPicPr>
        <p:blipFill>
          <a:blip r:embed="rId1"/>
          <a:stretch>
            <a:fillRect/>
          </a:stretch>
        </p:blipFill>
        <p:spPr>
          <a:xfrm>
            <a:off x="804672" y="1856232"/>
            <a:ext cx="566928" cy="566928"/>
          </a:xfrm>
          <a:prstGeom prst="rect">
            <a:avLst/>
          </a:prstGeom>
        </p:spPr>
      </p:pic>
      <p:sp>
        <p:nvSpPr>
          <p:cNvPr id="7" name="Text 4"/>
          <p:cNvSpPr txBox="1"/>
          <p:nvPr/>
        </p:nvSpPr>
        <p:spPr>
          <a:xfrm>
            <a:off x="804672" y="1856232"/>
            <a:ext cx="566928" cy="566928"/>
          </a:xfrm>
          <a:prstGeom prst="rect">
            <a:avLst/>
          </a:prstGeom>
          <a:noFill/>
          <a:ln/>
        </p:spPr>
        <p:txBody>
          <a:bodyPr wrap="square" lIns="0" tIns="0" rIns="0" bIns="0" rtlCol="0" anchor="ctr"/>
          <a:lstStyle/>
          <a:p>
            <a:pPr algn="ctr" indent="0" marL="0">
              <a:lnSpc>
                <a:spcPts val="1900"/>
              </a:lnSpc>
              <a:buNone/>
            </a:pPr>
            <a:r>
              <a:rPr lang="en-US" sz="1900" b="1" dirty="0">
                <a:solidFill>
                  <a:srgbClr val="FFFFFF"/>
                </a:solidFill>
                <a:latin typeface="Meiryo UI" pitchFamily="34" charset="0"/>
                <a:ea typeface="Meiryo UI" pitchFamily="34" charset="-122"/>
                <a:cs typeface="Meiryo UI" pitchFamily="34" charset="-120"/>
              </a:rPr>
              <a:t>1</a:t>
            </a:r>
            <a:endParaRPr lang="en-US" sz="1900" dirty="0"/>
          </a:p>
        </p:txBody>
      </p:sp>
      <p:sp>
        <p:nvSpPr>
          <p:cNvPr id="8" name="Text 5"/>
          <p:cNvSpPr txBox="1"/>
          <p:nvPr/>
        </p:nvSpPr>
        <p:spPr>
          <a:xfrm>
            <a:off x="1508760" y="1819656"/>
            <a:ext cx="1554480" cy="384048"/>
          </a:xfrm>
          <a:prstGeom prst="rect">
            <a:avLst/>
          </a:prstGeom>
          <a:noFill/>
          <a:ln/>
        </p:spPr>
        <p:txBody>
          <a:bodyPr wrap="square" lIns="0" tIns="0" rIns="0" bIns="0" rtlCol="0" anchor="ctr"/>
          <a:lstStyle/>
          <a:p>
            <a:pPr indent="0" marL="0">
              <a:lnSpc>
                <a:spcPts val="2200"/>
              </a:lnSpc>
              <a:buNone/>
            </a:pPr>
            <a:r>
              <a:rPr lang="en-US" sz="2000" b="1" dirty="0">
                <a:solidFill>
                  <a:srgbClr val="2E3440"/>
                </a:solidFill>
                <a:latin typeface="Meiryo UI" pitchFamily="34" charset="0"/>
                <a:ea typeface="Meiryo UI" pitchFamily="34" charset="-122"/>
                <a:cs typeface="Meiryo UI" pitchFamily="34" charset="-120"/>
              </a:rPr>
              <a:t>〜3か月</a:t>
            </a:r>
            <a:endParaRPr lang="en-US" sz="2000" dirty="0"/>
          </a:p>
        </p:txBody>
      </p:sp>
      <p:sp>
        <p:nvSpPr>
          <p:cNvPr id="9" name="Text 6"/>
          <p:cNvSpPr txBox="1"/>
          <p:nvPr/>
        </p:nvSpPr>
        <p:spPr>
          <a:xfrm>
            <a:off x="1508760" y="2185416"/>
            <a:ext cx="1554480" cy="274320"/>
          </a:xfrm>
          <a:prstGeom prst="rect">
            <a:avLst/>
          </a:prstGeom>
          <a:noFill/>
          <a:ln/>
        </p:spPr>
        <p:txBody>
          <a:bodyPr wrap="square" lIns="0" tIns="0" rIns="0" bIns="0" rtlCol="0" anchor="ctr"/>
          <a:lstStyle/>
          <a:p>
            <a:pPr indent="0" marL="0">
              <a:lnSpc>
                <a:spcPts val="1430"/>
              </a:lnSpc>
              <a:buNone/>
            </a:pPr>
            <a:r>
              <a:rPr lang="en-US" sz="1300" b="1" dirty="0">
                <a:solidFill>
                  <a:srgbClr val="0B3A9E"/>
                </a:solidFill>
                <a:latin typeface="Meiryo UI" pitchFamily="34" charset="0"/>
                <a:ea typeface="Meiryo UI" pitchFamily="34" charset="-122"/>
                <a:cs typeface="Meiryo UI" pitchFamily="34" charset="-120"/>
              </a:rPr>
              <a:t>学ぶ・聞く</a:t>
            </a:r>
            <a:endParaRPr lang="en-US" sz="1300" dirty="0"/>
          </a:p>
        </p:txBody>
      </p:sp>
      <p:sp>
        <p:nvSpPr>
          <p:cNvPr id="10" name="Text 7"/>
          <p:cNvSpPr txBox="1"/>
          <p:nvPr/>
        </p:nvSpPr>
        <p:spPr>
          <a:xfrm>
            <a:off x="804672" y="2651760"/>
            <a:ext cx="2240280" cy="1600200"/>
          </a:xfrm>
          <a:prstGeom prst="rect">
            <a:avLst/>
          </a:prstGeom>
          <a:noFill/>
          <a:ln/>
        </p:spPr>
        <p:txBody>
          <a:bodyPr wrap="square" lIns="0" tIns="0" rIns="0" bIns="0" rtlCol="0" anchor="t"/>
          <a:lstStyle/>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・2つの係の業務に同行</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・保護者アンケート</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　（日吉・西条）</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・西条市・今治市へ</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　事前相談</a:t>
            </a:r>
            <a:endParaRPr lang="en-US" sz="1250" dirty="0"/>
          </a:p>
        </p:txBody>
      </p:sp>
      <p:sp>
        <p:nvSpPr>
          <p:cNvPr id="11" name="Shape 8"/>
          <p:cNvSpPr/>
          <p:nvPr/>
        </p:nvSpPr>
        <p:spPr>
          <a:xfrm>
            <a:off x="804672" y="4343400"/>
            <a:ext cx="868680" cy="292608"/>
          </a:xfrm>
          <a:prstGeom prst="roundRect">
            <a:avLst>
              <a:gd name="adj" fmla="val 50000"/>
            </a:avLst>
          </a:prstGeom>
          <a:solidFill>
            <a:srgbClr val="0B3A9E"/>
          </a:solidFill>
          <a:ln w="6350">
            <a:solidFill>
              <a:srgbClr val="0B3A9E"/>
            </a:solidFill>
            <a:prstDash val="solid"/>
          </a:ln>
        </p:spPr>
      </p:sp>
      <p:sp>
        <p:nvSpPr>
          <p:cNvPr id="12" name="Text 9"/>
          <p:cNvSpPr txBox="1"/>
          <p:nvPr/>
        </p:nvSpPr>
        <p:spPr>
          <a:xfrm>
            <a:off x="804672" y="4343400"/>
            <a:ext cx="868680" cy="292608"/>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成果物</a:t>
            </a:r>
            <a:endParaRPr lang="en-US" sz="1300" dirty="0"/>
          </a:p>
        </p:txBody>
      </p:sp>
      <p:sp>
        <p:nvSpPr>
          <p:cNvPr id="13" name="Text 10"/>
          <p:cNvSpPr txBox="1"/>
          <p:nvPr/>
        </p:nvSpPr>
        <p:spPr>
          <a:xfrm>
            <a:off x="804672" y="4709160"/>
            <a:ext cx="2240280" cy="548640"/>
          </a:xfrm>
          <a:prstGeom prst="rect">
            <a:avLst/>
          </a:prstGeom>
          <a:noFill/>
          <a:ln/>
        </p:spPr>
        <p:txBody>
          <a:bodyPr wrap="square" lIns="0" tIns="0" rIns="0" bIns="0" rtlCol="0" anchor="t"/>
          <a:lstStyle/>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アンケート結果</a:t>
            </a:r>
            <a:endParaRPr lang="en-US" sz="1200" dirty="0"/>
          </a:p>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行政ヒアリング記録</a:t>
            </a:r>
            <a:endParaRPr lang="en-US" sz="1200" dirty="0"/>
          </a:p>
        </p:txBody>
      </p:sp>
      <p:sp>
        <p:nvSpPr>
          <p:cNvPr id="14" name="Shape 11"/>
          <p:cNvSpPr/>
          <p:nvPr/>
        </p:nvSpPr>
        <p:spPr>
          <a:xfrm>
            <a:off x="3206953" y="3337560"/>
            <a:ext cx="118872" cy="274320"/>
          </a:xfrm>
          <a:prstGeom prst="chevron">
            <a:avLst/>
          </a:prstGeom>
          <a:solidFill>
            <a:srgbClr val="B9CCF2"/>
          </a:solidFill>
          <a:ln w="6350">
            <a:solidFill>
              <a:srgbClr val="B9CCF2"/>
            </a:solidFill>
            <a:prstDash val="solid"/>
          </a:ln>
        </p:spPr>
      </p:sp>
      <p:sp>
        <p:nvSpPr>
          <p:cNvPr id="15" name="Shape 12"/>
          <p:cNvSpPr/>
          <p:nvPr/>
        </p:nvSpPr>
        <p:spPr>
          <a:xfrm>
            <a:off x="3378098" y="1600200"/>
            <a:ext cx="2606040" cy="37490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6" name="Image 1" descr="/home/user/-/presentation/candidates/assets/orb_2.png">    </p:cNvPr>
          <p:cNvPicPr>
            <a:picLocks noChangeAspect="1"/>
          </p:cNvPicPr>
          <p:nvPr/>
        </p:nvPicPr>
        <p:blipFill>
          <a:blip r:embed="rId2"/>
          <a:stretch>
            <a:fillRect/>
          </a:stretch>
        </p:blipFill>
        <p:spPr>
          <a:xfrm>
            <a:off x="3634130" y="1856232"/>
            <a:ext cx="566928" cy="566928"/>
          </a:xfrm>
          <a:prstGeom prst="rect">
            <a:avLst/>
          </a:prstGeom>
        </p:spPr>
      </p:pic>
      <p:sp>
        <p:nvSpPr>
          <p:cNvPr id="17" name="Text 13"/>
          <p:cNvSpPr txBox="1"/>
          <p:nvPr/>
        </p:nvSpPr>
        <p:spPr>
          <a:xfrm>
            <a:off x="3634130" y="1856232"/>
            <a:ext cx="566928" cy="566928"/>
          </a:xfrm>
          <a:prstGeom prst="rect">
            <a:avLst/>
          </a:prstGeom>
          <a:noFill/>
          <a:ln/>
        </p:spPr>
        <p:txBody>
          <a:bodyPr wrap="square" lIns="0" tIns="0" rIns="0" bIns="0" rtlCol="0" anchor="ctr"/>
          <a:lstStyle/>
          <a:p>
            <a:pPr algn="ctr" indent="0" marL="0">
              <a:lnSpc>
                <a:spcPts val="1900"/>
              </a:lnSpc>
              <a:buNone/>
            </a:pPr>
            <a:r>
              <a:rPr lang="en-US" sz="1900" b="1" dirty="0">
                <a:solidFill>
                  <a:srgbClr val="FFFFFF"/>
                </a:solidFill>
                <a:latin typeface="Meiryo UI" pitchFamily="34" charset="0"/>
                <a:ea typeface="Meiryo UI" pitchFamily="34" charset="-122"/>
                <a:cs typeface="Meiryo UI" pitchFamily="34" charset="-120"/>
              </a:rPr>
              <a:t>2</a:t>
            </a:r>
            <a:endParaRPr lang="en-US" sz="1900" dirty="0"/>
          </a:p>
        </p:txBody>
      </p:sp>
      <p:sp>
        <p:nvSpPr>
          <p:cNvPr id="18" name="Text 14"/>
          <p:cNvSpPr txBox="1"/>
          <p:nvPr/>
        </p:nvSpPr>
        <p:spPr>
          <a:xfrm>
            <a:off x="4338218" y="1819656"/>
            <a:ext cx="1554480" cy="384048"/>
          </a:xfrm>
          <a:prstGeom prst="rect">
            <a:avLst/>
          </a:prstGeom>
          <a:noFill/>
          <a:ln/>
        </p:spPr>
        <p:txBody>
          <a:bodyPr wrap="square" lIns="0" tIns="0" rIns="0" bIns="0" rtlCol="0" anchor="ctr"/>
          <a:lstStyle/>
          <a:p>
            <a:pPr indent="0" marL="0">
              <a:lnSpc>
                <a:spcPts val="2200"/>
              </a:lnSpc>
              <a:buNone/>
            </a:pPr>
            <a:r>
              <a:rPr lang="en-US" sz="2000" b="1" dirty="0">
                <a:solidFill>
                  <a:srgbClr val="2E3440"/>
                </a:solidFill>
                <a:latin typeface="Meiryo UI" pitchFamily="34" charset="0"/>
                <a:ea typeface="Meiryo UI" pitchFamily="34" charset="-122"/>
                <a:cs typeface="Meiryo UI" pitchFamily="34" charset="-120"/>
              </a:rPr>
              <a:t>〜6か月</a:t>
            </a:r>
            <a:endParaRPr lang="en-US" sz="2000" dirty="0"/>
          </a:p>
        </p:txBody>
      </p:sp>
      <p:sp>
        <p:nvSpPr>
          <p:cNvPr id="19" name="Text 15"/>
          <p:cNvSpPr txBox="1"/>
          <p:nvPr/>
        </p:nvSpPr>
        <p:spPr>
          <a:xfrm>
            <a:off x="4338218" y="2185416"/>
            <a:ext cx="1554480" cy="274320"/>
          </a:xfrm>
          <a:prstGeom prst="rect">
            <a:avLst/>
          </a:prstGeom>
          <a:noFill/>
          <a:ln/>
        </p:spPr>
        <p:txBody>
          <a:bodyPr wrap="square" lIns="0" tIns="0" rIns="0" bIns="0" rtlCol="0" anchor="ctr"/>
          <a:lstStyle/>
          <a:p>
            <a:pPr indent="0" marL="0">
              <a:lnSpc>
                <a:spcPts val="1430"/>
              </a:lnSpc>
              <a:buNone/>
            </a:pPr>
            <a:r>
              <a:rPr lang="en-US" sz="1300" b="1" dirty="0">
                <a:solidFill>
                  <a:srgbClr val="176AA6"/>
                </a:solidFill>
                <a:latin typeface="Meiryo UI" pitchFamily="34" charset="0"/>
                <a:ea typeface="Meiryo UI" pitchFamily="34" charset="-122"/>
                <a:cs typeface="Meiryo UI" pitchFamily="34" charset="-120"/>
              </a:rPr>
              <a:t>形にする</a:t>
            </a:r>
            <a:endParaRPr lang="en-US" sz="1300" dirty="0"/>
          </a:p>
        </p:txBody>
      </p:sp>
      <p:sp>
        <p:nvSpPr>
          <p:cNvPr id="20" name="Text 16"/>
          <p:cNvSpPr txBox="1"/>
          <p:nvPr/>
        </p:nvSpPr>
        <p:spPr>
          <a:xfrm>
            <a:off x="3634130" y="2651760"/>
            <a:ext cx="2240280" cy="1600200"/>
          </a:xfrm>
          <a:prstGeom prst="rect">
            <a:avLst/>
          </a:prstGeom>
          <a:noFill/>
          <a:ln/>
        </p:spPr>
        <p:txBody>
          <a:bodyPr wrap="square" lIns="0" tIns="0" rIns="0" bIns="0" rtlCol="0" anchor="t"/>
          <a:lstStyle/>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・B型の事業計画書を</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　社内の形式で作成</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・受託先・連携先の開拓</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・特別支援学校と連携</a:t>
            </a:r>
            <a:endParaRPr lang="en-US" sz="1250" dirty="0"/>
          </a:p>
        </p:txBody>
      </p:sp>
      <p:sp>
        <p:nvSpPr>
          <p:cNvPr id="21" name="Shape 17"/>
          <p:cNvSpPr/>
          <p:nvPr/>
        </p:nvSpPr>
        <p:spPr>
          <a:xfrm>
            <a:off x="3634130" y="4343400"/>
            <a:ext cx="868680" cy="292608"/>
          </a:xfrm>
          <a:prstGeom prst="roundRect">
            <a:avLst>
              <a:gd name="adj" fmla="val 50000"/>
            </a:avLst>
          </a:prstGeom>
          <a:solidFill>
            <a:srgbClr val="176AA6"/>
          </a:solidFill>
          <a:ln w="6350">
            <a:solidFill>
              <a:srgbClr val="176AA6"/>
            </a:solidFill>
            <a:prstDash val="solid"/>
          </a:ln>
        </p:spPr>
      </p:sp>
      <p:sp>
        <p:nvSpPr>
          <p:cNvPr id="22" name="Text 18"/>
          <p:cNvSpPr txBox="1"/>
          <p:nvPr/>
        </p:nvSpPr>
        <p:spPr>
          <a:xfrm>
            <a:off x="3634130" y="4343400"/>
            <a:ext cx="868680" cy="292608"/>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成果物</a:t>
            </a:r>
            <a:endParaRPr lang="en-US" sz="1300" dirty="0"/>
          </a:p>
        </p:txBody>
      </p:sp>
      <p:sp>
        <p:nvSpPr>
          <p:cNvPr id="23" name="Text 19"/>
          <p:cNvSpPr txBox="1"/>
          <p:nvPr/>
        </p:nvSpPr>
        <p:spPr>
          <a:xfrm>
            <a:off x="3634130" y="4709160"/>
            <a:ext cx="2240280" cy="548640"/>
          </a:xfrm>
          <a:prstGeom prst="rect">
            <a:avLst/>
          </a:prstGeom>
          <a:noFill/>
          <a:ln/>
        </p:spPr>
        <p:txBody>
          <a:bodyPr wrap="square" lIns="0" tIns="0" rIns="0" bIns="0" rtlCol="0" anchor="t"/>
          <a:lstStyle/>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事業計画書（案）</a:t>
            </a:r>
            <a:endParaRPr lang="en-US" sz="1200" dirty="0"/>
          </a:p>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連携先リスト</a:t>
            </a:r>
            <a:endParaRPr lang="en-US" sz="1200" dirty="0"/>
          </a:p>
        </p:txBody>
      </p:sp>
      <p:sp>
        <p:nvSpPr>
          <p:cNvPr id="24" name="Shape 20"/>
          <p:cNvSpPr/>
          <p:nvPr/>
        </p:nvSpPr>
        <p:spPr>
          <a:xfrm>
            <a:off x="6036412" y="3337560"/>
            <a:ext cx="118872" cy="274320"/>
          </a:xfrm>
          <a:prstGeom prst="chevron">
            <a:avLst/>
          </a:prstGeom>
          <a:solidFill>
            <a:srgbClr val="B9CCF2"/>
          </a:solidFill>
          <a:ln w="6350">
            <a:solidFill>
              <a:srgbClr val="B9CCF2"/>
            </a:solidFill>
            <a:prstDash val="solid"/>
          </a:ln>
        </p:spPr>
      </p:sp>
      <p:sp>
        <p:nvSpPr>
          <p:cNvPr id="25" name="Shape 21"/>
          <p:cNvSpPr/>
          <p:nvPr/>
        </p:nvSpPr>
        <p:spPr>
          <a:xfrm>
            <a:off x="6207557" y="1600200"/>
            <a:ext cx="2606040" cy="37490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26" name="Image 2" descr="/home/user/-/presentation/candidates/assets/orb_4.png">    </p:cNvPr>
          <p:cNvPicPr>
            <a:picLocks noChangeAspect="1"/>
          </p:cNvPicPr>
          <p:nvPr/>
        </p:nvPicPr>
        <p:blipFill>
          <a:blip r:embed="rId3"/>
          <a:stretch>
            <a:fillRect/>
          </a:stretch>
        </p:blipFill>
        <p:spPr>
          <a:xfrm>
            <a:off x="6463589" y="1856232"/>
            <a:ext cx="566928" cy="566928"/>
          </a:xfrm>
          <a:prstGeom prst="rect">
            <a:avLst/>
          </a:prstGeom>
        </p:spPr>
      </p:pic>
      <p:sp>
        <p:nvSpPr>
          <p:cNvPr id="27" name="Text 22"/>
          <p:cNvSpPr txBox="1"/>
          <p:nvPr/>
        </p:nvSpPr>
        <p:spPr>
          <a:xfrm>
            <a:off x="6463589" y="1856232"/>
            <a:ext cx="566928" cy="566928"/>
          </a:xfrm>
          <a:prstGeom prst="rect">
            <a:avLst/>
          </a:prstGeom>
          <a:noFill/>
          <a:ln/>
        </p:spPr>
        <p:txBody>
          <a:bodyPr wrap="square" lIns="0" tIns="0" rIns="0" bIns="0" rtlCol="0" anchor="ctr"/>
          <a:lstStyle/>
          <a:p>
            <a:pPr algn="ctr" indent="0" marL="0">
              <a:lnSpc>
                <a:spcPts val="1900"/>
              </a:lnSpc>
              <a:buNone/>
            </a:pPr>
            <a:r>
              <a:rPr lang="en-US" sz="1900" b="1" dirty="0">
                <a:solidFill>
                  <a:srgbClr val="FFFFFF"/>
                </a:solidFill>
                <a:latin typeface="Meiryo UI" pitchFamily="34" charset="0"/>
                <a:ea typeface="Meiryo UI" pitchFamily="34" charset="-122"/>
                <a:cs typeface="Meiryo UI" pitchFamily="34" charset="-120"/>
              </a:rPr>
              <a:t>3</a:t>
            </a:r>
            <a:endParaRPr lang="en-US" sz="1900" dirty="0"/>
          </a:p>
        </p:txBody>
      </p:sp>
      <p:sp>
        <p:nvSpPr>
          <p:cNvPr id="28" name="Text 23"/>
          <p:cNvSpPr txBox="1"/>
          <p:nvPr/>
        </p:nvSpPr>
        <p:spPr>
          <a:xfrm>
            <a:off x="7167677" y="1819656"/>
            <a:ext cx="1554480" cy="384048"/>
          </a:xfrm>
          <a:prstGeom prst="rect">
            <a:avLst/>
          </a:prstGeom>
          <a:noFill/>
          <a:ln/>
        </p:spPr>
        <p:txBody>
          <a:bodyPr wrap="square" lIns="0" tIns="0" rIns="0" bIns="0" rtlCol="0" anchor="ctr"/>
          <a:lstStyle/>
          <a:p>
            <a:pPr indent="0" marL="0">
              <a:lnSpc>
                <a:spcPts val="2200"/>
              </a:lnSpc>
              <a:buNone/>
            </a:pPr>
            <a:r>
              <a:rPr lang="en-US" sz="2000" b="1" dirty="0">
                <a:solidFill>
                  <a:srgbClr val="2E3440"/>
                </a:solidFill>
                <a:latin typeface="Meiryo UI" pitchFamily="34" charset="0"/>
                <a:ea typeface="Meiryo UI" pitchFamily="34" charset="-122"/>
                <a:cs typeface="Meiryo UI" pitchFamily="34" charset="-120"/>
              </a:rPr>
              <a:t>〜1年</a:t>
            </a:r>
            <a:endParaRPr lang="en-US" sz="2000" dirty="0"/>
          </a:p>
        </p:txBody>
      </p:sp>
      <p:sp>
        <p:nvSpPr>
          <p:cNvPr id="29" name="Text 24"/>
          <p:cNvSpPr txBox="1"/>
          <p:nvPr/>
        </p:nvSpPr>
        <p:spPr>
          <a:xfrm>
            <a:off x="7167677" y="2185416"/>
            <a:ext cx="1554480" cy="274320"/>
          </a:xfrm>
          <a:prstGeom prst="rect">
            <a:avLst/>
          </a:prstGeom>
          <a:noFill/>
          <a:ln/>
        </p:spPr>
        <p:txBody>
          <a:bodyPr wrap="square" lIns="0" tIns="0" rIns="0" bIns="0" rtlCol="0" anchor="ctr"/>
          <a:lstStyle/>
          <a:p>
            <a:pPr indent="0" marL="0">
              <a:lnSpc>
                <a:spcPts val="1430"/>
              </a:lnSpc>
              <a:buNone/>
            </a:pPr>
            <a:r>
              <a:rPr lang="en-US" sz="1300" b="1" dirty="0">
                <a:solidFill>
                  <a:srgbClr val="4B3BC9"/>
                </a:solidFill>
                <a:latin typeface="Meiryo UI" pitchFamily="34" charset="0"/>
                <a:ea typeface="Meiryo UI" pitchFamily="34" charset="-122"/>
                <a:cs typeface="Meiryo UI" pitchFamily="34" charset="-120"/>
              </a:rPr>
              <a:t>提案する</a:t>
            </a:r>
            <a:endParaRPr lang="en-US" sz="1300" dirty="0"/>
          </a:p>
        </p:txBody>
      </p:sp>
      <p:sp>
        <p:nvSpPr>
          <p:cNvPr id="30" name="Text 25"/>
          <p:cNvSpPr txBox="1"/>
          <p:nvPr/>
        </p:nvSpPr>
        <p:spPr>
          <a:xfrm>
            <a:off x="6463589" y="2651760"/>
            <a:ext cx="2240280" cy="1600200"/>
          </a:xfrm>
          <a:prstGeom prst="rect">
            <a:avLst/>
          </a:prstGeom>
          <a:noFill/>
          <a:ln/>
        </p:spPr>
        <p:txBody>
          <a:bodyPr wrap="square" lIns="0" tIns="0" rIns="0" bIns="0" rtlCol="0" anchor="t"/>
          <a:lstStyle/>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・役員へ事業計画を提案</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・承認後、物件・採用・</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　指定申請へ</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・保護者説明会の開催</a:t>
            </a:r>
            <a:endParaRPr lang="en-US" sz="1250" dirty="0"/>
          </a:p>
        </p:txBody>
      </p:sp>
      <p:sp>
        <p:nvSpPr>
          <p:cNvPr id="31" name="Shape 26"/>
          <p:cNvSpPr/>
          <p:nvPr/>
        </p:nvSpPr>
        <p:spPr>
          <a:xfrm>
            <a:off x="6463589" y="4343400"/>
            <a:ext cx="868680" cy="292608"/>
          </a:xfrm>
          <a:prstGeom prst="roundRect">
            <a:avLst>
              <a:gd name="adj" fmla="val 50000"/>
            </a:avLst>
          </a:prstGeom>
          <a:solidFill>
            <a:srgbClr val="4B3BC9"/>
          </a:solidFill>
          <a:ln w="6350">
            <a:solidFill>
              <a:srgbClr val="4B3BC9"/>
            </a:solidFill>
            <a:prstDash val="solid"/>
          </a:ln>
        </p:spPr>
      </p:sp>
      <p:sp>
        <p:nvSpPr>
          <p:cNvPr id="32" name="Text 27"/>
          <p:cNvSpPr txBox="1"/>
          <p:nvPr/>
        </p:nvSpPr>
        <p:spPr>
          <a:xfrm>
            <a:off x="6463589" y="4343400"/>
            <a:ext cx="868680" cy="292608"/>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成果物</a:t>
            </a:r>
            <a:endParaRPr lang="en-US" sz="1300" dirty="0"/>
          </a:p>
        </p:txBody>
      </p:sp>
      <p:sp>
        <p:nvSpPr>
          <p:cNvPr id="33" name="Text 28"/>
          <p:cNvSpPr txBox="1"/>
          <p:nvPr/>
        </p:nvSpPr>
        <p:spPr>
          <a:xfrm>
            <a:off x="6463589" y="4709160"/>
            <a:ext cx="2240280" cy="548640"/>
          </a:xfrm>
          <a:prstGeom prst="rect">
            <a:avLst/>
          </a:prstGeom>
          <a:noFill/>
          <a:ln/>
        </p:spPr>
        <p:txBody>
          <a:bodyPr wrap="square" lIns="0" tIns="0" rIns="0" bIns="0" rtlCol="0" anchor="t"/>
          <a:lstStyle/>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提案資料</a:t>
            </a:r>
            <a:endParaRPr lang="en-US" sz="1200" dirty="0"/>
          </a:p>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開設スケジュール</a:t>
            </a:r>
            <a:endParaRPr lang="en-US" sz="1200" dirty="0"/>
          </a:p>
        </p:txBody>
      </p:sp>
      <p:sp>
        <p:nvSpPr>
          <p:cNvPr id="34" name="Shape 29"/>
          <p:cNvSpPr/>
          <p:nvPr/>
        </p:nvSpPr>
        <p:spPr>
          <a:xfrm>
            <a:off x="8865870" y="3337560"/>
            <a:ext cx="118872" cy="274320"/>
          </a:xfrm>
          <a:prstGeom prst="chevron">
            <a:avLst/>
          </a:prstGeom>
          <a:solidFill>
            <a:srgbClr val="B9CCF2"/>
          </a:solidFill>
          <a:ln w="6350">
            <a:solidFill>
              <a:srgbClr val="B9CCF2"/>
            </a:solidFill>
            <a:prstDash val="solid"/>
          </a:ln>
        </p:spPr>
      </p:sp>
      <p:sp>
        <p:nvSpPr>
          <p:cNvPr id="35" name="Shape 30"/>
          <p:cNvSpPr/>
          <p:nvPr/>
        </p:nvSpPr>
        <p:spPr>
          <a:xfrm>
            <a:off x="9037015" y="1600200"/>
            <a:ext cx="2606040" cy="37490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36" name="Image 3" descr="/home/user/-/presentation/candidates/assets/orb_6.png">    </p:cNvPr>
          <p:cNvPicPr>
            <a:picLocks noChangeAspect="1"/>
          </p:cNvPicPr>
          <p:nvPr/>
        </p:nvPicPr>
        <p:blipFill>
          <a:blip r:embed="rId4"/>
          <a:stretch>
            <a:fillRect/>
          </a:stretch>
        </p:blipFill>
        <p:spPr>
          <a:xfrm>
            <a:off x="9293047" y="1856232"/>
            <a:ext cx="566928" cy="566928"/>
          </a:xfrm>
          <a:prstGeom prst="rect">
            <a:avLst/>
          </a:prstGeom>
        </p:spPr>
      </p:pic>
      <p:sp>
        <p:nvSpPr>
          <p:cNvPr id="37" name="Text 31"/>
          <p:cNvSpPr txBox="1"/>
          <p:nvPr/>
        </p:nvSpPr>
        <p:spPr>
          <a:xfrm>
            <a:off x="9293047" y="1856232"/>
            <a:ext cx="566928" cy="566928"/>
          </a:xfrm>
          <a:prstGeom prst="rect">
            <a:avLst/>
          </a:prstGeom>
          <a:noFill/>
          <a:ln/>
        </p:spPr>
        <p:txBody>
          <a:bodyPr wrap="square" lIns="0" tIns="0" rIns="0" bIns="0" rtlCol="0" anchor="ctr"/>
          <a:lstStyle/>
          <a:p>
            <a:pPr algn="ctr" indent="0" marL="0">
              <a:lnSpc>
                <a:spcPts val="1900"/>
              </a:lnSpc>
              <a:buNone/>
            </a:pPr>
            <a:r>
              <a:rPr lang="en-US" sz="1900" b="1" dirty="0">
                <a:solidFill>
                  <a:srgbClr val="FFFFFF"/>
                </a:solidFill>
                <a:latin typeface="Meiryo UI" pitchFamily="34" charset="0"/>
                <a:ea typeface="Meiryo UI" pitchFamily="34" charset="-122"/>
                <a:cs typeface="Meiryo UI" pitchFamily="34" charset="-120"/>
              </a:rPr>
              <a:t>4</a:t>
            </a:r>
            <a:endParaRPr lang="en-US" sz="1900" dirty="0"/>
          </a:p>
        </p:txBody>
      </p:sp>
      <p:sp>
        <p:nvSpPr>
          <p:cNvPr id="38" name="Text 32"/>
          <p:cNvSpPr txBox="1"/>
          <p:nvPr/>
        </p:nvSpPr>
        <p:spPr>
          <a:xfrm>
            <a:off x="9997135" y="1819656"/>
            <a:ext cx="1554480" cy="384048"/>
          </a:xfrm>
          <a:prstGeom prst="rect">
            <a:avLst/>
          </a:prstGeom>
          <a:noFill/>
          <a:ln/>
        </p:spPr>
        <p:txBody>
          <a:bodyPr wrap="square" lIns="0" tIns="0" rIns="0" bIns="0" rtlCol="0" anchor="ctr"/>
          <a:lstStyle/>
          <a:p>
            <a:pPr indent="0" marL="0">
              <a:lnSpc>
                <a:spcPts val="2200"/>
              </a:lnSpc>
              <a:buNone/>
            </a:pPr>
            <a:r>
              <a:rPr lang="en-US" sz="2000" b="1" dirty="0">
                <a:solidFill>
                  <a:srgbClr val="2E3440"/>
                </a:solidFill>
                <a:latin typeface="Meiryo UI" pitchFamily="34" charset="0"/>
                <a:ea typeface="Meiryo UI" pitchFamily="34" charset="-122"/>
                <a:cs typeface="Meiryo UI" pitchFamily="34" charset="-120"/>
              </a:rPr>
              <a:t>その先</a:t>
            </a:r>
            <a:endParaRPr lang="en-US" sz="2000" dirty="0"/>
          </a:p>
        </p:txBody>
      </p:sp>
      <p:sp>
        <p:nvSpPr>
          <p:cNvPr id="39" name="Text 33"/>
          <p:cNvSpPr txBox="1"/>
          <p:nvPr/>
        </p:nvSpPr>
        <p:spPr>
          <a:xfrm>
            <a:off x="9997135" y="2185416"/>
            <a:ext cx="1554480" cy="274320"/>
          </a:xfrm>
          <a:prstGeom prst="rect">
            <a:avLst/>
          </a:prstGeom>
          <a:noFill/>
          <a:ln/>
        </p:spPr>
        <p:txBody>
          <a:bodyPr wrap="square" lIns="0" tIns="0" rIns="0" bIns="0" rtlCol="0" anchor="ctr"/>
          <a:lstStyle/>
          <a:p>
            <a:pPr indent="0" marL="0">
              <a:lnSpc>
                <a:spcPts val="1430"/>
              </a:lnSpc>
              <a:buNone/>
            </a:pPr>
            <a:r>
              <a:rPr lang="en-US" sz="1300" b="1" dirty="0">
                <a:solidFill>
                  <a:srgbClr val="8E3FB8"/>
                </a:solidFill>
                <a:latin typeface="Meiryo UI" pitchFamily="34" charset="0"/>
                <a:ea typeface="Meiryo UI" pitchFamily="34" charset="-122"/>
                <a:cs typeface="Meiryo UI" pitchFamily="34" charset="-120"/>
              </a:rPr>
              <a:t>広げる</a:t>
            </a:r>
            <a:endParaRPr lang="en-US" sz="1300" dirty="0"/>
          </a:p>
        </p:txBody>
      </p:sp>
      <p:sp>
        <p:nvSpPr>
          <p:cNvPr id="40" name="Text 34"/>
          <p:cNvSpPr txBox="1"/>
          <p:nvPr/>
        </p:nvSpPr>
        <p:spPr>
          <a:xfrm>
            <a:off x="9293047" y="2651760"/>
            <a:ext cx="2240280" cy="1600200"/>
          </a:xfrm>
          <a:prstGeom prst="rect">
            <a:avLst/>
          </a:prstGeom>
          <a:noFill/>
          <a:ln/>
        </p:spPr>
        <p:txBody>
          <a:bodyPr wrap="square" lIns="0" tIns="0" rIns="0" bIns="0" rtlCol="0" anchor="t"/>
          <a:lstStyle/>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・B型の開設・運営</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・放課後児童クラブへの</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　参入を検討</a:t>
            </a:r>
            <a:endParaRPr lang="en-US" sz="1250" dirty="0"/>
          </a:p>
          <a:p>
            <a:pPr indent="0" marL="0">
              <a:lnSpc>
                <a:spcPts val="1780"/>
              </a:lnSpc>
              <a:buNone/>
            </a:pPr>
            <a:r>
              <a:rPr lang="en-US" sz="1250" dirty="0">
                <a:solidFill>
                  <a:srgbClr val="2E3440"/>
                </a:solidFill>
                <a:latin typeface="Meiryo UI" pitchFamily="34" charset="0"/>
                <a:ea typeface="Meiryo UI" pitchFamily="34" charset="-122"/>
                <a:cs typeface="Meiryo UI" pitchFamily="34" charset="-120"/>
              </a:rPr>
              <a:t>・四国支社構想へ</a:t>
            </a:r>
            <a:endParaRPr lang="en-US" sz="1250" dirty="0"/>
          </a:p>
        </p:txBody>
      </p:sp>
      <p:sp>
        <p:nvSpPr>
          <p:cNvPr id="41" name="Shape 35"/>
          <p:cNvSpPr/>
          <p:nvPr/>
        </p:nvSpPr>
        <p:spPr>
          <a:xfrm>
            <a:off x="9293047" y="4343400"/>
            <a:ext cx="868680" cy="292608"/>
          </a:xfrm>
          <a:prstGeom prst="roundRect">
            <a:avLst>
              <a:gd name="adj" fmla="val 50000"/>
            </a:avLst>
          </a:prstGeom>
          <a:solidFill>
            <a:srgbClr val="8E3FB8"/>
          </a:solidFill>
          <a:ln w="6350">
            <a:solidFill>
              <a:srgbClr val="8E3FB8"/>
            </a:solidFill>
            <a:prstDash val="solid"/>
          </a:ln>
        </p:spPr>
      </p:sp>
      <p:sp>
        <p:nvSpPr>
          <p:cNvPr id="42" name="Text 36"/>
          <p:cNvSpPr txBox="1"/>
          <p:nvPr/>
        </p:nvSpPr>
        <p:spPr>
          <a:xfrm>
            <a:off x="9293047" y="4343400"/>
            <a:ext cx="868680" cy="292608"/>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成果物</a:t>
            </a:r>
            <a:endParaRPr lang="en-US" sz="1300" dirty="0"/>
          </a:p>
        </p:txBody>
      </p:sp>
      <p:sp>
        <p:nvSpPr>
          <p:cNvPr id="43" name="Text 37"/>
          <p:cNvSpPr txBox="1"/>
          <p:nvPr/>
        </p:nvSpPr>
        <p:spPr>
          <a:xfrm>
            <a:off x="9293047" y="4709160"/>
            <a:ext cx="2240280" cy="548640"/>
          </a:xfrm>
          <a:prstGeom prst="rect">
            <a:avLst/>
          </a:prstGeom>
          <a:noFill/>
          <a:ln/>
        </p:spPr>
        <p:txBody>
          <a:bodyPr wrap="square" lIns="0" tIns="0" rIns="0" bIns="0" rtlCol="0" anchor="t"/>
          <a:lstStyle/>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B型の開設</a:t>
            </a:r>
            <a:endParaRPr lang="en-US" sz="1200" dirty="0"/>
          </a:p>
          <a:p>
            <a:pPr indent="0" marL="0">
              <a:lnSpc>
                <a:spcPts val="1620"/>
              </a:lnSpc>
              <a:buNone/>
            </a:pPr>
            <a:r>
              <a:rPr lang="en-US" sz="1200" dirty="0">
                <a:solidFill>
                  <a:srgbClr val="5B6472"/>
                </a:solidFill>
                <a:latin typeface="Meiryo UI" pitchFamily="34" charset="0"/>
                <a:ea typeface="Meiryo UI" pitchFamily="34" charset="-122"/>
                <a:cs typeface="Meiryo UI" pitchFamily="34" charset="-120"/>
              </a:rPr>
              <a:t>次の展開案</a:t>
            </a:r>
            <a:endParaRPr lang="en-US" sz="1200" dirty="0"/>
          </a:p>
        </p:txBody>
      </p:sp>
      <p:pic>
        <p:nvPicPr>
          <p:cNvPr id="44" name="Image 4" descr="/home/user/-/presentation/candidates/assets/orb_5.png">    </p:cNvPr>
          <p:cNvPicPr>
            <a:picLocks noChangeAspect="1"/>
          </p:cNvPicPr>
          <p:nvPr/>
        </p:nvPicPr>
        <p:blipFill>
          <a:blip r:embed="rId5"/>
          <a:stretch>
            <a:fillRect/>
          </a:stretch>
        </p:blipFill>
        <p:spPr>
          <a:xfrm>
            <a:off x="548640" y="5655564"/>
            <a:ext cx="219456" cy="219456"/>
          </a:xfrm>
          <a:prstGeom prst="rect">
            <a:avLst/>
          </a:prstGeom>
        </p:spPr>
      </p:pic>
      <p:sp>
        <p:nvSpPr>
          <p:cNvPr id="45" name="Text 38"/>
          <p:cNvSpPr txBox="1"/>
          <p:nvPr/>
        </p:nvSpPr>
        <p:spPr>
          <a:xfrm>
            <a:off x="932688" y="5513832"/>
            <a:ext cx="10710367" cy="502920"/>
          </a:xfrm>
          <a:prstGeom prst="rect">
            <a:avLst/>
          </a:prstGeom>
          <a:noFill/>
          <a:ln/>
        </p:spPr>
        <p:txBody>
          <a:bodyPr wrap="square" lIns="0" tIns="0" rIns="0" bIns="0" rtlCol="0" anchor="ctr"/>
          <a:lstStyle/>
          <a:p>
            <a:pPr indent="0" marL="0">
              <a:lnSpc>
                <a:spcPts val="2340"/>
              </a:lnSpc>
              <a:buNone/>
            </a:pPr>
            <a:r>
              <a:rPr lang="en-US" sz="1800" b="1" dirty="0">
                <a:solidFill>
                  <a:srgbClr val="0B3A9E"/>
                </a:solidFill>
                <a:latin typeface="Meiryo UI" pitchFamily="34" charset="0"/>
                <a:ea typeface="Meiryo UI" pitchFamily="34" charset="-122"/>
                <a:cs typeface="Meiryo UI" pitchFamily="34" charset="-120"/>
              </a:rPr>
              <a:t>ニーズを数字にし、制度のリスクを早めに確かめ、半年で事業計画書を形にする。</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20624"/>
            <a:ext cx="5486400" cy="274320"/>
          </a:xfrm>
          <a:prstGeom prst="rect">
            <a:avLst/>
          </a:prstGeom>
          <a:noFill/>
          <a:ln/>
        </p:spPr>
        <p:txBody>
          <a:bodyPr wrap="square" lIns="0" tIns="0" rIns="0" bIns="0" rtlCol="0" anchor="ctr"/>
          <a:lstStyle/>
          <a:p>
            <a:pPr indent="0" marL="0">
              <a:lnSpc>
                <a:spcPts val="1200"/>
              </a:lnSpc>
              <a:buNone/>
            </a:pPr>
            <a:r>
              <a:rPr lang="en-US" sz="1200" b="1" spc="400" kern="0" dirty="0">
                <a:solidFill>
                  <a:srgbClr val="3F6FC6"/>
                </a:solidFill>
                <a:latin typeface="Meiryo UI" pitchFamily="34" charset="0"/>
                <a:ea typeface="Meiryo UI" pitchFamily="34" charset="-122"/>
                <a:cs typeface="Meiryo UI" pitchFamily="34" charset="-120"/>
              </a:rPr>
              <a:t>VISION</a:t>
            </a:r>
            <a:endParaRPr lang="en-US" sz="1200" dirty="0"/>
          </a:p>
        </p:txBody>
      </p:sp>
      <p:sp>
        <p:nvSpPr>
          <p:cNvPr id="3" name="Text 1"/>
          <p:cNvSpPr txBox="1"/>
          <p:nvPr/>
        </p:nvSpPr>
        <p:spPr>
          <a:xfrm>
            <a:off x="548640" y="731520"/>
            <a:ext cx="9326880" cy="594360"/>
          </a:xfrm>
          <a:prstGeom prst="rect">
            <a:avLst/>
          </a:prstGeom>
          <a:noFill/>
          <a:ln/>
        </p:spPr>
        <p:txBody>
          <a:bodyPr wrap="square" lIns="0" tIns="0" rIns="0" bIns="0" rtlCol="0" anchor="t"/>
          <a:lstStyle/>
          <a:p>
            <a:pPr indent="0" marL="0">
              <a:lnSpc>
                <a:spcPts val="3900"/>
              </a:lnSpc>
              <a:buNone/>
            </a:pPr>
            <a:r>
              <a:rPr lang="en-US" sz="3000" b="1" dirty="0">
                <a:solidFill>
                  <a:srgbClr val="0B3A9E"/>
                </a:solidFill>
                <a:latin typeface="Meiryo UI" pitchFamily="34" charset="0"/>
                <a:ea typeface="Meiryo UI" pitchFamily="34" charset="-122"/>
                <a:cs typeface="Meiryo UI" pitchFamily="34" charset="-120"/>
              </a:rPr>
              <a:t>描く未来　― 愛媛から全国へ（仮構想）</a:t>
            </a:r>
            <a:endParaRPr lang="en-US" sz="3000" dirty="0"/>
          </a:p>
        </p:txBody>
      </p:sp>
      <p:sp>
        <p:nvSpPr>
          <p:cNvPr id="4" name="Text 2"/>
          <p:cNvSpPr txBox="1"/>
          <p:nvPr/>
        </p:nvSpPr>
        <p:spPr>
          <a:xfrm>
            <a:off x="11094415" y="6382512"/>
            <a:ext cx="548640" cy="274320"/>
          </a:xfrm>
          <a:prstGeom prst="rect">
            <a:avLst/>
          </a:prstGeom>
          <a:noFill/>
          <a:ln/>
        </p:spPr>
        <p:txBody>
          <a:bodyPr wrap="square" lIns="0" tIns="0" rIns="0" bIns="0" rtlCol="0" anchor="t"/>
          <a:lstStyle/>
          <a:p>
            <a:pPr algn="r" indent="0" marL="0">
              <a:lnSpc>
                <a:spcPts val="1100"/>
              </a:lnSpc>
              <a:buNone/>
            </a:pPr>
            <a:r>
              <a:rPr lang="en-US" sz="1100" b="1" dirty="0">
                <a:solidFill>
                  <a:srgbClr val="3F6FC6"/>
                </a:solidFill>
                <a:latin typeface="Meiryo UI" pitchFamily="34" charset="0"/>
                <a:ea typeface="Meiryo UI" pitchFamily="34" charset="-122"/>
                <a:cs typeface="Meiryo UI" pitchFamily="34" charset="-120"/>
              </a:rPr>
              <a:t>9</a:t>
            </a:r>
            <a:endParaRPr lang="en-US" sz="1100" dirty="0"/>
          </a:p>
        </p:txBody>
      </p:sp>
      <p:sp>
        <p:nvSpPr>
          <p:cNvPr id="5" name="Shape 3"/>
          <p:cNvSpPr/>
          <p:nvPr/>
        </p:nvSpPr>
        <p:spPr>
          <a:xfrm>
            <a:off x="548640"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6" name="Image 0" descr="/home/user/-/presentation/candidates/assets/orb_0.png">    </p:cNvPr>
          <p:cNvPicPr>
            <a:picLocks noChangeAspect="1"/>
          </p:cNvPicPr>
          <p:nvPr/>
        </p:nvPicPr>
        <p:blipFill>
          <a:blip r:embed="rId1"/>
          <a:stretch>
            <a:fillRect/>
          </a:stretch>
        </p:blipFill>
        <p:spPr>
          <a:xfrm>
            <a:off x="822960" y="1920240"/>
            <a:ext cx="713232" cy="713232"/>
          </a:xfrm>
          <a:prstGeom prst="rect">
            <a:avLst/>
          </a:prstGeom>
        </p:spPr>
      </p:pic>
      <p:pic>
        <p:nvPicPr>
          <p:cNvPr id="7" name="Image 1" descr="preencoded.png">    </p:cNvPr>
          <p:cNvPicPr>
            <a:picLocks noChangeAspect="1"/>
          </p:cNvPicPr>
          <p:nvPr/>
        </p:nvPicPr>
        <p:blipFill>
          <a:blip r:embed="rId2"/>
          <a:stretch>
            <a:fillRect/>
          </a:stretch>
        </p:blipFill>
        <p:spPr>
          <a:xfrm>
            <a:off x="994136" y="2091416"/>
            <a:ext cx="370881" cy="370881"/>
          </a:xfrm>
          <a:prstGeom prst="rect">
            <a:avLst/>
          </a:prstGeom>
        </p:spPr>
      </p:pic>
      <p:sp>
        <p:nvSpPr>
          <p:cNvPr id="8" name="Text 4"/>
          <p:cNvSpPr txBox="1"/>
          <p:nvPr/>
        </p:nvSpPr>
        <p:spPr>
          <a:xfrm>
            <a:off x="1691640"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0B3A9E"/>
                </a:solidFill>
                <a:latin typeface="Meiryo UI" pitchFamily="34" charset="0"/>
                <a:ea typeface="Meiryo UI" pitchFamily="34" charset="-122"/>
                <a:cs typeface="Meiryo UI" pitchFamily="34" charset="-120"/>
              </a:rPr>
              <a:t>STEP 1</a:t>
            </a:r>
            <a:endParaRPr lang="en-US" sz="1300" dirty="0"/>
          </a:p>
        </p:txBody>
      </p:sp>
      <p:sp>
        <p:nvSpPr>
          <p:cNvPr id="9" name="Text 5"/>
          <p:cNvSpPr txBox="1"/>
          <p:nvPr/>
        </p:nvSpPr>
        <p:spPr>
          <a:xfrm>
            <a:off x="822960"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愛媛で実践</a:t>
            </a:r>
            <a:endParaRPr lang="en-US" sz="2100" dirty="0"/>
          </a:p>
        </p:txBody>
      </p:sp>
      <p:sp>
        <p:nvSpPr>
          <p:cNvPr id="10" name="Text 6"/>
          <p:cNvSpPr txBox="1"/>
          <p:nvPr/>
        </p:nvSpPr>
        <p:spPr>
          <a:xfrm>
            <a:off x="822960"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B型を第一歩に、</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放デイ・児童クラブ・</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就労をつなぐ</a:t>
            </a:r>
            <a:endParaRPr lang="en-US" sz="1300" dirty="0"/>
          </a:p>
        </p:txBody>
      </p:sp>
      <p:sp>
        <p:nvSpPr>
          <p:cNvPr id="11" name="Shape 7"/>
          <p:cNvSpPr/>
          <p:nvPr/>
        </p:nvSpPr>
        <p:spPr>
          <a:xfrm>
            <a:off x="3206953" y="3040380"/>
            <a:ext cx="118872" cy="274320"/>
          </a:xfrm>
          <a:prstGeom prst="chevron">
            <a:avLst/>
          </a:prstGeom>
          <a:solidFill>
            <a:srgbClr val="B9CCF2"/>
          </a:solidFill>
          <a:ln w="6350">
            <a:solidFill>
              <a:srgbClr val="B9CCF2"/>
            </a:solidFill>
            <a:prstDash val="solid"/>
          </a:ln>
        </p:spPr>
      </p:sp>
      <p:sp>
        <p:nvSpPr>
          <p:cNvPr id="12" name="Shape 8"/>
          <p:cNvSpPr/>
          <p:nvPr/>
        </p:nvSpPr>
        <p:spPr>
          <a:xfrm>
            <a:off x="3378098"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13" name="Image 2" descr="/home/user/-/presentation/candidates/assets/orb_2.png">    </p:cNvPr>
          <p:cNvPicPr>
            <a:picLocks noChangeAspect="1"/>
          </p:cNvPicPr>
          <p:nvPr/>
        </p:nvPicPr>
        <p:blipFill>
          <a:blip r:embed="rId3"/>
          <a:stretch>
            <a:fillRect/>
          </a:stretch>
        </p:blipFill>
        <p:spPr>
          <a:xfrm>
            <a:off x="3652418" y="1920240"/>
            <a:ext cx="713232" cy="713232"/>
          </a:xfrm>
          <a:prstGeom prst="rect">
            <a:avLst/>
          </a:prstGeom>
        </p:spPr>
      </p:pic>
      <p:pic>
        <p:nvPicPr>
          <p:cNvPr id="14" name="Image 3" descr="preencoded.png">    </p:cNvPr>
          <p:cNvPicPr>
            <a:picLocks noChangeAspect="1"/>
          </p:cNvPicPr>
          <p:nvPr/>
        </p:nvPicPr>
        <p:blipFill>
          <a:blip r:embed="rId4"/>
          <a:stretch>
            <a:fillRect/>
          </a:stretch>
        </p:blipFill>
        <p:spPr>
          <a:xfrm>
            <a:off x="3823594" y="2091416"/>
            <a:ext cx="370881" cy="370881"/>
          </a:xfrm>
          <a:prstGeom prst="rect">
            <a:avLst/>
          </a:prstGeom>
        </p:spPr>
      </p:pic>
      <p:sp>
        <p:nvSpPr>
          <p:cNvPr id="15" name="Text 9"/>
          <p:cNvSpPr txBox="1"/>
          <p:nvPr/>
        </p:nvSpPr>
        <p:spPr>
          <a:xfrm>
            <a:off x="4521098"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76AA6"/>
                </a:solidFill>
                <a:latin typeface="Meiryo UI" pitchFamily="34" charset="0"/>
                <a:ea typeface="Meiryo UI" pitchFamily="34" charset="-122"/>
                <a:cs typeface="Meiryo UI" pitchFamily="34" charset="-120"/>
              </a:rPr>
              <a:t>STEP 2</a:t>
            </a:r>
            <a:endParaRPr lang="en-US" sz="1300" dirty="0"/>
          </a:p>
        </p:txBody>
      </p:sp>
      <p:sp>
        <p:nvSpPr>
          <p:cNvPr id="16" name="Text 10"/>
          <p:cNvSpPr txBox="1"/>
          <p:nvPr/>
        </p:nvSpPr>
        <p:spPr>
          <a:xfrm>
            <a:off x="3652418"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四国支社</a:t>
            </a:r>
            <a:endParaRPr lang="en-US" sz="2100" dirty="0"/>
          </a:p>
        </p:txBody>
      </p:sp>
      <p:sp>
        <p:nvSpPr>
          <p:cNvPr id="17" name="Text 11"/>
          <p:cNvSpPr txBox="1"/>
          <p:nvPr/>
        </p:nvSpPr>
        <p:spPr>
          <a:xfrm>
            <a:off x="3652418"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愛媛から四国全域へ</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（インドネシアの特定技能</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等の人材も含めて）</a:t>
            </a:r>
            <a:endParaRPr lang="en-US" sz="1300" dirty="0"/>
          </a:p>
        </p:txBody>
      </p:sp>
      <p:sp>
        <p:nvSpPr>
          <p:cNvPr id="18" name="Shape 12"/>
          <p:cNvSpPr/>
          <p:nvPr/>
        </p:nvSpPr>
        <p:spPr>
          <a:xfrm>
            <a:off x="6036412" y="3040380"/>
            <a:ext cx="118872" cy="274320"/>
          </a:xfrm>
          <a:prstGeom prst="chevron">
            <a:avLst/>
          </a:prstGeom>
          <a:solidFill>
            <a:srgbClr val="B9CCF2"/>
          </a:solidFill>
          <a:ln w="6350">
            <a:solidFill>
              <a:srgbClr val="B9CCF2"/>
            </a:solidFill>
            <a:prstDash val="solid"/>
          </a:ln>
        </p:spPr>
      </p:sp>
      <p:sp>
        <p:nvSpPr>
          <p:cNvPr id="19" name="Shape 13"/>
          <p:cNvSpPr/>
          <p:nvPr/>
        </p:nvSpPr>
        <p:spPr>
          <a:xfrm>
            <a:off x="6207557"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20" name="Image 4" descr="/home/user/-/presentation/candidates/assets/orb_4.png">    </p:cNvPr>
          <p:cNvPicPr>
            <a:picLocks noChangeAspect="1"/>
          </p:cNvPicPr>
          <p:nvPr/>
        </p:nvPicPr>
        <p:blipFill>
          <a:blip r:embed="rId5"/>
          <a:stretch>
            <a:fillRect/>
          </a:stretch>
        </p:blipFill>
        <p:spPr>
          <a:xfrm>
            <a:off x="6481877" y="1920240"/>
            <a:ext cx="713232" cy="713232"/>
          </a:xfrm>
          <a:prstGeom prst="rect">
            <a:avLst/>
          </a:prstGeom>
        </p:spPr>
      </p:pic>
      <p:pic>
        <p:nvPicPr>
          <p:cNvPr id="21" name="Image 5" descr="preencoded.png">    </p:cNvPr>
          <p:cNvPicPr>
            <a:picLocks noChangeAspect="1"/>
          </p:cNvPicPr>
          <p:nvPr/>
        </p:nvPicPr>
        <p:blipFill>
          <a:blip r:embed="rId6"/>
          <a:stretch>
            <a:fillRect/>
          </a:stretch>
        </p:blipFill>
        <p:spPr>
          <a:xfrm>
            <a:off x="6653052" y="2091416"/>
            <a:ext cx="370881" cy="370881"/>
          </a:xfrm>
          <a:prstGeom prst="rect">
            <a:avLst/>
          </a:prstGeom>
        </p:spPr>
      </p:pic>
      <p:sp>
        <p:nvSpPr>
          <p:cNvPr id="22" name="Text 14"/>
          <p:cNvSpPr txBox="1"/>
          <p:nvPr/>
        </p:nvSpPr>
        <p:spPr>
          <a:xfrm>
            <a:off x="7350557"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4B3BC9"/>
                </a:solidFill>
                <a:latin typeface="Meiryo UI" pitchFamily="34" charset="0"/>
                <a:ea typeface="Meiryo UI" pitchFamily="34" charset="-122"/>
                <a:cs typeface="Meiryo UI" pitchFamily="34" charset="-120"/>
              </a:rPr>
              <a:t>STEP 3</a:t>
            </a:r>
            <a:endParaRPr lang="en-US" sz="1300" dirty="0"/>
          </a:p>
        </p:txBody>
      </p:sp>
      <p:sp>
        <p:nvSpPr>
          <p:cNvPr id="23" name="Text 15"/>
          <p:cNvSpPr txBox="1"/>
          <p:nvPr/>
        </p:nvSpPr>
        <p:spPr>
          <a:xfrm>
            <a:off x="6481877"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関西・中部支社</a:t>
            </a:r>
            <a:endParaRPr lang="en-US" sz="2100" dirty="0"/>
          </a:p>
        </p:txBody>
      </p:sp>
      <p:sp>
        <p:nvSpPr>
          <p:cNvPr id="24" name="Text 16"/>
          <p:cNvSpPr txBox="1"/>
          <p:nvPr/>
        </p:nvSpPr>
        <p:spPr>
          <a:xfrm>
            <a:off x="6481877"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エリアごとの拠点を</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各地に広げていく</a:t>
            </a:r>
            <a:endParaRPr lang="en-US" sz="1300" dirty="0"/>
          </a:p>
        </p:txBody>
      </p:sp>
      <p:sp>
        <p:nvSpPr>
          <p:cNvPr id="25" name="Shape 17"/>
          <p:cNvSpPr/>
          <p:nvPr/>
        </p:nvSpPr>
        <p:spPr>
          <a:xfrm>
            <a:off x="8865870" y="3040380"/>
            <a:ext cx="118872" cy="274320"/>
          </a:xfrm>
          <a:prstGeom prst="chevron">
            <a:avLst/>
          </a:prstGeom>
          <a:solidFill>
            <a:srgbClr val="B9CCF2"/>
          </a:solidFill>
          <a:ln w="6350">
            <a:solidFill>
              <a:srgbClr val="B9CCF2"/>
            </a:solidFill>
            <a:prstDash val="solid"/>
          </a:ln>
        </p:spPr>
      </p:sp>
      <p:sp>
        <p:nvSpPr>
          <p:cNvPr id="26" name="Shape 18"/>
          <p:cNvSpPr/>
          <p:nvPr/>
        </p:nvSpPr>
        <p:spPr>
          <a:xfrm>
            <a:off x="9037015" y="1645920"/>
            <a:ext cx="2606040" cy="3063240"/>
          </a:xfrm>
          <a:prstGeom prst="roundRect">
            <a:avLst>
              <a:gd name="adj" fmla="val 5614"/>
            </a:avLst>
          </a:prstGeom>
          <a:solidFill>
            <a:srgbClr val="F4F8FF"/>
          </a:solidFill>
          <a:ln w="6350">
            <a:solidFill>
              <a:srgbClr val="F4F8FF"/>
            </a:solidFill>
            <a:prstDash val="solid"/>
          </a:ln>
          <a:effectLst>
            <a:outerShdw sx="100000" sy="100000" kx="0" ky="0" algn="bl" rotWithShape="0" blurRad="127000" dist="38100" dir="5400000">
              <a:srgbClr val="1F4FB0">
                <a:alpha val="14000"/>
              </a:srgbClr>
            </a:outerShdw>
          </a:effectLst>
        </p:spPr>
      </p:sp>
      <p:pic>
        <p:nvPicPr>
          <p:cNvPr id="27" name="Image 6" descr="/home/user/-/presentation/candidates/assets/orb_6.png">    </p:cNvPr>
          <p:cNvPicPr>
            <a:picLocks noChangeAspect="1"/>
          </p:cNvPicPr>
          <p:nvPr/>
        </p:nvPicPr>
        <p:blipFill>
          <a:blip r:embed="rId7"/>
          <a:stretch>
            <a:fillRect/>
          </a:stretch>
        </p:blipFill>
        <p:spPr>
          <a:xfrm>
            <a:off x="9311335" y="1920240"/>
            <a:ext cx="713232" cy="713232"/>
          </a:xfrm>
          <a:prstGeom prst="rect">
            <a:avLst/>
          </a:prstGeom>
        </p:spPr>
      </p:pic>
      <p:pic>
        <p:nvPicPr>
          <p:cNvPr id="28" name="Image 7" descr="preencoded.png">    </p:cNvPr>
          <p:cNvPicPr>
            <a:picLocks noChangeAspect="1"/>
          </p:cNvPicPr>
          <p:nvPr/>
        </p:nvPicPr>
        <p:blipFill>
          <a:blip r:embed="rId8"/>
          <a:stretch>
            <a:fillRect/>
          </a:stretch>
        </p:blipFill>
        <p:spPr>
          <a:xfrm>
            <a:off x="9482511" y="2091416"/>
            <a:ext cx="370881" cy="370881"/>
          </a:xfrm>
          <a:prstGeom prst="rect">
            <a:avLst/>
          </a:prstGeom>
        </p:spPr>
      </p:pic>
      <p:sp>
        <p:nvSpPr>
          <p:cNvPr id="29" name="Text 19"/>
          <p:cNvSpPr txBox="1"/>
          <p:nvPr/>
        </p:nvSpPr>
        <p:spPr>
          <a:xfrm>
            <a:off x="10180015"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8E3FB8"/>
                </a:solidFill>
                <a:latin typeface="Meiryo UI" pitchFamily="34" charset="0"/>
                <a:ea typeface="Meiryo UI" pitchFamily="34" charset="-122"/>
                <a:cs typeface="Meiryo UI" pitchFamily="34" charset="-120"/>
              </a:rPr>
              <a:t>GOAL</a:t>
            </a:r>
            <a:endParaRPr lang="en-US" sz="1300" dirty="0"/>
          </a:p>
        </p:txBody>
      </p:sp>
      <p:sp>
        <p:nvSpPr>
          <p:cNvPr id="30" name="Text 20"/>
          <p:cNvSpPr txBox="1"/>
          <p:nvPr/>
        </p:nvSpPr>
        <p:spPr>
          <a:xfrm>
            <a:off x="9311335"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全国へ</a:t>
            </a:r>
            <a:endParaRPr lang="en-US" sz="2100" dirty="0"/>
          </a:p>
        </p:txBody>
      </p:sp>
      <p:sp>
        <p:nvSpPr>
          <p:cNvPr id="31" name="Text 21"/>
          <p:cNvSpPr txBox="1"/>
          <p:nvPr/>
        </p:nvSpPr>
        <p:spPr>
          <a:xfrm>
            <a:off x="9311335"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全国にキャレオスの</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トータルサポートを</a:t>
            </a:r>
            <a:endParaRPr lang="en-US" sz="1300" dirty="0"/>
          </a:p>
        </p:txBody>
      </p:sp>
      <p:sp>
        <p:nvSpPr>
          <p:cNvPr id="32" name="Shape 22"/>
          <p:cNvSpPr/>
          <p:nvPr/>
        </p:nvSpPr>
        <p:spPr>
          <a:xfrm>
            <a:off x="548640" y="4983480"/>
            <a:ext cx="11094415" cy="868680"/>
          </a:xfrm>
          <a:prstGeom prst="roundRect">
            <a:avLst>
              <a:gd name="adj" fmla="val 16842"/>
            </a:avLst>
          </a:prstGeom>
          <a:solidFill>
            <a:srgbClr val="EAF0FE"/>
          </a:solidFill>
          <a:ln w="6350">
            <a:solidFill>
              <a:srgbClr val="EAF0FE"/>
            </a:solidFill>
            <a:prstDash val="solid"/>
          </a:ln>
        </p:spPr>
      </p:sp>
      <p:pic>
        <p:nvPicPr>
          <p:cNvPr id="33" name="Image 8" descr="/home/user/-/presentation/candidates/assets/orb_5.png">    </p:cNvPr>
          <p:cNvPicPr>
            <a:picLocks noChangeAspect="1"/>
          </p:cNvPicPr>
          <p:nvPr/>
        </p:nvPicPr>
        <p:blipFill>
          <a:blip r:embed="rId9"/>
          <a:stretch>
            <a:fillRect/>
          </a:stretch>
        </p:blipFill>
        <p:spPr>
          <a:xfrm>
            <a:off x="868680" y="5308092"/>
            <a:ext cx="219456" cy="219456"/>
          </a:xfrm>
          <a:prstGeom prst="rect">
            <a:avLst/>
          </a:prstGeom>
        </p:spPr>
      </p:pic>
      <p:sp>
        <p:nvSpPr>
          <p:cNvPr id="34" name="Text 23"/>
          <p:cNvSpPr txBox="1"/>
          <p:nvPr/>
        </p:nvSpPr>
        <p:spPr>
          <a:xfrm>
            <a:off x="1261872" y="4983480"/>
            <a:ext cx="10088575" cy="868680"/>
          </a:xfrm>
          <a:prstGeom prst="rect">
            <a:avLst/>
          </a:prstGeom>
          <a:noFill/>
          <a:ln/>
        </p:spPr>
        <p:txBody>
          <a:bodyPr wrap="square" lIns="0" tIns="0" rIns="0" bIns="0" rtlCol="0" anchor="ctr"/>
          <a:lstStyle/>
          <a:p>
            <a:pPr indent="0" marL="0">
              <a:lnSpc>
                <a:spcPts val="2470"/>
              </a:lnSpc>
              <a:buNone/>
            </a:pPr>
            <a:r>
              <a:rPr lang="en-US" sz="1900" b="1" dirty="0">
                <a:solidFill>
                  <a:srgbClr val="0B3A9E"/>
                </a:solidFill>
                <a:latin typeface="Meiryo UI" pitchFamily="34" charset="0"/>
                <a:ea typeface="Meiryo UI" pitchFamily="34" charset="-122"/>
                <a:cs typeface="Meiryo UI" pitchFamily="34" charset="-120"/>
              </a:rPr>
              <a:t>まだキャレオスにいない人材・ポジション。そこを確立させることに価値がある。</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67512" y="1901952"/>
            <a:ext cx="6400800" cy="292608"/>
          </a:xfrm>
          <a:prstGeom prst="rect">
            <a:avLst/>
          </a:prstGeom>
          <a:noFill/>
          <a:ln/>
        </p:spPr>
        <p:txBody>
          <a:bodyPr wrap="square" lIns="0" tIns="0" rIns="0" bIns="0" rtlCol="0" anchor="ctr"/>
          <a:lstStyle/>
          <a:p>
            <a:pPr indent="0" marL="0">
              <a:lnSpc>
                <a:spcPts val="1300"/>
              </a:lnSpc>
              <a:buNone/>
            </a:pPr>
            <a:r>
              <a:rPr lang="en-US" sz="1300" b="1" spc="500" kern="0" dirty="0">
                <a:solidFill>
                  <a:srgbClr val="3F6FC6"/>
                </a:solidFill>
                <a:latin typeface="Meiryo UI" pitchFamily="34" charset="0"/>
                <a:ea typeface="Meiryo UI" pitchFamily="34" charset="-122"/>
                <a:cs typeface="Meiryo UI" pitchFamily="34" charset="-120"/>
              </a:rPr>
              <a:t>CROSS-BORDER CAREER PATH</a:t>
            </a:r>
            <a:endParaRPr lang="en-US" sz="1300" dirty="0"/>
          </a:p>
        </p:txBody>
      </p:sp>
      <p:sp>
        <p:nvSpPr>
          <p:cNvPr id="3" name="Text 1"/>
          <p:cNvSpPr txBox="1"/>
          <p:nvPr/>
        </p:nvSpPr>
        <p:spPr>
          <a:xfrm>
            <a:off x="667512" y="2212848"/>
            <a:ext cx="6858000" cy="329184"/>
          </a:xfrm>
          <a:prstGeom prst="rect">
            <a:avLst/>
          </a:prstGeom>
          <a:noFill/>
          <a:ln/>
        </p:spPr>
        <p:txBody>
          <a:bodyPr wrap="square" lIns="0" tIns="0" rIns="0" bIns="0" rtlCol="0" anchor="ctr"/>
          <a:lstStyle/>
          <a:p>
            <a:pPr indent="0" marL="0">
              <a:lnSpc>
                <a:spcPts val="1760"/>
              </a:lnSpc>
              <a:buNone/>
            </a:pPr>
            <a:r>
              <a:rPr lang="en-US" sz="1600" dirty="0">
                <a:solidFill>
                  <a:srgbClr val="2D4C8A"/>
                </a:solidFill>
                <a:latin typeface="Meiryo UI" pitchFamily="34" charset="0"/>
                <a:ea typeface="Meiryo UI" pitchFamily="34" charset="-122"/>
                <a:cs typeface="Meiryo UI" pitchFamily="34" charset="-120"/>
              </a:rPr>
              <a:t>その始まりを、愛媛で実践する人材に。</a:t>
            </a:r>
            <a:endParaRPr lang="en-US" sz="1600" dirty="0"/>
          </a:p>
        </p:txBody>
      </p:sp>
      <p:sp>
        <p:nvSpPr>
          <p:cNvPr id="4" name="Text 2"/>
          <p:cNvSpPr txBox="1"/>
          <p:nvPr/>
        </p:nvSpPr>
        <p:spPr>
          <a:xfrm>
            <a:off x="667512" y="2606040"/>
            <a:ext cx="6766560" cy="1554480"/>
          </a:xfrm>
          <a:prstGeom prst="rect">
            <a:avLst/>
          </a:prstGeom>
          <a:noFill/>
          <a:ln/>
        </p:spPr>
        <p:txBody>
          <a:bodyPr wrap="square" lIns="0" tIns="0" rIns="0" bIns="0" rtlCol="0" anchor="t"/>
          <a:lstStyle/>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全国に</a:t>
            </a:r>
            <a:endParaRPr lang="en-US" sz="4600" dirty="0"/>
          </a:p>
          <a:p>
            <a:pPr indent="0" marL="0">
              <a:lnSpc>
                <a:spcPts val="5610"/>
              </a:lnSpc>
              <a:buNone/>
            </a:pPr>
            <a:r>
              <a:rPr lang="en-US" sz="4600" b="1" dirty="0">
                <a:solidFill>
                  <a:srgbClr val="0B3A9E"/>
                </a:solidFill>
                <a:latin typeface="Meiryo UI" pitchFamily="34" charset="0"/>
                <a:ea typeface="Meiryo UI" pitchFamily="34" charset="-122"/>
                <a:cs typeface="Meiryo UI" pitchFamily="34" charset="-120"/>
              </a:rPr>
              <a:t>トータルサポートを。</a:t>
            </a:r>
            <a:endParaRPr lang="en-US" sz="4600" dirty="0"/>
          </a:p>
        </p:txBody>
      </p:sp>
      <p:sp>
        <p:nvSpPr>
          <p:cNvPr id="5" name="Text 3"/>
          <p:cNvSpPr txBox="1"/>
          <p:nvPr/>
        </p:nvSpPr>
        <p:spPr>
          <a:xfrm>
            <a:off x="8595360" y="3931920"/>
            <a:ext cx="3047695" cy="914400"/>
          </a:xfrm>
          <a:prstGeom prst="rect">
            <a:avLst/>
          </a:prstGeom>
          <a:noFill/>
          <a:ln/>
        </p:spPr>
        <p:txBody>
          <a:bodyPr wrap="square" lIns="0" tIns="0" rIns="0" bIns="0" rtlCol="0" anchor="t"/>
          <a:lstStyle/>
          <a:p>
            <a:pPr indent="0" marL="0">
              <a:lnSpc>
                <a:spcPts val="2850"/>
              </a:lnSpc>
              <a:buNone/>
            </a:pPr>
            <a:r>
              <a:rPr lang="en-US" sz="1900" dirty="0">
                <a:solidFill>
                  <a:srgbClr val="0B3A9E"/>
                </a:solidFill>
                <a:latin typeface="Meiryo UI" pitchFamily="34" charset="0"/>
                <a:ea typeface="Meiryo UI" pitchFamily="34" charset="-122"/>
                <a:cs typeface="Meiryo UI" pitchFamily="34" charset="-120"/>
              </a:rPr>
              <a:t>ご清聴</a:t>
            </a:r>
            <a:endParaRPr lang="en-US" sz="1900" dirty="0"/>
          </a:p>
          <a:p>
            <a:pPr indent="0" marL="0">
              <a:lnSpc>
                <a:spcPts val="2850"/>
              </a:lnSpc>
              <a:buNone/>
            </a:pPr>
            <a:r>
              <a:rPr lang="en-US" sz="1900" dirty="0">
                <a:solidFill>
                  <a:srgbClr val="0B3A9E"/>
                </a:solidFill>
                <a:latin typeface="Meiryo UI" pitchFamily="34" charset="0"/>
                <a:ea typeface="Meiryo UI" pitchFamily="34" charset="-122"/>
                <a:cs typeface="Meiryo UI" pitchFamily="34" charset="-120"/>
              </a:rPr>
              <a:t>　ありがとうございました</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全国にトータルサポートを。</dc:title>
  <dc:subject>PptxGenJS Presentation</dc:subject>
  <dc:creator>PptxGenJS</dc:creator>
  <cp:lastModifiedBy>PptxGenJS</cp:lastModifiedBy>
  <cp:revision>1</cp:revision>
  <dcterms:created xsi:type="dcterms:W3CDTF">2026-09-30T05:33:24Z</dcterms:created>
  <dcterms:modified xsi:type="dcterms:W3CDTF">2026-09-30T05:33:24Z</dcterms:modified>
</cp:coreProperties>
</file>