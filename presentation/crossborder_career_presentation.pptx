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本日は「全国にトータルサポートを。」というテーマで、クロスボーダーキャリアパスの候補生として、私がこれから何をしていきたいかをお話しします。（約15秒）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2019年に入社し、奈良津1組で放課後等デイサービスの現場を経験しました。2024年に愛媛県今治市の日吉へ異動、そして今月、西条へ異動し、管理者兼エリアマネージャーとして愛媛エリアを担っています。（約30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つ目のきっかけは保護者の声です。異動先ではさまざまな困難もありましたが、愛媛の地にもキャレオス、夢門塾はあり、利用者の居場所として確立していました。そんな中、高校生になる利用者の保護者から「ゆうゆうを卒業したあとがとても不安」「愛媛にキャレオスの就労があったらとっても安心する」という言葉をいただきました。嬉しい一方で、胸の痛む言葉でした。（約40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つ目は、サービス支給量の決定基準の制定です。支給日数の上限が手帳や個別サポートの有無で決まるようになり、日数を減らされた方から「お留守番ができるのか」「行き場が見つからない」「放デイ利用中を理由に児童クラブを断られた」という不安の声が聞かれました。キャレオスには放課後児童クラブの委託事業があり、愛媛でも参入の機会があると考えました。（約40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つ目は、愛媛でナンバーワンになるためです。愛媛には来島会のように、児童から就労、介護まで多数展開する法人があります。総量規制や人口減少の中で選ばれ続けるには、同等以上のトータルサポートを地域に根差して提供する必要があります。（約30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スボーダーで関わりたいのは、第三管理部の事業開発課・地域共創係と、マーケティング課・トータルサポート推進係です。地域共創係では、市場調査や事業計画、行政との協議といった新規事業の立ち上げ方と、自治体や地域企業、学校と関係を築く動き方を学びたいです。トータルサポート推進係では、キャレオスのトータルサポートの全体像と事業部どうしのつなぎ方、そして放課後等デイサービスから就労へ切れ目なくつなぐ導線づくりを学びたいと考えています。現場で聞いた愛媛の声と、本部の知識と動き方を掛け合わせて、自分のボーダーを越えます。（約45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体的な第一歩として、愛媛に就労継続支援B型をつくる構想を試算しました。西条市で定員20名、2027年4月開設を想定した標準シナリオでは、1日の平均利用者18人で、6か月目に単月黒字、27か月目に初期投資を回収、3年目の営業利益は約1,140万円です。ポイントは二つです。採算ラインは1日12人前後で、放デイの卒業生の受け皿になれるかが集客の土台になること。そして平均工賃1.8万円の壁を越える作業の開拓です。この試算を実際の数字で磨き上げることも、地域共創係・推進係で学びたいことです。（約45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まだ妄想の域を出ない仮構想です。まず愛媛で、B型を第一歩に、放課後等デイサービス、児童クラブ、就労をつなぐトータルサポートの形をつくります。次に四国支社として、愛媛だけでなく四国全域へ。インドネシアの特定技能などの人材も含めて考えています。そして関西支社、中部支社と、全国へ広げていく。まだキャレオスにいない人材、ポジションだからこそ、それを確立させることに価値があると思っています。（約45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ゆうゆうを卒業したあとも安心できる」と言っていただける地域をつくるために。全国にトータルサポートを届ける、その始まりを愛媛で実践する人材になります。ご清聴ありがとうございました。（約20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0" y="2217420"/>
            <a:ext cx="6583680" cy="6583680"/>
          </a:xfrm>
          <a:prstGeom prst="blockArc">
            <a:avLst>
              <a:gd name="adj1" fmla="val 10800000"/>
              <a:gd name="adj2" fmla="val 16200000"/>
              <a:gd name="adj3" fmla="val 4500"/>
            </a:avLst>
          </a:prstGeom>
          <a:solidFill>
            <a:srgbClr val="E8505B"/>
          </a:solidFill>
          <a:ln w="12700">
            <a:solidFill>
              <a:srgbClr val="E8505B"/>
            </a:solidFill>
            <a:prstDash val="solid"/>
          </a:ln>
        </p:spPr>
      </p:sp>
      <p:sp>
        <p:nvSpPr>
          <p:cNvPr id="3" name="Shape 1"/>
          <p:cNvSpPr/>
          <p:nvPr/>
        </p:nvSpPr>
        <p:spPr>
          <a:xfrm>
            <a:off x="4882896" y="2528316"/>
            <a:ext cx="5961888" cy="5961888"/>
          </a:xfrm>
          <a:prstGeom prst="blockArc">
            <a:avLst>
              <a:gd name="adj1" fmla="val 10800000"/>
              <a:gd name="adj2" fmla="val 16200000"/>
              <a:gd name="adj3" fmla="val 4500"/>
            </a:avLst>
          </a:prstGeom>
          <a:solidFill>
            <a:srgbClr val="F39C33"/>
          </a:solidFill>
          <a:ln w="12700">
            <a:solidFill>
              <a:srgbClr val="F39C33"/>
            </a:solidFill>
            <a:prstDash val="solid"/>
          </a:ln>
        </p:spPr>
      </p:sp>
      <p:sp>
        <p:nvSpPr>
          <p:cNvPr id="4" name="Shape 2"/>
          <p:cNvSpPr/>
          <p:nvPr/>
        </p:nvSpPr>
        <p:spPr>
          <a:xfrm>
            <a:off x="5193792" y="2839212"/>
            <a:ext cx="5340096" cy="5340096"/>
          </a:xfrm>
          <a:prstGeom prst="blockArc">
            <a:avLst>
              <a:gd name="adj1" fmla="val 10800000"/>
              <a:gd name="adj2" fmla="val 16200000"/>
              <a:gd name="adj3" fmla="val 4500"/>
            </a:avLst>
          </a:prstGeom>
          <a:solidFill>
            <a:srgbClr val="F2C230"/>
          </a:solidFill>
          <a:ln w="12700">
            <a:solidFill>
              <a:srgbClr val="F2C230"/>
            </a:solidFill>
            <a:prstDash val="solid"/>
          </a:ln>
        </p:spPr>
      </p:sp>
      <p:sp>
        <p:nvSpPr>
          <p:cNvPr id="5" name="Shape 3"/>
          <p:cNvSpPr/>
          <p:nvPr/>
        </p:nvSpPr>
        <p:spPr>
          <a:xfrm>
            <a:off x="5504688" y="3150108"/>
            <a:ext cx="4718304" cy="4718304"/>
          </a:xfrm>
          <a:prstGeom prst="blockArc">
            <a:avLst>
              <a:gd name="adj1" fmla="val 10800000"/>
              <a:gd name="adj2" fmla="val 16200000"/>
              <a:gd name="adj3" fmla="val 4500"/>
            </a:avLst>
          </a:prstGeom>
          <a:solidFill>
            <a:srgbClr val="5DBB63"/>
          </a:solidFill>
          <a:ln w="12700">
            <a:solidFill>
              <a:srgbClr val="5DBB63"/>
            </a:solidFill>
            <a:prstDash val="solid"/>
          </a:ln>
        </p:spPr>
      </p:sp>
      <p:sp>
        <p:nvSpPr>
          <p:cNvPr id="6" name="Shape 4"/>
          <p:cNvSpPr/>
          <p:nvPr/>
        </p:nvSpPr>
        <p:spPr>
          <a:xfrm>
            <a:off x="5815584" y="3461004"/>
            <a:ext cx="4096512" cy="4096512"/>
          </a:xfrm>
          <a:prstGeom prst="blockArc">
            <a:avLst>
              <a:gd name="adj1" fmla="val 10800000"/>
              <a:gd name="adj2" fmla="val 16200000"/>
              <a:gd name="adj3" fmla="val 4500"/>
            </a:avLst>
          </a:prstGeom>
          <a:solidFill>
            <a:srgbClr val="3FA7D6"/>
          </a:solidFill>
          <a:ln w="12700">
            <a:solidFill>
              <a:srgbClr val="3FA7D6"/>
            </a:solidFill>
            <a:prstDash val="solid"/>
          </a:ln>
        </p:spPr>
      </p:sp>
      <p:sp>
        <p:nvSpPr>
          <p:cNvPr id="7" name="Shape 5"/>
          <p:cNvSpPr/>
          <p:nvPr/>
        </p:nvSpPr>
        <p:spPr>
          <a:xfrm>
            <a:off x="6126480" y="3771900"/>
            <a:ext cx="3474720" cy="3474720"/>
          </a:xfrm>
          <a:prstGeom prst="blockArc">
            <a:avLst>
              <a:gd name="adj1" fmla="val 10800000"/>
              <a:gd name="adj2" fmla="val 16200000"/>
              <a:gd name="adj3" fmla="val 4500"/>
            </a:avLst>
          </a:prstGeom>
          <a:solidFill>
            <a:srgbClr val="4A6FC7"/>
          </a:solidFill>
          <a:ln w="12700">
            <a:solidFill>
              <a:srgbClr val="4A6FC7"/>
            </a:solidFill>
            <a:prstDash val="solid"/>
          </a:ln>
        </p:spPr>
      </p:sp>
      <p:sp>
        <p:nvSpPr>
          <p:cNvPr id="8" name="Shape 6"/>
          <p:cNvSpPr/>
          <p:nvPr/>
        </p:nvSpPr>
        <p:spPr>
          <a:xfrm>
            <a:off x="6437376" y="4082796"/>
            <a:ext cx="2852928" cy="2852928"/>
          </a:xfrm>
          <a:prstGeom prst="blockArc">
            <a:avLst>
              <a:gd name="adj1" fmla="val 10800000"/>
              <a:gd name="adj2" fmla="val 16200000"/>
              <a:gd name="adj3" fmla="val 4500"/>
            </a:avLst>
          </a:prstGeom>
          <a:solidFill>
            <a:srgbClr val="9A6BC4"/>
          </a:solidFill>
          <a:ln w="12700">
            <a:solidFill>
              <a:srgbClr val="9A6BC4"/>
            </a:solidFill>
            <a:prstDash val="solid"/>
          </a:ln>
        </p:spPr>
      </p:sp>
      <p:sp>
        <p:nvSpPr>
          <p:cNvPr id="9" name="Shape 7"/>
          <p:cNvSpPr/>
          <p:nvPr/>
        </p:nvSpPr>
        <p:spPr>
          <a:xfrm>
            <a:off x="640080" y="1234440"/>
            <a:ext cx="100584" cy="100584"/>
          </a:xfrm>
          <a:prstGeom prst="ellipse">
            <a:avLst/>
          </a:prstGeom>
          <a:solidFill>
            <a:srgbClr val="E8505B"/>
          </a:solidFill>
          <a:ln w="12700">
            <a:solidFill>
              <a:srgbClr val="E8505B"/>
            </a:solidFill>
            <a:prstDash val="solid"/>
          </a:ln>
        </p:spPr>
      </p:sp>
      <p:sp>
        <p:nvSpPr>
          <p:cNvPr id="10" name="Shape 8"/>
          <p:cNvSpPr/>
          <p:nvPr/>
        </p:nvSpPr>
        <p:spPr>
          <a:xfrm>
            <a:off x="804672" y="1234440"/>
            <a:ext cx="100584" cy="100584"/>
          </a:xfrm>
          <a:prstGeom prst="ellipse">
            <a:avLst/>
          </a:prstGeom>
          <a:solidFill>
            <a:srgbClr val="F39C33"/>
          </a:solidFill>
          <a:ln w="12700">
            <a:solidFill>
              <a:srgbClr val="F39C33"/>
            </a:solidFill>
            <a:prstDash val="solid"/>
          </a:ln>
        </p:spPr>
      </p:sp>
      <p:sp>
        <p:nvSpPr>
          <p:cNvPr id="11" name="Shape 9"/>
          <p:cNvSpPr/>
          <p:nvPr/>
        </p:nvSpPr>
        <p:spPr>
          <a:xfrm>
            <a:off x="969264" y="1234440"/>
            <a:ext cx="100584" cy="100584"/>
          </a:xfrm>
          <a:prstGeom prst="ellipse">
            <a:avLst/>
          </a:prstGeom>
          <a:solidFill>
            <a:srgbClr val="F2C230"/>
          </a:solidFill>
          <a:ln w="12700">
            <a:solidFill>
              <a:srgbClr val="F2C230"/>
            </a:solidFill>
            <a:prstDash val="solid"/>
          </a:ln>
        </p:spPr>
      </p:sp>
      <p:sp>
        <p:nvSpPr>
          <p:cNvPr id="12" name="Shape 10"/>
          <p:cNvSpPr/>
          <p:nvPr/>
        </p:nvSpPr>
        <p:spPr>
          <a:xfrm>
            <a:off x="1133856" y="1234440"/>
            <a:ext cx="100584" cy="100584"/>
          </a:xfrm>
          <a:prstGeom prst="ellipse">
            <a:avLst/>
          </a:prstGeom>
          <a:solidFill>
            <a:srgbClr val="5DBB63"/>
          </a:solidFill>
          <a:ln w="12700">
            <a:solidFill>
              <a:srgbClr val="5DBB63"/>
            </a:solidFill>
            <a:prstDash val="solid"/>
          </a:ln>
        </p:spPr>
      </p:sp>
      <p:sp>
        <p:nvSpPr>
          <p:cNvPr id="13" name="Shape 11"/>
          <p:cNvSpPr/>
          <p:nvPr/>
        </p:nvSpPr>
        <p:spPr>
          <a:xfrm>
            <a:off x="1298448" y="1234440"/>
            <a:ext cx="100584" cy="100584"/>
          </a:xfrm>
          <a:prstGeom prst="ellipse">
            <a:avLst/>
          </a:prstGeom>
          <a:solidFill>
            <a:srgbClr val="3FA7D6"/>
          </a:solidFill>
          <a:ln w="12700">
            <a:solidFill>
              <a:srgbClr val="3FA7D6"/>
            </a:solidFill>
            <a:prstDash val="solid"/>
          </a:ln>
        </p:spPr>
      </p:sp>
      <p:sp>
        <p:nvSpPr>
          <p:cNvPr id="14" name="Shape 12"/>
          <p:cNvSpPr/>
          <p:nvPr/>
        </p:nvSpPr>
        <p:spPr>
          <a:xfrm>
            <a:off x="1463040" y="1234440"/>
            <a:ext cx="100584" cy="100584"/>
          </a:xfrm>
          <a:prstGeom prst="ellipse">
            <a:avLst/>
          </a:prstGeom>
          <a:solidFill>
            <a:srgbClr val="4A6FC7"/>
          </a:solidFill>
          <a:ln w="12700">
            <a:solidFill>
              <a:srgbClr val="4A6FC7"/>
            </a:solidFill>
            <a:prstDash val="solid"/>
          </a:ln>
        </p:spPr>
      </p:sp>
      <p:sp>
        <p:nvSpPr>
          <p:cNvPr id="15" name="Shape 13"/>
          <p:cNvSpPr/>
          <p:nvPr/>
        </p:nvSpPr>
        <p:spPr>
          <a:xfrm>
            <a:off x="1627632" y="1234440"/>
            <a:ext cx="100584" cy="100584"/>
          </a:xfrm>
          <a:prstGeom prst="ellipse">
            <a:avLst/>
          </a:prstGeom>
          <a:solidFill>
            <a:srgbClr val="9A6BC4"/>
          </a:solidFill>
          <a:ln w="12700">
            <a:solidFill>
              <a:srgbClr val="9A6BC4"/>
            </a:solidFill>
            <a:prstDash val="solid"/>
          </a:ln>
        </p:spPr>
      </p:sp>
      <p:sp>
        <p:nvSpPr>
          <p:cNvPr id="16" name="Text 14"/>
          <p:cNvSpPr txBox="1"/>
          <p:nvPr/>
        </p:nvSpPr>
        <p:spPr>
          <a:xfrm>
            <a:off x="640080" y="1463040"/>
            <a:ext cx="5486400" cy="365760"/>
          </a:xfrm>
          <a:prstGeom prst="rect">
            <a:avLst/>
          </a:prstGeom>
          <a:noFill/>
          <a:ln/>
        </p:spPr>
        <p:txBody>
          <a:bodyPr wrap="square" lIns="0" tIns="0" rIns="0" bIns="0" rtlCol="0" anchor="t"/>
          <a:lstStyle/>
          <a:p>
            <a:pPr indent="0" marL="0">
              <a:buNone/>
            </a:pPr>
            <a:r>
              <a:rPr lang="en-US" sz="1400" dirty="0">
                <a:solidFill>
                  <a:srgbClr val="6B7280"/>
                </a:solidFill>
                <a:latin typeface="Meiryo UI" pitchFamily="34" charset="0"/>
                <a:ea typeface="Meiryo UI" pitchFamily="34" charset="-122"/>
                <a:cs typeface="Meiryo UI" pitchFamily="34" charset="-120"/>
              </a:rPr>
              <a:t>クロスボーダーキャリアパス　候補生発表</a:t>
            </a:r>
            <a:endParaRPr lang="en-US" sz="1400" dirty="0"/>
          </a:p>
        </p:txBody>
      </p:sp>
      <p:sp>
        <p:nvSpPr>
          <p:cNvPr id="17" name="Text 15"/>
          <p:cNvSpPr txBox="1"/>
          <p:nvPr/>
        </p:nvSpPr>
        <p:spPr>
          <a:xfrm>
            <a:off x="640080" y="1874520"/>
            <a:ext cx="5669280" cy="1554480"/>
          </a:xfrm>
          <a:prstGeom prst="rect">
            <a:avLst/>
          </a:prstGeom>
          <a:noFill/>
          <a:ln/>
        </p:spPr>
        <p:txBody>
          <a:bodyPr wrap="square" lIns="0" tIns="0" rIns="0" bIns="0" rtlCol="0" anchor="t"/>
          <a:lstStyle/>
          <a:p>
            <a:pPr indent="0" marL="0">
              <a:lnSpc>
                <a:spcPct val="105000"/>
              </a:lnSpc>
              <a:buNone/>
            </a:pPr>
            <a:r>
              <a:rPr lang="en-US" sz="4000" b="1" dirty="0">
                <a:solidFill>
                  <a:srgbClr val="2E3440"/>
                </a:solidFill>
                <a:latin typeface="Meiryo UI" pitchFamily="34" charset="0"/>
                <a:ea typeface="Meiryo UI" pitchFamily="34" charset="-122"/>
                <a:cs typeface="Meiryo UI" pitchFamily="34" charset="-120"/>
              </a:rPr>
              <a:t>全国に</a:t>
            </a:r>
            <a:endParaRPr lang="en-US" sz="4000" dirty="0"/>
          </a:p>
          <a:p>
            <a:pPr indent="0" marL="0">
              <a:lnSpc>
                <a:spcPct val="105000"/>
              </a:lnSpc>
              <a:buNone/>
            </a:pPr>
            <a:r>
              <a:rPr lang="en-US" sz="4000" b="1" dirty="0">
                <a:solidFill>
                  <a:srgbClr val="2E3440"/>
                </a:solidFill>
                <a:latin typeface="Meiryo UI" pitchFamily="34" charset="0"/>
                <a:ea typeface="Meiryo UI" pitchFamily="34" charset="-122"/>
                <a:cs typeface="Meiryo UI" pitchFamily="34" charset="-120"/>
              </a:rPr>
              <a:t>トータルサポートを。</a:t>
            </a:r>
            <a:endParaRPr lang="en-US" sz="4000" dirty="0"/>
          </a:p>
        </p:txBody>
      </p:sp>
      <p:sp>
        <p:nvSpPr>
          <p:cNvPr id="18" name="Text 16"/>
          <p:cNvSpPr txBox="1"/>
          <p:nvPr/>
        </p:nvSpPr>
        <p:spPr>
          <a:xfrm>
            <a:off x="640080" y="3474720"/>
            <a:ext cx="5486400" cy="411480"/>
          </a:xfrm>
          <a:prstGeom prst="rect">
            <a:avLst/>
          </a:prstGeom>
          <a:noFill/>
          <a:ln/>
        </p:spPr>
        <p:txBody>
          <a:bodyPr wrap="square" lIns="0" tIns="0" rIns="0" bIns="0" rtlCol="0" anchor="t"/>
          <a:lstStyle/>
          <a:p>
            <a:pPr indent="0" marL="0">
              <a:buNone/>
            </a:pPr>
            <a:r>
              <a:rPr lang="en-US" sz="1800" b="1" dirty="0">
                <a:solidFill>
                  <a:srgbClr val="4A6FC7"/>
                </a:solidFill>
                <a:latin typeface="Meiryo UI" pitchFamily="34" charset="0"/>
                <a:ea typeface="Meiryo UI" pitchFamily="34" charset="-122"/>
                <a:cs typeface="Meiryo UI" pitchFamily="34" charset="-120"/>
              </a:rPr>
              <a:t>その始まりを、愛媛から。</a:t>
            </a:r>
            <a:endParaRPr lang="en-US" sz="1800" dirty="0"/>
          </a:p>
        </p:txBody>
      </p:sp>
      <p:sp>
        <p:nvSpPr>
          <p:cNvPr id="19" name="Text 17"/>
          <p:cNvSpPr txBox="1"/>
          <p:nvPr/>
        </p:nvSpPr>
        <p:spPr>
          <a:xfrm>
            <a:off x="640080" y="4114800"/>
            <a:ext cx="5486400" cy="548640"/>
          </a:xfrm>
          <a:prstGeom prst="rect">
            <a:avLst/>
          </a:prstGeom>
          <a:noFill/>
          <a:ln/>
        </p:spPr>
        <p:txBody>
          <a:bodyPr wrap="square" lIns="0" tIns="0" rIns="0" bIns="0" rtlCol="0" anchor="t"/>
          <a:lstStyle/>
          <a:p>
            <a:pPr indent="0" marL="0">
              <a:buNone/>
            </a:pPr>
            <a:r>
              <a:rPr lang="en-US" sz="1200" dirty="0">
                <a:solidFill>
                  <a:srgbClr val="6B7280"/>
                </a:solidFill>
                <a:latin typeface="Meiryo UI" pitchFamily="34" charset="0"/>
                <a:ea typeface="Meiryo UI" pitchFamily="34" charset="-122"/>
                <a:cs typeface="Meiryo UI" pitchFamily="34" charset="-120"/>
              </a:rPr>
              <a:t>放課後等デイサービス　管理者 兼 エリアマネージャー</a:t>
            </a:r>
            <a:endParaRPr lang="en-US" sz="1200" dirty="0"/>
          </a:p>
          <a:p>
            <a:pPr indent="0" marL="0">
              <a:buNone/>
            </a:pPr>
            <a:r>
              <a:rPr lang="en-US" sz="1200" dirty="0">
                <a:solidFill>
                  <a:srgbClr val="6B7280"/>
                </a:solidFill>
                <a:latin typeface="Meiryo UI" pitchFamily="34" charset="0"/>
                <a:ea typeface="Meiryo UI" pitchFamily="34" charset="-122"/>
                <a:cs typeface="Meiryo UI" pitchFamily="34" charset="-120"/>
              </a:rPr>
              <a:t>夢門塾ゆうゆう西条</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ellipse">
            <a:avLst/>
          </a:prstGeom>
          <a:solidFill>
            <a:srgbClr val="E8505B"/>
          </a:solidFill>
          <a:ln w="12700">
            <a:solidFill>
              <a:srgbClr val="E8505B"/>
            </a:solidFill>
            <a:prstDash val="solid"/>
          </a:ln>
        </p:spPr>
      </p:sp>
      <p:sp>
        <p:nvSpPr>
          <p:cNvPr id="3" name="Shape 1"/>
          <p:cNvSpPr/>
          <p:nvPr/>
        </p:nvSpPr>
        <p:spPr>
          <a:xfrm>
            <a:off x="621792" y="384048"/>
            <a:ext cx="100584" cy="100584"/>
          </a:xfrm>
          <a:prstGeom prst="ellipse">
            <a:avLst/>
          </a:prstGeom>
          <a:solidFill>
            <a:srgbClr val="F39C33"/>
          </a:solidFill>
          <a:ln w="12700">
            <a:solidFill>
              <a:srgbClr val="F39C33"/>
            </a:solidFill>
            <a:prstDash val="solid"/>
          </a:ln>
        </p:spPr>
      </p:sp>
      <p:sp>
        <p:nvSpPr>
          <p:cNvPr id="4" name="Shape 2"/>
          <p:cNvSpPr/>
          <p:nvPr/>
        </p:nvSpPr>
        <p:spPr>
          <a:xfrm>
            <a:off x="786384" y="384048"/>
            <a:ext cx="100584" cy="100584"/>
          </a:xfrm>
          <a:prstGeom prst="ellipse">
            <a:avLst/>
          </a:prstGeom>
          <a:solidFill>
            <a:srgbClr val="F2C230"/>
          </a:solidFill>
          <a:ln w="12700">
            <a:solidFill>
              <a:srgbClr val="F2C230"/>
            </a:solidFill>
            <a:prstDash val="solid"/>
          </a:ln>
        </p:spPr>
      </p:sp>
      <p:sp>
        <p:nvSpPr>
          <p:cNvPr id="5" name="Shape 3"/>
          <p:cNvSpPr/>
          <p:nvPr/>
        </p:nvSpPr>
        <p:spPr>
          <a:xfrm>
            <a:off x="950976" y="384048"/>
            <a:ext cx="100584" cy="100584"/>
          </a:xfrm>
          <a:prstGeom prst="ellipse">
            <a:avLst/>
          </a:prstGeom>
          <a:solidFill>
            <a:srgbClr val="5DBB63"/>
          </a:solidFill>
          <a:ln w="12700">
            <a:solidFill>
              <a:srgbClr val="5DBB63"/>
            </a:solidFill>
            <a:prstDash val="solid"/>
          </a:ln>
        </p:spPr>
      </p:sp>
      <p:sp>
        <p:nvSpPr>
          <p:cNvPr id="6" name="Shape 4"/>
          <p:cNvSpPr/>
          <p:nvPr/>
        </p:nvSpPr>
        <p:spPr>
          <a:xfrm>
            <a:off x="1115568" y="384048"/>
            <a:ext cx="100584" cy="100584"/>
          </a:xfrm>
          <a:prstGeom prst="ellipse">
            <a:avLst/>
          </a:prstGeom>
          <a:solidFill>
            <a:srgbClr val="3FA7D6"/>
          </a:solidFill>
          <a:ln w="12700">
            <a:solidFill>
              <a:srgbClr val="3FA7D6"/>
            </a:solidFill>
            <a:prstDash val="solid"/>
          </a:ln>
        </p:spPr>
      </p:sp>
      <p:sp>
        <p:nvSpPr>
          <p:cNvPr id="7" name="Shape 5"/>
          <p:cNvSpPr/>
          <p:nvPr/>
        </p:nvSpPr>
        <p:spPr>
          <a:xfrm>
            <a:off x="1280160" y="384048"/>
            <a:ext cx="100584" cy="100584"/>
          </a:xfrm>
          <a:prstGeom prst="ellipse">
            <a:avLst/>
          </a:prstGeom>
          <a:solidFill>
            <a:srgbClr val="4A6FC7"/>
          </a:solidFill>
          <a:ln w="12700">
            <a:solidFill>
              <a:srgbClr val="4A6FC7"/>
            </a:solidFill>
            <a:prstDash val="solid"/>
          </a:ln>
        </p:spPr>
      </p:sp>
      <p:sp>
        <p:nvSpPr>
          <p:cNvPr id="8" name="Shape 6"/>
          <p:cNvSpPr/>
          <p:nvPr/>
        </p:nvSpPr>
        <p:spPr>
          <a:xfrm>
            <a:off x="1444752" y="384048"/>
            <a:ext cx="100584" cy="100584"/>
          </a:xfrm>
          <a:prstGeom prst="ellipse">
            <a:avLst/>
          </a:prstGeom>
          <a:solidFill>
            <a:srgbClr val="9A6BC4"/>
          </a:solidFill>
          <a:ln w="12700">
            <a:solidFill>
              <a:srgbClr val="9A6BC4"/>
            </a:solidFill>
            <a:prstDash val="solid"/>
          </a:ln>
        </p:spPr>
      </p:sp>
      <p:sp>
        <p:nvSpPr>
          <p:cNvPr id="9" name="Text 7"/>
          <p:cNvSpPr txBox="1"/>
          <p:nvPr/>
        </p:nvSpPr>
        <p:spPr>
          <a:xfrm>
            <a:off x="457200" y="530352"/>
            <a:ext cx="8229600" cy="640080"/>
          </a:xfrm>
          <a:prstGeom prst="rect">
            <a:avLst/>
          </a:prstGeom>
          <a:noFill/>
          <a:ln/>
        </p:spPr>
        <p:txBody>
          <a:bodyPr wrap="square" lIns="0" tIns="0" rIns="0" bIns="0" rtlCol="0" anchor="ctr"/>
          <a:lstStyle/>
          <a:p>
            <a:pPr indent="0" marL="0">
              <a:buNone/>
            </a:pPr>
            <a:r>
              <a:rPr lang="en-US" sz="2600" b="1" dirty="0">
                <a:solidFill>
                  <a:srgbClr val="2E3440"/>
                </a:solidFill>
                <a:latin typeface="Meiryo UI" pitchFamily="34" charset="0"/>
                <a:ea typeface="Meiryo UI" pitchFamily="34" charset="-122"/>
                <a:cs typeface="Meiryo UI" pitchFamily="34" charset="-120"/>
              </a:rPr>
              <a:t>これまでの歩み</a:t>
            </a:r>
            <a:endParaRPr lang="en-US" sz="2600" dirty="0"/>
          </a:p>
        </p:txBody>
      </p:sp>
      <p:sp>
        <p:nvSpPr>
          <p:cNvPr id="10" name="Text 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Meiryo UI" pitchFamily="34" charset="0"/>
                <a:ea typeface="Meiryo UI" pitchFamily="34" charset="-122"/>
                <a:cs typeface="Meiryo UI" pitchFamily="34" charset="-120"/>
              </a:rPr>
              <a:t>2</a:t>
            </a:r>
            <a:endParaRPr lang="en-US" sz="1000" dirty="0"/>
          </a:p>
        </p:txBody>
      </p:sp>
      <p:sp>
        <p:nvSpPr>
          <p:cNvPr id="11" name="Shape 9"/>
          <p:cNvSpPr/>
          <p:nvPr/>
        </p:nvSpPr>
        <p:spPr>
          <a:xfrm>
            <a:off x="914400" y="2286000"/>
            <a:ext cx="7315200" cy="0"/>
          </a:xfrm>
          <a:prstGeom prst="line">
            <a:avLst/>
          </a:prstGeom>
          <a:noFill/>
          <a:ln w="25400">
            <a:solidFill>
              <a:srgbClr val="D5DAE3"/>
            </a:solidFill>
            <a:prstDash val="solid"/>
          </a:ln>
        </p:spPr>
      </p:sp>
      <p:sp>
        <p:nvSpPr>
          <p:cNvPr id="12" name="Shape 10"/>
          <p:cNvSpPr/>
          <p:nvPr/>
        </p:nvSpPr>
        <p:spPr>
          <a:xfrm>
            <a:off x="822960" y="2139696"/>
            <a:ext cx="292608" cy="292608"/>
          </a:xfrm>
          <a:prstGeom prst="ellipse">
            <a:avLst/>
          </a:prstGeom>
          <a:solidFill>
            <a:srgbClr val="E8505B"/>
          </a:solidFill>
          <a:ln w="38100">
            <a:solidFill>
              <a:srgbClr val="FFFFFF"/>
            </a:solidFill>
            <a:prstDash val="solid"/>
          </a:ln>
        </p:spPr>
      </p:sp>
      <p:sp>
        <p:nvSpPr>
          <p:cNvPr id="13" name="Text 11"/>
          <p:cNvSpPr txBox="1"/>
          <p:nvPr/>
        </p:nvSpPr>
        <p:spPr>
          <a:xfrm>
            <a:off x="548640" y="1627632"/>
            <a:ext cx="2468880" cy="320040"/>
          </a:xfrm>
          <a:prstGeom prst="rect">
            <a:avLst/>
          </a:prstGeom>
          <a:noFill/>
          <a:ln/>
        </p:spPr>
        <p:txBody>
          <a:bodyPr wrap="square" lIns="0" tIns="0" rIns="0" bIns="0" rtlCol="0" anchor="t"/>
          <a:lstStyle/>
          <a:p>
            <a:pPr indent="0" marL="0">
              <a:buNone/>
            </a:pPr>
            <a:r>
              <a:rPr lang="en-US" sz="1800" b="1" dirty="0">
                <a:solidFill>
                  <a:srgbClr val="E8505B"/>
                </a:solidFill>
                <a:latin typeface="Meiryo UI" pitchFamily="34" charset="0"/>
                <a:ea typeface="Meiryo UI" pitchFamily="34" charset="-122"/>
                <a:cs typeface="Meiryo UI" pitchFamily="34" charset="-120"/>
              </a:rPr>
              <a:t>2019.10.28</a:t>
            </a:r>
            <a:endParaRPr lang="en-US" sz="1800" dirty="0"/>
          </a:p>
        </p:txBody>
      </p:sp>
      <p:sp>
        <p:nvSpPr>
          <p:cNvPr id="14" name="Text 12"/>
          <p:cNvSpPr txBox="1"/>
          <p:nvPr/>
        </p:nvSpPr>
        <p:spPr>
          <a:xfrm>
            <a:off x="548640" y="1371600"/>
            <a:ext cx="914400" cy="256032"/>
          </a:xfrm>
          <a:prstGeom prst="rect">
            <a:avLst/>
          </a:prstGeom>
          <a:noFill/>
          <a:ln/>
        </p:spPr>
        <p:txBody>
          <a:bodyPr wrap="square" lIns="0" tIns="0" rIns="0" bIns="0" rtlCol="0" anchor="t"/>
          <a:lstStyle/>
          <a:p>
            <a:pPr indent="0" marL="0">
              <a:buNone/>
            </a:pPr>
            <a:r>
              <a:rPr lang="en-US" sz="1100" dirty="0">
                <a:solidFill>
                  <a:srgbClr val="6B7280"/>
                </a:solidFill>
                <a:latin typeface="Meiryo UI" pitchFamily="34" charset="0"/>
                <a:ea typeface="Meiryo UI" pitchFamily="34" charset="-122"/>
                <a:cs typeface="Meiryo UI" pitchFamily="34" charset="-120"/>
              </a:rPr>
              <a:t>入社</a:t>
            </a:r>
            <a:endParaRPr lang="en-US" sz="1100" dirty="0"/>
          </a:p>
        </p:txBody>
      </p:sp>
      <p:sp>
        <p:nvSpPr>
          <p:cNvPr id="15" name="Shape 13"/>
          <p:cNvSpPr/>
          <p:nvPr/>
        </p:nvSpPr>
        <p:spPr>
          <a:xfrm>
            <a:off x="548640" y="2651760"/>
            <a:ext cx="2468880" cy="1691640"/>
          </a:xfrm>
          <a:prstGeom prst="roundRect">
            <a:avLst>
              <a:gd name="adj" fmla="val 6486"/>
            </a:avLst>
          </a:prstGeom>
          <a:solidFill>
            <a:srgbClr val="F4F6FA"/>
          </a:solidFill>
          <a:ln w="12700">
            <a:solidFill>
              <a:srgbClr val="F4F6FA"/>
            </a:solidFill>
            <a:prstDash val="solid"/>
          </a:ln>
        </p:spPr>
      </p:sp>
      <p:sp>
        <p:nvSpPr>
          <p:cNvPr id="16" name="Text 14"/>
          <p:cNvSpPr txBox="1"/>
          <p:nvPr/>
        </p:nvSpPr>
        <p:spPr>
          <a:xfrm>
            <a:off x="731520" y="2788920"/>
            <a:ext cx="2148840" cy="640080"/>
          </a:xfrm>
          <a:prstGeom prst="rect">
            <a:avLst/>
          </a:prstGeom>
          <a:noFill/>
          <a:ln/>
        </p:spPr>
        <p:txBody>
          <a:bodyPr wrap="square" lIns="0" tIns="0" rIns="0" bIns="0" rtlCol="0" anchor="t"/>
          <a:lstStyle/>
          <a:p>
            <a:pPr indent="0" marL="0">
              <a:buNone/>
            </a:pPr>
            <a:r>
              <a:rPr lang="en-US" sz="1350" b="1" dirty="0">
                <a:solidFill>
                  <a:srgbClr val="2E3440"/>
                </a:solidFill>
                <a:latin typeface="Meiryo UI" pitchFamily="34" charset="0"/>
                <a:ea typeface="Meiryo UI" pitchFamily="34" charset="-122"/>
                <a:cs typeface="Meiryo UI" pitchFamily="34" charset="-120"/>
              </a:rPr>
              <a:t>夢門塾ゆうゆう</a:t>
            </a:r>
            <a:endParaRPr lang="en-US" sz="1350" dirty="0"/>
          </a:p>
          <a:p>
            <a:pPr indent="0" marL="0">
              <a:buNone/>
            </a:pPr>
            <a:r>
              <a:rPr lang="en-US" sz="1350" b="1" dirty="0">
                <a:solidFill>
                  <a:srgbClr val="2E3440"/>
                </a:solidFill>
                <a:latin typeface="Meiryo UI" pitchFamily="34" charset="0"/>
                <a:ea typeface="Meiryo UI" pitchFamily="34" charset="-122"/>
                <a:cs typeface="Meiryo UI" pitchFamily="34" charset="-120"/>
              </a:rPr>
              <a:t>奈良津1組</a:t>
            </a:r>
            <a:endParaRPr lang="en-US" sz="1350" dirty="0"/>
          </a:p>
        </p:txBody>
      </p:sp>
      <p:sp>
        <p:nvSpPr>
          <p:cNvPr id="17" name="Text 15"/>
          <p:cNvSpPr txBox="1"/>
          <p:nvPr/>
        </p:nvSpPr>
        <p:spPr>
          <a:xfrm>
            <a:off x="731520" y="3520440"/>
            <a:ext cx="2103120" cy="731520"/>
          </a:xfrm>
          <a:prstGeom prst="rect">
            <a:avLst/>
          </a:prstGeom>
          <a:noFill/>
          <a:ln/>
        </p:spPr>
        <p:txBody>
          <a:bodyPr wrap="square" lIns="0" tIns="0" rIns="0" bIns="0" rtlCol="0" anchor="t"/>
          <a:lstStyle/>
          <a:p>
            <a:pPr indent="0" marL="0">
              <a:buNone/>
            </a:pPr>
            <a:r>
              <a:rPr lang="en-US" sz="1150" dirty="0">
                <a:solidFill>
                  <a:srgbClr val="6B7280"/>
                </a:solidFill>
                <a:latin typeface="Meiryo UI" pitchFamily="34" charset="0"/>
                <a:ea typeface="Meiryo UI" pitchFamily="34" charset="-122"/>
                <a:cs typeface="Meiryo UI" pitchFamily="34" charset="-120"/>
              </a:rPr>
              <a:t>放課後等デイサービスの現場からスタート</a:t>
            </a:r>
            <a:endParaRPr lang="en-US" sz="1150" dirty="0"/>
          </a:p>
        </p:txBody>
      </p:sp>
      <p:sp>
        <p:nvSpPr>
          <p:cNvPr id="18" name="Shape 16"/>
          <p:cNvSpPr/>
          <p:nvPr/>
        </p:nvSpPr>
        <p:spPr>
          <a:xfrm>
            <a:off x="3566160" y="2139696"/>
            <a:ext cx="292608" cy="292608"/>
          </a:xfrm>
          <a:prstGeom prst="ellipse">
            <a:avLst/>
          </a:prstGeom>
          <a:solidFill>
            <a:srgbClr val="5DBB63"/>
          </a:solidFill>
          <a:ln w="38100">
            <a:solidFill>
              <a:srgbClr val="FFFFFF"/>
            </a:solidFill>
            <a:prstDash val="solid"/>
          </a:ln>
        </p:spPr>
      </p:sp>
      <p:sp>
        <p:nvSpPr>
          <p:cNvPr id="19" name="Text 17"/>
          <p:cNvSpPr txBox="1"/>
          <p:nvPr/>
        </p:nvSpPr>
        <p:spPr>
          <a:xfrm>
            <a:off x="3291840" y="1627632"/>
            <a:ext cx="2468880" cy="320040"/>
          </a:xfrm>
          <a:prstGeom prst="rect">
            <a:avLst/>
          </a:prstGeom>
          <a:noFill/>
          <a:ln/>
        </p:spPr>
        <p:txBody>
          <a:bodyPr wrap="square" lIns="0" tIns="0" rIns="0" bIns="0" rtlCol="0" anchor="t"/>
          <a:lstStyle/>
          <a:p>
            <a:pPr indent="0" marL="0">
              <a:buNone/>
            </a:pPr>
            <a:r>
              <a:rPr lang="en-US" sz="1800" b="1" dirty="0">
                <a:solidFill>
                  <a:srgbClr val="5DBB63"/>
                </a:solidFill>
                <a:latin typeface="Meiryo UI" pitchFamily="34" charset="0"/>
                <a:ea typeface="Meiryo UI" pitchFamily="34" charset="-122"/>
                <a:cs typeface="Meiryo UI" pitchFamily="34" charset="-120"/>
              </a:rPr>
              <a:t>2024.4.1</a:t>
            </a:r>
            <a:endParaRPr lang="en-US" sz="1800" dirty="0"/>
          </a:p>
        </p:txBody>
      </p:sp>
      <p:sp>
        <p:nvSpPr>
          <p:cNvPr id="20" name="Text 18"/>
          <p:cNvSpPr txBox="1"/>
          <p:nvPr/>
        </p:nvSpPr>
        <p:spPr>
          <a:xfrm>
            <a:off x="3291840" y="1371600"/>
            <a:ext cx="914400" cy="256032"/>
          </a:xfrm>
          <a:prstGeom prst="rect">
            <a:avLst/>
          </a:prstGeom>
          <a:noFill/>
          <a:ln/>
        </p:spPr>
        <p:txBody>
          <a:bodyPr wrap="square" lIns="0" tIns="0" rIns="0" bIns="0" rtlCol="0" anchor="t"/>
          <a:lstStyle/>
          <a:p>
            <a:pPr indent="0" marL="0">
              <a:buNone/>
            </a:pPr>
            <a:r>
              <a:rPr lang="en-US" sz="1100" dirty="0">
                <a:solidFill>
                  <a:srgbClr val="6B7280"/>
                </a:solidFill>
                <a:latin typeface="Meiryo UI" pitchFamily="34" charset="0"/>
                <a:ea typeface="Meiryo UI" pitchFamily="34" charset="-122"/>
                <a:cs typeface="Meiryo UI" pitchFamily="34" charset="-120"/>
              </a:rPr>
              <a:t>異動</a:t>
            </a:r>
            <a:endParaRPr lang="en-US" sz="1100" dirty="0"/>
          </a:p>
        </p:txBody>
      </p:sp>
      <p:sp>
        <p:nvSpPr>
          <p:cNvPr id="21" name="Shape 19"/>
          <p:cNvSpPr/>
          <p:nvPr/>
        </p:nvSpPr>
        <p:spPr>
          <a:xfrm>
            <a:off x="3291840" y="2651760"/>
            <a:ext cx="2468880" cy="1691640"/>
          </a:xfrm>
          <a:prstGeom prst="roundRect">
            <a:avLst>
              <a:gd name="adj" fmla="val 6486"/>
            </a:avLst>
          </a:prstGeom>
          <a:solidFill>
            <a:srgbClr val="F4F6FA"/>
          </a:solidFill>
          <a:ln w="12700">
            <a:solidFill>
              <a:srgbClr val="F4F6FA"/>
            </a:solidFill>
            <a:prstDash val="solid"/>
          </a:ln>
        </p:spPr>
      </p:sp>
      <p:sp>
        <p:nvSpPr>
          <p:cNvPr id="22" name="Text 20"/>
          <p:cNvSpPr txBox="1"/>
          <p:nvPr/>
        </p:nvSpPr>
        <p:spPr>
          <a:xfrm>
            <a:off x="3474720" y="2788920"/>
            <a:ext cx="2148840" cy="640080"/>
          </a:xfrm>
          <a:prstGeom prst="rect">
            <a:avLst/>
          </a:prstGeom>
          <a:noFill/>
          <a:ln/>
        </p:spPr>
        <p:txBody>
          <a:bodyPr wrap="square" lIns="0" tIns="0" rIns="0" bIns="0" rtlCol="0" anchor="t"/>
          <a:lstStyle/>
          <a:p>
            <a:pPr indent="0" marL="0">
              <a:buNone/>
            </a:pPr>
            <a:r>
              <a:rPr lang="en-US" sz="1350" b="1" dirty="0">
                <a:solidFill>
                  <a:srgbClr val="2E3440"/>
                </a:solidFill>
                <a:latin typeface="Meiryo UI" pitchFamily="34" charset="0"/>
                <a:ea typeface="Meiryo UI" pitchFamily="34" charset="-122"/>
                <a:cs typeface="Meiryo UI" pitchFamily="34" charset="-120"/>
              </a:rPr>
              <a:t>愛媛県今治市</a:t>
            </a:r>
            <a:endParaRPr lang="en-US" sz="1350" dirty="0"/>
          </a:p>
          <a:p>
            <a:pPr indent="0" marL="0">
              <a:buNone/>
            </a:pPr>
            <a:r>
              <a:rPr lang="en-US" sz="1350" b="1" dirty="0">
                <a:solidFill>
                  <a:srgbClr val="2E3440"/>
                </a:solidFill>
                <a:latin typeface="Meiryo UI" pitchFamily="34" charset="0"/>
                <a:ea typeface="Meiryo UI" pitchFamily="34" charset="-122"/>
                <a:cs typeface="Meiryo UI" pitchFamily="34" charset="-120"/>
              </a:rPr>
              <a:t>夢門塾ゆうゆう日吉</a:t>
            </a:r>
            <a:endParaRPr lang="en-US" sz="1350" dirty="0"/>
          </a:p>
        </p:txBody>
      </p:sp>
      <p:sp>
        <p:nvSpPr>
          <p:cNvPr id="23" name="Text 21"/>
          <p:cNvSpPr txBox="1"/>
          <p:nvPr/>
        </p:nvSpPr>
        <p:spPr>
          <a:xfrm>
            <a:off x="3474720" y="3520440"/>
            <a:ext cx="2103120" cy="731520"/>
          </a:xfrm>
          <a:prstGeom prst="rect">
            <a:avLst/>
          </a:prstGeom>
          <a:noFill/>
          <a:ln/>
        </p:spPr>
        <p:txBody>
          <a:bodyPr wrap="square" lIns="0" tIns="0" rIns="0" bIns="0" rtlCol="0" anchor="t"/>
          <a:lstStyle/>
          <a:p>
            <a:pPr indent="0" marL="0">
              <a:buNone/>
            </a:pPr>
            <a:r>
              <a:rPr lang="en-US" sz="1150" dirty="0">
                <a:solidFill>
                  <a:srgbClr val="6B7280"/>
                </a:solidFill>
                <a:latin typeface="Meiryo UI" pitchFamily="34" charset="0"/>
                <a:ea typeface="Meiryo UI" pitchFamily="34" charset="-122"/>
                <a:cs typeface="Meiryo UI" pitchFamily="34" charset="-120"/>
              </a:rPr>
              <a:t>縁のない土地で、一から地域との関係づくり</a:t>
            </a:r>
            <a:endParaRPr lang="en-US" sz="1150" dirty="0"/>
          </a:p>
        </p:txBody>
      </p:sp>
      <p:sp>
        <p:nvSpPr>
          <p:cNvPr id="24" name="Shape 22"/>
          <p:cNvSpPr/>
          <p:nvPr/>
        </p:nvSpPr>
        <p:spPr>
          <a:xfrm>
            <a:off x="6309360" y="2139696"/>
            <a:ext cx="292608" cy="292608"/>
          </a:xfrm>
          <a:prstGeom prst="ellipse">
            <a:avLst/>
          </a:prstGeom>
          <a:solidFill>
            <a:srgbClr val="4A6FC7"/>
          </a:solidFill>
          <a:ln w="38100">
            <a:solidFill>
              <a:srgbClr val="FFFFFF"/>
            </a:solidFill>
            <a:prstDash val="solid"/>
          </a:ln>
        </p:spPr>
      </p:sp>
      <p:sp>
        <p:nvSpPr>
          <p:cNvPr id="25" name="Text 23"/>
          <p:cNvSpPr txBox="1"/>
          <p:nvPr/>
        </p:nvSpPr>
        <p:spPr>
          <a:xfrm>
            <a:off x="6035040" y="1627632"/>
            <a:ext cx="2468880" cy="320040"/>
          </a:xfrm>
          <a:prstGeom prst="rect">
            <a:avLst/>
          </a:prstGeom>
          <a:noFill/>
          <a:ln/>
        </p:spPr>
        <p:txBody>
          <a:bodyPr wrap="square" lIns="0" tIns="0" rIns="0" bIns="0" rtlCol="0" anchor="t"/>
          <a:lstStyle/>
          <a:p>
            <a:pPr indent="0" marL="0">
              <a:buNone/>
            </a:pPr>
            <a:r>
              <a:rPr lang="en-US" sz="1800" b="1" dirty="0">
                <a:solidFill>
                  <a:srgbClr val="4A6FC7"/>
                </a:solidFill>
                <a:latin typeface="Meiryo UI" pitchFamily="34" charset="0"/>
                <a:ea typeface="Meiryo UI" pitchFamily="34" charset="-122"/>
                <a:cs typeface="Meiryo UI" pitchFamily="34" charset="-120"/>
              </a:rPr>
              <a:t>2026.9.1</a:t>
            </a:r>
            <a:endParaRPr lang="en-US" sz="1800" dirty="0"/>
          </a:p>
        </p:txBody>
      </p:sp>
      <p:sp>
        <p:nvSpPr>
          <p:cNvPr id="26" name="Text 24"/>
          <p:cNvSpPr txBox="1"/>
          <p:nvPr/>
        </p:nvSpPr>
        <p:spPr>
          <a:xfrm>
            <a:off x="6035040" y="1371600"/>
            <a:ext cx="914400" cy="256032"/>
          </a:xfrm>
          <a:prstGeom prst="rect">
            <a:avLst/>
          </a:prstGeom>
          <a:noFill/>
          <a:ln/>
        </p:spPr>
        <p:txBody>
          <a:bodyPr wrap="square" lIns="0" tIns="0" rIns="0" bIns="0" rtlCol="0" anchor="t"/>
          <a:lstStyle/>
          <a:p>
            <a:pPr indent="0" marL="0">
              <a:buNone/>
            </a:pPr>
            <a:r>
              <a:rPr lang="en-US" sz="1100" dirty="0">
                <a:solidFill>
                  <a:srgbClr val="6B7280"/>
                </a:solidFill>
                <a:latin typeface="Meiryo UI" pitchFamily="34" charset="0"/>
                <a:ea typeface="Meiryo UI" pitchFamily="34" charset="-122"/>
                <a:cs typeface="Meiryo UI" pitchFamily="34" charset="-120"/>
              </a:rPr>
              <a:t>異動</a:t>
            </a:r>
            <a:endParaRPr lang="en-US" sz="1100" dirty="0"/>
          </a:p>
        </p:txBody>
      </p:sp>
      <p:sp>
        <p:nvSpPr>
          <p:cNvPr id="27" name="Shape 25"/>
          <p:cNvSpPr/>
          <p:nvPr/>
        </p:nvSpPr>
        <p:spPr>
          <a:xfrm>
            <a:off x="6035040" y="2651760"/>
            <a:ext cx="2468880" cy="1691640"/>
          </a:xfrm>
          <a:prstGeom prst="roundRect">
            <a:avLst>
              <a:gd name="adj" fmla="val 6486"/>
            </a:avLst>
          </a:prstGeom>
          <a:solidFill>
            <a:srgbClr val="F4F6FA"/>
          </a:solidFill>
          <a:ln w="12700">
            <a:solidFill>
              <a:srgbClr val="F4F6FA"/>
            </a:solidFill>
            <a:prstDash val="solid"/>
          </a:ln>
        </p:spPr>
      </p:sp>
      <p:sp>
        <p:nvSpPr>
          <p:cNvPr id="28" name="Text 26"/>
          <p:cNvSpPr txBox="1"/>
          <p:nvPr/>
        </p:nvSpPr>
        <p:spPr>
          <a:xfrm>
            <a:off x="6217920" y="2788920"/>
            <a:ext cx="2148840" cy="640080"/>
          </a:xfrm>
          <a:prstGeom prst="rect">
            <a:avLst/>
          </a:prstGeom>
          <a:noFill/>
          <a:ln/>
        </p:spPr>
        <p:txBody>
          <a:bodyPr wrap="square" lIns="0" tIns="0" rIns="0" bIns="0" rtlCol="0" anchor="t"/>
          <a:lstStyle/>
          <a:p>
            <a:pPr indent="0" marL="0">
              <a:buNone/>
            </a:pPr>
            <a:r>
              <a:rPr lang="en-US" sz="1350" b="1" dirty="0">
                <a:solidFill>
                  <a:srgbClr val="2E3440"/>
                </a:solidFill>
                <a:latin typeface="Meiryo UI" pitchFamily="34" charset="0"/>
                <a:ea typeface="Meiryo UI" pitchFamily="34" charset="-122"/>
                <a:cs typeface="Meiryo UI" pitchFamily="34" charset="-120"/>
              </a:rPr>
              <a:t>愛媛県西条市</a:t>
            </a:r>
            <a:endParaRPr lang="en-US" sz="1350" dirty="0"/>
          </a:p>
          <a:p>
            <a:pPr indent="0" marL="0">
              <a:buNone/>
            </a:pPr>
            <a:r>
              <a:rPr lang="en-US" sz="1350" b="1" dirty="0">
                <a:solidFill>
                  <a:srgbClr val="2E3440"/>
                </a:solidFill>
                <a:latin typeface="Meiryo UI" pitchFamily="34" charset="0"/>
                <a:ea typeface="Meiryo UI" pitchFamily="34" charset="-122"/>
                <a:cs typeface="Meiryo UI" pitchFamily="34" charset="-120"/>
              </a:rPr>
              <a:t>夢門塾ゆうゆう西条</a:t>
            </a:r>
            <a:endParaRPr lang="en-US" sz="1350" dirty="0"/>
          </a:p>
        </p:txBody>
      </p:sp>
      <p:sp>
        <p:nvSpPr>
          <p:cNvPr id="29" name="Text 27"/>
          <p:cNvSpPr txBox="1"/>
          <p:nvPr/>
        </p:nvSpPr>
        <p:spPr>
          <a:xfrm>
            <a:off x="6217920" y="3520440"/>
            <a:ext cx="2103120" cy="731520"/>
          </a:xfrm>
          <a:prstGeom prst="rect">
            <a:avLst/>
          </a:prstGeom>
          <a:noFill/>
          <a:ln/>
        </p:spPr>
        <p:txBody>
          <a:bodyPr wrap="square" lIns="0" tIns="0" rIns="0" bIns="0" rtlCol="0" anchor="t"/>
          <a:lstStyle/>
          <a:p>
            <a:pPr indent="0" marL="0">
              <a:buNone/>
            </a:pPr>
            <a:r>
              <a:rPr lang="en-US" sz="1150" dirty="0">
                <a:solidFill>
                  <a:srgbClr val="6B7280"/>
                </a:solidFill>
                <a:latin typeface="Meiryo UI" pitchFamily="34" charset="0"/>
                <a:ea typeface="Meiryo UI" pitchFamily="34" charset="-122"/>
                <a:cs typeface="Meiryo UI" pitchFamily="34" charset="-120"/>
              </a:rPr>
              <a:t>管理者 兼 エリアマネージャーとして愛媛エリアを担う</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ellipse">
            <a:avLst/>
          </a:prstGeom>
          <a:solidFill>
            <a:srgbClr val="E8505B"/>
          </a:solidFill>
          <a:ln w="12700">
            <a:solidFill>
              <a:srgbClr val="E8505B"/>
            </a:solidFill>
            <a:prstDash val="solid"/>
          </a:ln>
        </p:spPr>
      </p:sp>
      <p:sp>
        <p:nvSpPr>
          <p:cNvPr id="3" name="Shape 1"/>
          <p:cNvSpPr/>
          <p:nvPr/>
        </p:nvSpPr>
        <p:spPr>
          <a:xfrm>
            <a:off x="621792" y="384048"/>
            <a:ext cx="100584" cy="100584"/>
          </a:xfrm>
          <a:prstGeom prst="ellipse">
            <a:avLst/>
          </a:prstGeom>
          <a:solidFill>
            <a:srgbClr val="F39C33"/>
          </a:solidFill>
          <a:ln w="12700">
            <a:solidFill>
              <a:srgbClr val="F39C33"/>
            </a:solidFill>
            <a:prstDash val="solid"/>
          </a:ln>
        </p:spPr>
      </p:sp>
      <p:sp>
        <p:nvSpPr>
          <p:cNvPr id="4" name="Shape 2"/>
          <p:cNvSpPr/>
          <p:nvPr/>
        </p:nvSpPr>
        <p:spPr>
          <a:xfrm>
            <a:off x="786384" y="384048"/>
            <a:ext cx="100584" cy="100584"/>
          </a:xfrm>
          <a:prstGeom prst="ellipse">
            <a:avLst/>
          </a:prstGeom>
          <a:solidFill>
            <a:srgbClr val="F2C230"/>
          </a:solidFill>
          <a:ln w="12700">
            <a:solidFill>
              <a:srgbClr val="F2C230"/>
            </a:solidFill>
            <a:prstDash val="solid"/>
          </a:ln>
        </p:spPr>
      </p:sp>
      <p:sp>
        <p:nvSpPr>
          <p:cNvPr id="5" name="Shape 3"/>
          <p:cNvSpPr/>
          <p:nvPr/>
        </p:nvSpPr>
        <p:spPr>
          <a:xfrm>
            <a:off x="950976" y="384048"/>
            <a:ext cx="100584" cy="100584"/>
          </a:xfrm>
          <a:prstGeom prst="ellipse">
            <a:avLst/>
          </a:prstGeom>
          <a:solidFill>
            <a:srgbClr val="5DBB63"/>
          </a:solidFill>
          <a:ln w="12700">
            <a:solidFill>
              <a:srgbClr val="5DBB63"/>
            </a:solidFill>
            <a:prstDash val="solid"/>
          </a:ln>
        </p:spPr>
      </p:sp>
      <p:sp>
        <p:nvSpPr>
          <p:cNvPr id="6" name="Shape 4"/>
          <p:cNvSpPr/>
          <p:nvPr/>
        </p:nvSpPr>
        <p:spPr>
          <a:xfrm>
            <a:off x="1115568" y="384048"/>
            <a:ext cx="100584" cy="100584"/>
          </a:xfrm>
          <a:prstGeom prst="ellipse">
            <a:avLst/>
          </a:prstGeom>
          <a:solidFill>
            <a:srgbClr val="3FA7D6"/>
          </a:solidFill>
          <a:ln w="12700">
            <a:solidFill>
              <a:srgbClr val="3FA7D6"/>
            </a:solidFill>
            <a:prstDash val="solid"/>
          </a:ln>
        </p:spPr>
      </p:sp>
      <p:sp>
        <p:nvSpPr>
          <p:cNvPr id="7" name="Shape 5"/>
          <p:cNvSpPr/>
          <p:nvPr/>
        </p:nvSpPr>
        <p:spPr>
          <a:xfrm>
            <a:off x="1280160" y="384048"/>
            <a:ext cx="100584" cy="100584"/>
          </a:xfrm>
          <a:prstGeom prst="ellipse">
            <a:avLst/>
          </a:prstGeom>
          <a:solidFill>
            <a:srgbClr val="4A6FC7"/>
          </a:solidFill>
          <a:ln w="12700">
            <a:solidFill>
              <a:srgbClr val="4A6FC7"/>
            </a:solidFill>
            <a:prstDash val="solid"/>
          </a:ln>
        </p:spPr>
      </p:sp>
      <p:sp>
        <p:nvSpPr>
          <p:cNvPr id="8" name="Shape 6"/>
          <p:cNvSpPr/>
          <p:nvPr/>
        </p:nvSpPr>
        <p:spPr>
          <a:xfrm>
            <a:off x="1444752" y="384048"/>
            <a:ext cx="100584" cy="100584"/>
          </a:xfrm>
          <a:prstGeom prst="ellipse">
            <a:avLst/>
          </a:prstGeom>
          <a:solidFill>
            <a:srgbClr val="9A6BC4"/>
          </a:solidFill>
          <a:ln w="12700">
            <a:solidFill>
              <a:srgbClr val="9A6BC4"/>
            </a:solidFill>
            <a:prstDash val="solid"/>
          </a:ln>
        </p:spPr>
      </p:sp>
      <p:sp>
        <p:nvSpPr>
          <p:cNvPr id="9" name="Text 7"/>
          <p:cNvSpPr txBox="1"/>
          <p:nvPr/>
        </p:nvSpPr>
        <p:spPr>
          <a:xfrm>
            <a:off x="457200" y="530352"/>
            <a:ext cx="8229600" cy="640080"/>
          </a:xfrm>
          <a:prstGeom prst="rect">
            <a:avLst/>
          </a:prstGeom>
          <a:noFill/>
          <a:ln/>
        </p:spPr>
        <p:txBody>
          <a:bodyPr wrap="square" lIns="0" tIns="0" rIns="0" bIns="0" rtlCol="0" anchor="ctr"/>
          <a:lstStyle/>
          <a:p>
            <a:pPr indent="0" marL="0">
              <a:buNone/>
            </a:pPr>
            <a:r>
              <a:rPr lang="en-US" sz="2600" b="1" dirty="0">
                <a:solidFill>
                  <a:srgbClr val="2E3440"/>
                </a:solidFill>
                <a:latin typeface="Meiryo UI" pitchFamily="34" charset="0"/>
                <a:ea typeface="Meiryo UI" pitchFamily="34" charset="-122"/>
                <a:cs typeface="Meiryo UI" pitchFamily="34" charset="-120"/>
              </a:rPr>
              <a:t>きっかけ ①　保護者の声</a:t>
            </a:r>
            <a:endParaRPr lang="en-US" sz="2600" dirty="0"/>
          </a:p>
        </p:txBody>
      </p:sp>
      <p:sp>
        <p:nvSpPr>
          <p:cNvPr id="10" name="Text 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Meiryo UI" pitchFamily="34" charset="0"/>
                <a:ea typeface="Meiryo UI" pitchFamily="34" charset="-122"/>
                <a:cs typeface="Meiryo UI" pitchFamily="34" charset="-120"/>
              </a:rPr>
              <a:t>3</a:t>
            </a:r>
            <a:endParaRPr lang="en-US" sz="1000" dirty="0"/>
          </a:p>
        </p:txBody>
      </p:sp>
      <p:sp>
        <p:nvSpPr>
          <p:cNvPr id="11" name="Text 9"/>
          <p:cNvSpPr txBox="1"/>
          <p:nvPr/>
        </p:nvSpPr>
        <p:spPr>
          <a:xfrm>
            <a:off x="457200" y="1280160"/>
            <a:ext cx="8229600" cy="594360"/>
          </a:xfrm>
          <a:prstGeom prst="rect">
            <a:avLst/>
          </a:prstGeom>
          <a:noFill/>
          <a:ln/>
        </p:spPr>
        <p:txBody>
          <a:bodyPr wrap="square" lIns="0" tIns="0" rIns="0" bIns="0" rtlCol="0" anchor="t"/>
          <a:lstStyle/>
          <a:p>
            <a:pPr indent="0" marL="0">
              <a:buNone/>
            </a:pPr>
            <a:r>
              <a:rPr lang="en-US" sz="1300" dirty="0">
                <a:solidFill>
                  <a:srgbClr val="6B7280"/>
                </a:solidFill>
                <a:latin typeface="Meiryo UI" pitchFamily="34" charset="0"/>
                <a:ea typeface="Meiryo UI" pitchFamily="34" charset="-122"/>
                <a:cs typeface="Meiryo UI" pitchFamily="34" charset="-120"/>
              </a:rPr>
              <a:t>異動先で困難もあった。それでも愛媛の地にもキャレオス・夢門塾はあり、</a:t>
            </a:r>
            <a:endParaRPr lang="en-US" sz="1300" dirty="0"/>
          </a:p>
          <a:p>
            <a:pPr indent="0" marL="0">
              <a:buNone/>
            </a:pPr>
            <a:r>
              <a:rPr lang="en-US" sz="1300" dirty="0">
                <a:solidFill>
                  <a:srgbClr val="6B7280"/>
                </a:solidFill>
                <a:latin typeface="Meiryo UI" pitchFamily="34" charset="0"/>
                <a:ea typeface="Meiryo UI" pitchFamily="34" charset="-122"/>
                <a:cs typeface="Meiryo UI" pitchFamily="34" charset="-120"/>
              </a:rPr>
              <a:t>利用者の「居場所」として確立していた。</a:t>
            </a:r>
            <a:endParaRPr lang="en-US" sz="1300" dirty="0"/>
          </a:p>
        </p:txBody>
      </p:sp>
      <p:sp>
        <p:nvSpPr>
          <p:cNvPr id="12" name="Shape 10"/>
          <p:cNvSpPr/>
          <p:nvPr/>
        </p:nvSpPr>
        <p:spPr>
          <a:xfrm>
            <a:off x="457200" y="2103120"/>
            <a:ext cx="4023360" cy="1600200"/>
          </a:xfrm>
          <a:prstGeom prst="roundRect">
            <a:avLst>
              <a:gd name="adj" fmla="val 6857"/>
            </a:avLst>
          </a:prstGeom>
          <a:solidFill>
            <a:srgbClr val="F4F6FA"/>
          </a:solidFill>
          <a:ln w="12700">
            <a:solidFill>
              <a:srgbClr val="F4F6FA"/>
            </a:solidFill>
            <a:prstDash val="solid"/>
          </a:ln>
        </p:spPr>
      </p:sp>
      <p:sp>
        <p:nvSpPr>
          <p:cNvPr id="13" name="Text 11"/>
          <p:cNvSpPr txBox="1"/>
          <p:nvPr/>
        </p:nvSpPr>
        <p:spPr>
          <a:xfrm>
            <a:off x="640080" y="2057400"/>
            <a:ext cx="548640" cy="640080"/>
          </a:xfrm>
          <a:prstGeom prst="rect">
            <a:avLst/>
          </a:prstGeom>
          <a:noFill/>
          <a:ln/>
        </p:spPr>
        <p:txBody>
          <a:bodyPr wrap="square" lIns="0" tIns="0" rIns="0" bIns="0" rtlCol="0" anchor="t"/>
          <a:lstStyle/>
          <a:p>
            <a:pPr indent="0" marL="0">
              <a:buNone/>
            </a:pPr>
            <a:r>
              <a:rPr lang="en-US" sz="4800" b="1" dirty="0">
                <a:solidFill>
                  <a:srgbClr val="E8505B"/>
                </a:solidFill>
                <a:latin typeface="Meiryo UI" pitchFamily="34" charset="0"/>
                <a:ea typeface="Meiryo UI" pitchFamily="34" charset="-122"/>
                <a:cs typeface="Meiryo UI" pitchFamily="34" charset="-120"/>
              </a:rPr>
              <a:t>“</a:t>
            </a:r>
            <a:endParaRPr lang="en-US" sz="4800" dirty="0"/>
          </a:p>
        </p:txBody>
      </p:sp>
      <p:sp>
        <p:nvSpPr>
          <p:cNvPr id="14" name="Text 12"/>
          <p:cNvSpPr txBox="1"/>
          <p:nvPr/>
        </p:nvSpPr>
        <p:spPr>
          <a:xfrm>
            <a:off x="777240" y="2651760"/>
            <a:ext cx="3566160" cy="868680"/>
          </a:xfrm>
          <a:prstGeom prst="rect">
            <a:avLst/>
          </a:prstGeom>
          <a:noFill/>
          <a:ln/>
        </p:spPr>
        <p:txBody>
          <a:bodyPr wrap="square" lIns="0" tIns="0" rIns="0" bIns="0" rtlCol="0" anchor="t"/>
          <a:lstStyle/>
          <a:p>
            <a:pPr indent="0" marL="0">
              <a:buNone/>
            </a:pPr>
            <a:r>
              <a:rPr lang="en-US" sz="1700" b="1" dirty="0">
                <a:solidFill>
                  <a:srgbClr val="2E3440"/>
                </a:solidFill>
                <a:latin typeface="Meiryo UI" pitchFamily="34" charset="0"/>
                <a:ea typeface="Meiryo UI" pitchFamily="34" charset="-122"/>
                <a:cs typeface="Meiryo UI" pitchFamily="34" charset="-120"/>
              </a:rPr>
              <a:t>「ゆうゆうを卒業したあとが</a:t>
            </a:r>
            <a:endParaRPr lang="en-US" sz="1700" dirty="0"/>
          </a:p>
          <a:p>
            <a:pPr indent="0" marL="0">
              <a:buNone/>
            </a:pPr>
            <a:r>
              <a:rPr lang="en-US" sz="1700" b="1" dirty="0">
                <a:solidFill>
                  <a:srgbClr val="2E3440"/>
                </a:solidFill>
                <a:latin typeface="Meiryo UI" pitchFamily="34" charset="0"/>
                <a:ea typeface="Meiryo UI" pitchFamily="34" charset="-122"/>
                <a:cs typeface="Meiryo UI" pitchFamily="34" charset="-120"/>
              </a:rPr>
              <a:t>とても不安」</a:t>
            </a:r>
            <a:endParaRPr lang="en-US" sz="1700" dirty="0"/>
          </a:p>
        </p:txBody>
      </p:sp>
      <p:sp>
        <p:nvSpPr>
          <p:cNvPr id="15" name="Shape 13"/>
          <p:cNvSpPr/>
          <p:nvPr/>
        </p:nvSpPr>
        <p:spPr>
          <a:xfrm>
            <a:off x="4663440" y="2103120"/>
            <a:ext cx="4023360" cy="1600200"/>
          </a:xfrm>
          <a:prstGeom prst="roundRect">
            <a:avLst>
              <a:gd name="adj" fmla="val 6857"/>
            </a:avLst>
          </a:prstGeom>
          <a:solidFill>
            <a:srgbClr val="F4F6FA"/>
          </a:solidFill>
          <a:ln w="12700">
            <a:solidFill>
              <a:srgbClr val="F4F6FA"/>
            </a:solidFill>
            <a:prstDash val="solid"/>
          </a:ln>
        </p:spPr>
      </p:sp>
      <p:sp>
        <p:nvSpPr>
          <p:cNvPr id="16" name="Text 14"/>
          <p:cNvSpPr txBox="1"/>
          <p:nvPr/>
        </p:nvSpPr>
        <p:spPr>
          <a:xfrm>
            <a:off x="4846320" y="2057400"/>
            <a:ext cx="548640" cy="640080"/>
          </a:xfrm>
          <a:prstGeom prst="rect">
            <a:avLst/>
          </a:prstGeom>
          <a:noFill/>
          <a:ln/>
        </p:spPr>
        <p:txBody>
          <a:bodyPr wrap="square" lIns="0" tIns="0" rIns="0" bIns="0" rtlCol="0" anchor="t"/>
          <a:lstStyle/>
          <a:p>
            <a:pPr indent="0" marL="0">
              <a:buNone/>
            </a:pPr>
            <a:r>
              <a:rPr lang="en-US" sz="4800" b="1" dirty="0">
                <a:solidFill>
                  <a:srgbClr val="3FA7D6"/>
                </a:solidFill>
                <a:latin typeface="Meiryo UI" pitchFamily="34" charset="0"/>
                <a:ea typeface="Meiryo UI" pitchFamily="34" charset="-122"/>
                <a:cs typeface="Meiryo UI" pitchFamily="34" charset="-120"/>
              </a:rPr>
              <a:t>“</a:t>
            </a:r>
            <a:endParaRPr lang="en-US" sz="4800" dirty="0"/>
          </a:p>
        </p:txBody>
      </p:sp>
      <p:sp>
        <p:nvSpPr>
          <p:cNvPr id="17" name="Text 15"/>
          <p:cNvSpPr txBox="1"/>
          <p:nvPr/>
        </p:nvSpPr>
        <p:spPr>
          <a:xfrm>
            <a:off x="4983480" y="2651760"/>
            <a:ext cx="3566160" cy="868680"/>
          </a:xfrm>
          <a:prstGeom prst="rect">
            <a:avLst/>
          </a:prstGeom>
          <a:noFill/>
          <a:ln/>
        </p:spPr>
        <p:txBody>
          <a:bodyPr wrap="square" lIns="0" tIns="0" rIns="0" bIns="0" rtlCol="0" anchor="t"/>
          <a:lstStyle/>
          <a:p>
            <a:pPr indent="0" marL="0">
              <a:buNone/>
            </a:pPr>
            <a:r>
              <a:rPr lang="en-US" sz="1700" b="1" dirty="0">
                <a:solidFill>
                  <a:srgbClr val="2E3440"/>
                </a:solidFill>
                <a:latin typeface="Meiryo UI" pitchFamily="34" charset="0"/>
                <a:ea typeface="Meiryo UI" pitchFamily="34" charset="-122"/>
                <a:cs typeface="Meiryo UI" pitchFamily="34" charset="-120"/>
              </a:rPr>
              <a:t>「愛媛にキャレオスの就労が</a:t>
            </a:r>
            <a:endParaRPr lang="en-US" sz="1700" dirty="0"/>
          </a:p>
          <a:p>
            <a:pPr indent="0" marL="0">
              <a:buNone/>
            </a:pPr>
            <a:r>
              <a:rPr lang="en-US" sz="1700" b="1" dirty="0">
                <a:solidFill>
                  <a:srgbClr val="2E3440"/>
                </a:solidFill>
                <a:latin typeface="Meiryo UI" pitchFamily="34" charset="0"/>
                <a:ea typeface="Meiryo UI" pitchFamily="34" charset="-122"/>
                <a:cs typeface="Meiryo UI" pitchFamily="34" charset="-120"/>
              </a:rPr>
              <a:t>あったらとっても安心する」</a:t>
            </a:r>
            <a:endParaRPr lang="en-US" sz="1700" dirty="0"/>
          </a:p>
        </p:txBody>
      </p:sp>
      <p:sp>
        <p:nvSpPr>
          <p:cNvPr id="18" name="Text 16"/>
          <p:cNvSpPr txBox="1"/>
          <p:nvPr/>
        </p:nvSpPr>
        <p:spPr>
          <a:xfrm>
            <a:off x="457200" y="3794760"/>
            <a:ext cx="8229600" cy="274320"/>
          </a:xfrm>
          <a:prstGeom prst="rect">
            <a:avLst/>
          </a:prstGeom>
          <a:noFill/>
          <a:ln/>
        </p:spPr>
        <p:txBody>
          <a:bodyPr wrap="square" lIns="0" tIns="0" rIns="0" bIns="0" rtlCol="0" anchor="t"/>
          <a:lstStyle/>
          <a:p>
            <a:pPr algn="r" indent="0" marL="0">
              <a:buNone/>
            </a:pPr>
            <a:r>
              <a:rPr lang="en-US" sz="1100" dirty="0">
                <a:solidFill>
                  <a:srgbClr val="6B7280"/>
                </a:solidFill>
                <a:latin typeface="Meiryo UI" pitchFamily="34" charset="0"/>
                <a:ea typeface="Meiryo UI" pitchFamily="34" charset="-122"/>
                <a:cs typeface="Meiryo UI" pitchFamily="34" charset="-120"/>
              </a:rPr>
              <a:t>— 高校生になる利用者の保護者より</a:t>
            </a:r>
            <a:endParaRPr lang="en-US" sz="1100" dirty="0"/>
          </a:p>
        </p:txBody>
      </p:sp>
      <p:sp>
        <p:nvSpPr>
          <p:cNvPr id="19" name="Text 17"/>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600" b="1" dirty="0">
                <a:solidFill>
                  <a:srgbClr val="4A6FC7"/>
                </a:solidFill>
                <a:latin typeface="Meiryo UI" pitchFamily="34" charset="0"/>
                <a:ea typeface="Meiryo UI" pitchFamily="34" charset="-122"/>
                <a:cs typeface="Meiryo UI" pitchFamily="34" charset="-120"/>
              </a:rPr>
              <a:t>嬉しい、けれど胸の痛いことば。卒業後の「次の居場所」を愛媛に。</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ellipse">
            <a:avLst/>
          </a:prstGeom>
          <a:solidFill>
            <a:srgbClr val="E8505B"/>
          </a:solidFill>
          <a:ln w="12700">
            <a:solidFill>
              <a:srgbClr val="E8505B"/>
            </a:solidFill>
            <a:prstDash val="solid"/>
          </a:ln>
        </p:spPr>
      </p:sp>
      <p:sp>
        <p:nvSpPr>
          <p:cNvPr id="3" name="Shape 1"/>
          <p:cNvSpPr/>
          <p:nvPr/>
        </p:nvSpPr>
        <p:spPr>
          <a:xfrm>
            <a:off x="621792" y="384048"/>
            <a:ext cx="100584" cy="100584"/>
          </a:xfrm>
          <a:prstGeom prst="ellipse">
            <a:avLst/>
          </a:prstGeom>
          <a:solidFill>
            <a:srgbClr val="F39C33"/>
          </a:solidFill>
          <a:ln w="12700">
            <a:solidFill>
              <a:srgbClr val="F39C33"/>
            </a:solidFill>
            <a:prstDash val="solid"/>
          </a:ln>
        </p:spPr>
      </p:sp>
      <p:sp>
        <p:nvSpPr>
          <p:cNvPr id="4" name="Shape 2"/>
          <p:cNvSpPr/>
          <p:nvPr/>
        </p:nvSpPr>
        <p:spPr>
          <a:xfrm>
            <a:off x="786384" y="384048"/>
            <a:ext cx="100584" cy="100584"/>
          </a:xfrm>
          <a:prstGeom prst="ellipse">
            <a:avLst/>
          </a:prstGeom>
          <a:solidFill>
            <a:srgbClr val="F2C230"/>
          </a:solidFill>
          <a:ln w="12700">
            <a:solidFill>
              <a:srgbClr val="F2C230"/>
            </a:solidFill>
            <a:prstDash val="solid"/>
          </a:ln>
        </p:spPr>
      </p:sp>
      <p:sp>
        <p:nvSpPr>
          <p:cNvPr id="5" name="Shape 3"/>
          <p:cNvSpPr/>
          <p:nvPr/>
        </p:nvSpPr>
        <p:spPr>
          <a:xfrm>
            <a:off x="950976" y="384048"/>
            <a:ext cx="100584" cy="100584"/>
          </a:xfrm>
          <a:prstGeom prst="ellipse">
            <a:avLst/>
          </a:prstGeom>
          <a:solidFill>
            <a:srgbClr val="5DBB63"/>
          </a:solidFill>
          <a:ln w="12700">
            <a:solidFill>
              <a:srgbClr val="5DBB63"/>
            </a:solidFill>
            <a:prstDash val="solid"/>
          </a:ln>
        </p:spPr>
      </p:sp>
      <p:sp>
        <p:nvSpPr>
          <p:cNvPr id="6" name="Shape 4"/>
          <p:cNvSpPr/>
          <p:nvPr/>
        </p:nvSpPr>
        <p:spPr>
          <a:xfrm>
            <a:off x="1115568" y="384048"/>
            <a:ext cx="100584" cy="100584"/>
          </a:xfrm>
          <a:prstGeom prst="ellipse">
            <a:avLst/>
          </a:prstGeom>
          <a:solidFill>
            <a:srgbClr val="3FA7D6"/>
          </a:solidFill>
          <a:ln w="12700">
            <a:solidFill>
              <a:srgbClr val="3FA7D6"/>
            </a:solidFill>
            <a:prstDash val="solid"/>
          </a:ln>
        </p:spPr>
      </p:sp>
      <p:sp>
        <p:nvSpPr>
          <p:cNvPr id="7" name="Shape 5"/>
          <p:cNvSpPr/>
          <p:nvPr/>
        </p:nvSpPr>
        <p:spPr>
          <a:xfrm>
            <a:off x="1280160" y="384048"/>
            <a:ext cx="100584" cy="100584"/>
          </a:xfrm>
          <a:prstGeom prst="ellipse">
            <a:avLst/>
          </a:prstGeom>
          <a:solidFill>
            <a:srgbClr val="4A6FC7"/>
          </a:solidFill>
          <a:ln w="12700">
            <a:solidFill>
              <a:srgbClr val="4A6FC7"/>
            </a:solidFill>
            <a:prstDash val="solid"/>
          </a:ln>
        </p:spPr>
      </p:sp>
      <p:sp>
        <p:nvSpPr>
          <p:cNvPr id="8" name="Shape 6"/>
          <p:cNvSpPr/>
          <p:nvPr/>
        </p:nvSpPr>
        <p:spPr>
          <a:xfrm>
            <a:off x="1444752" y="384048"/>
            <a:ext cx="100584" cy="100584"/>
          </a:xfrm>
          <a:prstGeom prst="ellipse">
            <a:avLst/>
          </a:prstGeom>
          <a:solidFill>
            <a:srgbClr val="9A6BC4"/>
          </a:solidFill>
          <a:ln w="12700">
            <a:solidFill>
              <a:srgbClr val="9A6BC4"/>
            </a:solidFill>
            <a:prstDash val="solid"/>
          </a:ln>
        </p:spPr>
      </p:sp>
      <p:sp>
        <p:nvSpPr>
          <p:cNvPr id="9" name="Text 7"/>
          <p:cNvSpPr txBox="1"/>
          <p:nvPr/>
        </p:nvSpPr>
        <p:spPr>
          <a:xfrm>
            <a:off x="457200" y="530352"/>
            <a:ext cx="8229600" cy="640080"/>
          </a:xfrm>
          <a:prstGeom prst="rect">
            <a:avLst/>
          </a:prstGeom>
          <a:noFill/>
          <a:ln/>
        </p:spPr>
        <p:txBody>
          <a:bodyPr wrap="square" lIns="0" tIns="0" rIns="0" bIns="0" rtlCol="0" anchor="ctr"/>
          <a:lstStyle/>
          <a:p>
            <a:pPr indent="0" marL="0">
              <a:buNone/>
            </a:pPr>
            <a:r>
              <a:rPr lang="en-US" sz="2600" b="1" dirty="0">
                <a:solidFill>
                  <a:srgbClr val="2E3440"/>
                </a:solidFill>
                <a:latin typeface="Meiryo UI" pitchFamily="34" charset="0"/>
                <a:ea typeface="Meiryo UI" pitchFamily="34" charset="-122"/>
                <a:cs typeface="Meiryo UI" pitchFamily="34" charset="-120"/>
              </a:rPr>
              <a:t>きっかけ ②　サービス支給量の決定基準の制定</a:t>
            </a:r>
            <a:endParaRPr lang="en-US" sz="2600" dirty="0"/>
          </a:p>
        </p:txBody>
      </p:sp>
      <p:sp>
        <p:nvSpPr>
          <p:cNvPr id="10" name="Text 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Meiryo UI" pitchFamily="34" charset="0"/>
                <a:ea typeface="Meiryo UI" pitchFamily="34" charset="-122"/>
                <a:cs typeface="Meiryo UI" pitchFamily="34" charset="-120"/>
              </a:rPr>
              <a:t>4</a:t>
            </a:r>
            <a:endParaRPr lang="en-US" sz="1000" dirty="0"/>
          </a:p>
        </p:txBody>
      </p:sp>
      <p:sp>
        <p:nvSpPr>
          <p:cNvPr id="11" name="Shape 9"/>
          <p:cNvSpPr/>
          <p:nvPr/>
        </p:nvSpPr>
        <p:spPr>
          <a:xfrm>
            <a:off x="457200" y="1371600"/>
            <a:ext cx="2560320" cy="2514600"/>
          </a:xfrm>
          <a:prstGeom prst="roundRect">
            <a:avLst>
              <a:gd name="adj" fmla="val 4364"/>
            </a:avLst>
          </a:prstGeom>
          <a:solidFill>
            <a:srgbClr val="F4F6FA"/>
          </a:solidFill>
          <a:ln w="12700">
            <a:solidFill>
              <a:srgbClr val="F4F6FA"/>
            </a:solidFill>
            <a:prstDash val="solid"/>
          </a:ln>
        </p:spPr>
      </p:sp>
      <p:sp>
        <p:nvSpPr>
          <p:cNvPr id="12" name="Shape 10"/>
          <p:cNvSpPr/>
          <p:nvPr/>
        </p:nvSpPr>
        <p:spPr>
          <a:xfrm>
            <a:off x="685800" y="1645920"/>
            <a:ext cx="384048" cy="384048"/>
          </a:xfrm>
          <a:prstGeom prst="ellipse">
            <a:avLst/>
          </a:prstGeom>
          <a:solidFill>
            <a:srgbClr val="F39C33"/>
          </a:solidFill>
          <a:ln w="12700">
            <a:solidFill>
              <a:srgbClr val="F39C33"/>
            </a:solidFill>
            <a:prstDash val="solid"/>
          </a:ln>
        </p:spPr>
      </p:sp>
      <p:sp>
        <p:nvSpPr>
          <p:cNvPr id="13" name="Text 11"/>
          <p:cNvSpPr txBox="1"/>
          <p:nvPr/>
        </p:nvSpPr>
        <p:spPr>
          <a:xfrm>
            <a:off x="68580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1</a:t>
            </a:r>
            <a:endParaRPr lang="en-US" sz="1400" dirty="0"/>
          </a:p>
        </p:txBody>
      </p:sp>
      <p:sp>
        <p:nvSpPr>
          <p:cNvPr id="14" name="Text 12"/>
          <p:cNvSpPr txBox="1"/>
          <p:nvPr/>
        </p:nvSpPr>
        <p:spPr>
          <a:xfrm>
            <a:off x="1188720" y="1673352"/>
            <a:ext cx="1737360" cy="365760"/>
          </a:xfrm>
          <a:prstGeom prst="rect">
            <a:avLst/>
          </a:prstGeom>
          <a:noFill/>
          <a:ln/>
        </p:spPr>
        <p:txBody>
          <a:bodyPr wrap="square" lIns="0" tIns="0" rIns="0" bIns="0" rtlCol="0" anchor="ctr"/>
          <a:lstStyle/>
          <a:p>
            <a:pPr indent="0" marL="0">
              <a:buNone/>
            </a:pPr>
            <a:r>
              <a:rPr lang="en-US" sz="1600" b="1" dirty="0">
                <a:solidFill>
                  <a:srgbClr val="2E3440"/>
                </a:solidFill>
                <a:latin typeface="Meiryo UI" pitchFamily="34" charset="0"/>
                <a:ea typeface="Meiryo UI" pitchFamily="34" charset="-122"/>
                <a:cs typeface="Meiryo UI" pitchFamily="34" charset="-120"/>
              </a:rPr>
              <a:t>制度の変化</a:t>
            </a:r>
            <a:endParaRPr lang="en-US" sz="1600" dirty="0"/>
          </a:p>
        </p:txBody>
      </p:sp>
      <p:sp>
        <p:nvSpPr>
          <p:cNvPr id="15" name="Text 13"/>
          <p:cNvSpPr txBox="1"/>
          <p:nvPr/>
        </p:nvSpPr>
        <p:spPr>
          <a:xfrm>
            <a:off x="685800" y="2240280"/>
            <a:ext cx="2148840" cy="2103120"/>
          </a:xfrm>
          <a:prstGeom prst="rect">
            <a:avLst/>
          </a:prstGeom>
          <a:noFill/>
          <a:ln/>
        </p:spPr>
        <p:txBody>
          <a:bodyPr wrap="square" lIns="0" tIns="0" rIns="0" bIns="0" rtlCol="0" anchor="t"/>
          <a:lstStyle/>
          <a:p>
            <a:pPr indent="0" marL="0">
              <a:lnSpc>
                <a:spcPct val="120000"/>
              </a:lnSpc>
              <a:buNone/>
            </a:pPr>
            <a:r>
              <a:rPr lang="en-US" sz="1250" dirty="0">
                <a:solidFill>
                  <a:srgbClr val="2E3440"/>
                </a:solidFill>
                <a:latin typeface="Meiryo UI" pitchFamily="34" charset="0"/>
                <a:ea typeface="Meiryo UI" pitchFamily="34" charset="-122"/>
                <a:cs typeface="Meiryo UI" pitchFamily="34" charset="-120"/>
              </a:rPr>
              <a:t>受給者証の支給日数の上限が、手帳や個別サポートの有無で決まるように。</a:t>
            </a:r>
            <a:endParaRPr lang="en-US" sz="1250" dirty="0"/>
          </a:p>
        </p:txBody>
      </p:sp>
      <p:sp>
        <p:nvSpPr>
          <p:cNvPr id="16" name="Shape 14"/>
          <p:cNvSpPr/>
          <p:nvPr/>
        </p:nvSpPr>
        <p:spPr>
          <a:xfrm>
            <a:off x="3081528" y="2487168"/>
            <a:ext cx="146304" cy="274320"/>
          </a:xfrm>
          <a:prstGeom prst="chevron">
            <a:avLst/>
          </a:prstGeom>
          <a:solidFill>
            <a:srgbClr val="C9CFDA"/>
          </a:solidFill>
          <a:ln w="12700">
            <a:solidFill>
              <a:srgbClr val="C9CFDA"/>
            </a:solidFill>
            <a:prstDash val="solid"/>
          </a:ln>
        </p:spPr>
      </p:sp>
      <p:sp>
        <p:nvSpPr>
          <p:cNvPr id="17" name="Shape 15"/>
          <p:cNvSpPr/>
          <p:nvPr/>
        </p:nvSpPr>
        <p:spPr>
          <a:xfrm>
            <a:off x="3291840" y="1371600"/>
            <a:ext cx="2560320" cy="2514600"/>
          </a:xfrm>
          <a:prstGeom prst="roundRect">
            <a:avLst>
              <a:gd name="adj" fmla="val 4364"/>
            </a:avLst>
          </a:prstGeom>
          <a:solidFill>
            <a:srgbClr val="F4F6FA"/>
          </a:solidFill>
          <a:ln w="12700">
            <a:solidFill>
              <a:srgbClr val="F4F6FA"/>
            </a:solidFill>
            <a:prstDash val="solid"/>
          </a:ln>
        </p:spPr>
      </p:sp>
      <p:sp>
        <p:nvSpPr>
          <p:cNvPr id="18" name="Shape 16"/>
          <p:cNvSpPr/>
          <p:nvPr/>
        </p:nvSpPr>
        <p:spPr>
          <a:xfrm>
            <a:off x="3520440" y="1645920"/>
            <a:ext cx="384048" cy="384048"/>
          </a:xfrm>
          <a:prstGeom prst="ellipse">
            <a:avLst/>
          </a:prstGeom>
          <a:solidFill>
            <a:srgbClr val="E8505B"/>
          </a:solidFill>
          <a:ln w="12700">
            <a:solidFill>
              <a:srgbClr val="E8505B"/>
            </a:solidFill>
            <a:prstDash val="solid"/>
          </a:ln>
        </p:spPr>
      </p:sp>
      <p:sp>
        <p:nvSpPr>
          <p:cNvPr id="19" name="Text 17"/>
          <p:cNvSpPr txBox="1"/>
          <p:nvPr/>
        </p:nvSpPr>
        <p:spPr>
          <a:xfrm>
            <a:off x="352044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2</a:t>
            </a:r>
            <a:endParaRPr lang="en-US" sz="1400" dirty="0"/>
          </a:p>
        </p:txBody>
      </p:sp>
      <p:sp>
        <p:nvSpPr>
          <p:cNvPr id="20" name="Text 18"/>
          <p:cNvSpPr txBox="1"/>
          <p:nvPr/>
        </p:nvSpPr>
        <p:spPr>
          <a:xfrm>
            <a:off x="4023360" y="1673352"/>
            <a:ext cx="1737360" cy="365760"/>
          </a:xfrm>
          <a:prstGeom prst="rect">
            <a:avLst/>
          </a:prstGeom>
          <a:noFill/>
          <a:ln/>
        </p:spPr>
        <p:txBody>
          <a:bodyPr wrap="square" lIns="0" tIns="0" rIns="0" bIns="0" rtlCol="0" anchor="ctr"/>
          <a:lstStyle/>
          <a:p>
            <a:pPr indent="0" marL="0">
              <a:buNone/>
            </a:pPr>
            <a:r>
              <a:rPr lang="en-US" sz="1600" b="1" dirty="0">
                <a:solidFill>
                  <a:srgbClr val="2E3440"/>
                </a:solidFill>
                <a:latin typeface="Meiryo UI" pitchFamily="34" charset="0"/>
                <a:ea typeface="Meiryo UI" pitchFamily="34" charset="-122"/>
                <a:cs typeface="Meiryo UI" pitchFamily="34" charset="-120"/>
              </a:rPr>
              <a:t>現場の不安</a:t>
            </a:r>
            <a:endParaRPr lang="en-US" sz="1600" dirty="0"/>
          </a:p>
        </p:txBody>
      </p:sp>
      <p:sp>
        <p:nvSpPr>
          <p:cNvPr id="21" name="Text 19"/>
          <p:cNvSpPr txBox="1"/>
          <p:nvPr/>
        </p:nvSpPr>
        <p:spPr>
          <a:xfrm>
            <a:off x="3520440" y="2240280"/>
            <a:ext cx="2148840" cy="2103120"/>
          </a:xfrm>
          <a:prstGeom prst="rect">
            <a:avLst/>
          </a:prstGeom>
          <a:noFill/>
          <a:ln/>
        </p:spPr>
        <p:txBody>
          <a:bodyPr wrap="square" lIns="0" tIns="0" rIns="0" bIns="0" rtlCol="0" anchor="t"/>
          <a:lstStyle/>
          <a:p>
            <a:pPr indent="0" marL="0">
              <a:lnSpc>
                <a:spcPct val="120000"/>
              </a:lnSpc>
              <a:buNone/>
            </a:pPr>
            <a:r>
              <a:rPr lang="en-US" sz="1250" dirty="0">
                <a:solidFill>
                  <a:srgbClr val="2E3440"/>
                </a:solidFill>
                <a:latin typeface="Meiryo UI" pitchFamily="34" charset="0"/>
                <a:ea typeface="Meiryo UI" pitchFamily="34" charset="-122"/>
                <a:cs typeface="Meiryo UI" pitchFamily="34" charset="-120"/>
              </a:rPr>
              <a:t>・支給日数が減り、お留守番ができるか</a:t>
            </a:r>
            <a:endParaRPr lang="en-US" sz="1250" dirty="0"/>
          </a:p>
          <a:p>
            <a:pPr indent="0" marL="0">
              <a:lnSpc>
                <a:spcPct val="120000"/>
              </a:lnSpc>
              <a:buNone/>
            </a:pPr>
            <a:r>
              <a:rPr lang="en-US" sz="1250" dirty="0">
                <a:solidFill>
                  <a:srgbClr val="2E3440"/>
                </a:solidFill>
                <a:latin typeface="Meiryo UI" pitchFamily="34" charset="0"/>
                <a:ea typeface="Meiryo UI" pitchFamily="34" charset="-122"/>
                <a:cs typeface="Meiryo UI" pitchFamily="34" charset="-120"/>
              </a:rPr>
              <a:t>・次の行き場がすぐに見つからない</a:t>
            </a:r>
            <a:endParaRPr lang="en-US" sz="1250" dirty="0"/>
          </a:p>
          <a:p>
            <a:pPr indent="0" marL="0">
              <a:lnSpc>
                <a:spcPct val="120000"/>
              </a:lnSpc>
              <a:buNone/>
            </a:pPr>
            <a:r>
              <a:rPr lang="en-US" sz="1250" dirty="0">
                <a:solidFill>
                  <a:srgbClr val="2E3440"/>
                </a:solidFill>
                <a:latin typeface="Meiryo UI" pitchFamily="34" charset="0"/>
                <a:ea typeface="Meiryo UI" pitchFamily="34" charset="-122"/>
                <a:cs typeface="Meiryo UI" pitchFamily="34" charset="-120"/>
              </a:rPr>
              <a:t>・放デイ利用中を理由に児童クラブを断られた</a:t>
            </a:r>
            <a:endParaRPr lang="en-US" sz="1250" dirty="0"/>
          </a:p>
        </p:txBody>
      </p:sp>
      <p:sp>
        <p:nvSpPr>
          <p:cNvPr id="22" name="Shape 20"/>
          <p:cNvSpPr/>
          <p:nvPr/>
        </p:nvSpPr>
        <p:spPr>
          <a:xfrm>
            <a:off x="5916168" y="2487168"/>
            <a:ext cx="146304" cy="274320"/>
          </a:xfrm>
          <a:prstGeom prst="chevron">
            <a:avLst/>
          </a:prstGeom>
          <a:solidFill>
            <a:srgbClr val="C9CFDA"/>
          </a:solidFill>
          <a:ln w="12700">
            <a:solidFill>
              <a:srgbClr val="C9CFDA"/>
            </a:solidFill>
            <a:prstDash val="solid"/>
          </a:ln>
        </p:spPr>
      </p:sp>
      <p:sp>
        <p:nvSpPr>
          <p:cNvPr id="23" name="Shape 21"/>
          <p:cNvSpPr/>
          <p:nvPr/>
        </p:nvSpPr>
        <p:spPr>
          <a:xfrm>
            <a:off x="6126480" y="1371600"/>
            <a:ext cx="2560320" cy="2514600"/>
          </a:xfrm>
          <a:prstGeom prst="roundRect">
            <a:avLst>
              <a:gd name="adj" fmla="val 4364"/>
            </a:avLst>
          </a:prstGeom>
          <a:solidFill>
            <a:srgbClr val="F4F6FA"/>
          </a:solidFill>
          <a:ln w="12700">
            <a:solidFill>
              <a:srgbClr val="F4F6FA"/>
            </a:solidFill>
            <a:prstDash val="solid"/>
          </a:ln>
        </p:spPr>
      </p:sp>
      <p:sp>
        <p:nvSpPr>
          <p:cNvPr id="24" name="Shape 22"/>
          <p:cNvSpPr/>
          <p:nvPr/>
        </p:nvSpPr>
        <p:spPr>
          <a:xfrm>
            <a:off x="6355080" y="1645920"/>
            <a:ext cx="384048" cy="384048"/>
          </a:xfrm>
          <a:prstGeom prst="ellipse">
            <a:avLst/>
          </a:prstGeom>
          <a:solidFill>
            <a:srgbClr val="5DBB63"/>
          </a:solidFill>
          <a:ln w="12700">
            <a:solidFill>
              <a:srgbClr val="5DBB63"/>
            </a:solidFill>
            <a:prstDash val="solid"/>
          </a:ln>
        </p:spPr>
      </p:sp>
      <p:sp>
        <p:nvSpPr>
          <p:cNvPr id="25" name="Text 23"/>
          <p:cNvSpPr txBox="1"/>
          <p:nvPr/>
        </p:nvSpPr>
        <p:spPr>
          <a:xfrm>
            <a:off x="635508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3</a:t>
            </a:r>
            <a:endParaRPr lang="en-US" sz="1400" dirty="0"/>
          </a:p>
        </p:txBody>
      </p:sp>
      <p:sp>
        <p:nvSpPr>
          <p:cNvPr id="26" name="Text 24"/>
          <p:cNvSpPr txBox="1"/>
          <p:nvPr/>
        </p:nvSpPr>
        <p:spPr>
          <a:xfrm>
            <a:off x="6858000" y="1673352"/>
            <a:ext cx="1737360" cy="365760"/>
          </a:xfrm>
          <a:prstGeom prst="rect">
            <a:avLst/>
          </a:prstGeom>
          <a:noFill/>
          <a:ln/>
        </p:spPr>
        <p:txBody>
          <a:bodyPr wrap="square" lIns="0" tIns="0" rIns="0" bIns="0" rtlCol="0" anchor="ctr"/>
          <a:lstStyle/>
          <a:p>
            <a:pPr indent="0" marL="0">
              <a:buNone/>
            </a:pPr>
            <a:r>
              <a:rPr lang="en-US" sz="1600" b="1" dirty="0">
                <a:solidFill>
                  <a:srgbClr val="2E3440"/>
                </a:solidFill>
                <a:latin typeface="Meiryo UI" pitchFamily="34" charset="0"/>
                <a:ea typeface="Meiryo UI" pitchFamily="34" charset="-122"/>
                <a:cs typeface="Meiryo UI" pitchFamily="34" charset="-120"/>
              </a:rPr>
              <a:t>参入の機会</a:t>
            </a:r>
            <a:endParaRPr lang="en-US" sz="1600" dirty="0"/>
          </a:p>
        </p:txBody>
      </p:sp>
      <p:sp>
        <p:nvSpPr>
          <p:cNvPr id="27" name="Text 25"/>
          <p:cNvSpPr txBox="1"/>
          <p:nvPr/>
        </p:nvSpPr>
        <p:spPr>
          <a:xfrm>
            <a:off x="6355080" y="2240280"/>
            <a:ext cx="2148840" cy="2103120"/>
          </a:xfrm>
          <a:prstGeom prst="rect">
            <a:avLst/>
          </a:prstGeom>
          <a:noFill/>
          <a:ln/>
        </p:spPr>
        <p:txBody>
          <a:bodyPr wrap="square" lIns="0" tIns="0" rIns="0" bIns="0" rtlCol="0" anchor="t"/>
          <a:lstStyle/>
          <a:p>
            <a:pPr indent="0" marL="0">
              <a:lnSpc>
                <a:spcPct val="120000"/>
              </a:lnSpc>
              <a:buNone/>
            </a:pPr>
            <a:r>
              <a:rPr lang="en-US" sz="1250" dirty="0">
                <a:solidFill>
                  <a:srgbClr val="2E3440"/>
                </a:solidFill>
                <a:latin typeface="Meiryo UI" pitchFamily="34" charset="0"/>
                <a:ea typeface="Meiryo UI" pitchFamily="34" charset="-122"/>
                <a:cs typeface="Meiryo UI" pitchFamily="34" charset="-120"/>
              </a:rPr>
              <a:t>キャレオスには放課後児童クラブの委託事業がある。愛媛でも受け皿になれないか。</a:t>
            </a:r>
            <a:endParaRPr lang="en-US" sz="1250" dirty="0"/>
          </a:p>
        </p:txBody>
      </p:sp>
      <p:sp>
        <p:nvSpPr>
          <p:cNvPr id="28"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500" b="1" dirty="0">
                <a:solidFill>
                  <a:srgbClr val="4A6FC7"/>
                </a:solidFill>
                <a:latin typeface="Meiryo UI" pitchFamily="34" charset="0"/>
                <a:ea typeface="Meiryo UI" pitchFamily="34" charset="-122"/>
                <a:cs typeface="Meiryo UI" pitchFamily="34" charset="-120"/>
              </a:rPr>
              <a:t>放デイだけでは支えきれない。地域の「放課後の受け皿」にキャレオスが。</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ellipse">
            <a:avLst/>
          </a:prstGeom>
          <a:solidFill>
            <a:srgbClr val="E8505B"/>
          </a:solidFill>
          <a:ln w="12700">
            <a:solidFill>
              <a:srgbClr val="E8505B"/>
            </a:solidFill>
            <a:prstDash val="solid"/>
          </a:ln>
        </p:spPr>
      </p:sp>
      <p:sp>
        <p:nvSpPr>
          <p:cNvPr id="3" name="Shape 1"/>
          <p:cNvSpPr/>
          <p:nvPr/>
        </p:nvSpPr>
        <p:spPr>
          <a:xfrm>
            <a:off x="621792" y="384048"/>
            <a:ext cx="100584" cy="100584"/>
          </a:xfrm>
          <a:prstGeom prst="ellipse">
            <a:avLst/>
          </a:prstGeom>
          <a:solidFill>
            <a:srgbClr val="F39C33"/>
          </a:solidFill>
          <a:ln w="12700">
            <a:solidFill>
              <a:srgbClr val="F39C33"/>
            </a:solidFill>
            <a:prstDash val="solid"/>
          </a:ln>
        </p:spPr>
      </p:sp>
      <p:sp>
        <p:nvSpPr>
          <p:cNvPr id="4" name="Shape 2"/>
          <p:cNvSpPr/>
          <p:nvPr/>
        </p:nvSpPr>
        <p:spPr>
          <a:xfrm>
            <a:off x="786384" y="384048"/>
            <a:ext cx="100584" cy="100584"/>
          </a:xfrm>
          <a:prstGeom prst="ellipse">
            <a:avLst/>
          </a:prstGeom>
          <a:solidFill>
            <a:srgbClr val="F2C230"/>
          </a:solidFill>
          <a:ln w="12700">
            <a:solidFill>
              <a:srgbClr val="F2C230"/>
            </a:solidFill>
            <a:prstDash val="solid"/>
          </a:ln>
        </p:spPr>
      </p:sp>
      <p:sp>
        <p:nvSpPr>
          <p:cNvPr id="5" name="Shape 3"/>
          <p:cNvSpPr/>
          <p:nvPr/>
        </p:nvSpPr>
        <p:spPr>
          <a:xfrm>
            <a:off x="950976" y="384048"/>
            <a:ext cx="100584" cy="100584"/>
          </a:xfrm>
          <a:prstGeom prst="ellipse">
            <a:avLst/>
          </a:prstGeom>
          <a:solidFill>
            <a:srgbClr val="5DBB63"/>
          </a:solidFill>
          <a:ln w="12700">
            <a:solidFill>
              <a:srgbClr val="5DBB63"/>
            </a:solidFill>
            <a:prstDash val="solid"/>
          </a:ln>
        </p:spPr>
      </p:sp>
      <p:sp>
        <p:nvSpPr>
          <p:cNvPr id="6" name="Shape 4"/>
          <p:cNvSpPr/>
          <p:nvPr/>
        </p:nvSpPr>
        <p:spPr>
          <a:xfrm>
            <a:off x="1115568" y="384048"/>
            <a:ext cx="100584" cy="100584"/>
          </a:xfrm>
          <a:prstGeom prst="ellipse">
            <a:avLst/>
          </a:prstGeom>
          <a:solidFill>
            <a:srgbClr val="3FA7D6"/>
          </a:solidFill>
          <a:ln w="12700">
            <a:solidFill>
              <a:srgbClr val="3FA7D6"/>
            </a:solidFill>
            <a:prstDash val="solid"/>
          </a:ln>
        </p:spPr>
      </p:sp>
      <p:sp>
        <p:nvSpPr>
          <p:cNvPr id="7" name="Shape 5"/>
          <p:cNvSpPr/>
          <p:nvPr/>
        </p:nvSpPr>
        <p:spPr>
          <a:xfrm>
            <a:off x="1280160" y="384048"/>
            <a:ext cx="100584" cy="100584"/>
          </a:xfrm>
          <a:prstGeom prst="ellipse">
            <a:avLst/>
          </a:prstGeom>
          <a:solidFill>
            <a:srgbClr val="4A6FC7"/>
          </a:solidFill>
          <a:ln w="12700">
            <a:solidFill>
              <a:srgbClr val="4A6FC7"/>
            </a:solidFill>
            <a:prstDash val="solid"/>
          </a:ln>
        </p:spPr>
      </p:sp>
      <p:sp>
        <p:nvSpPr>
          <p:cNvPr id="8" name="Shape 6"/>
          <p:cNvSpPr/>
          <p:nvPr/>
        </p:nvSpPr>
        <p:spPr>
          <a:xfrm>
            <a:off x="1444752" y="384048"/>
            <a:ext cx="100584" cy="100584"/>
          </a:xfrm>
          <a:prstGeom prst="ellipse">
            <a:avLst/>
          </a:prstGeom>
          <a:solidFill>
            <a:srgbClr val="9A6BC4"/>
          </a:solidFill>
          <a:ln w="12700">
            <a:solidFill>
              <a:srgbClr val="9A6BC4"/>
            </a:solidFill>
            <a:prstDash val="solid"/>
          </a:ln>
        </p:spPr>
      </p:sp>
      <p:sp>
        <p:nvSpPr>
          <p:cNvPr id="9" name="Text 7"/>
          <p:cNvSpPr txBox="1"/>
          <p:nvPr/>
        </p:nvSpPr>
        <p:spPr>
          <a:xfrm>
            <a:off x="457200" y="530352"/>
            <a:ext cx="8229600" cy="640080"/>
          </a:xfrm>
          <a:prstGeom prst="rect">
            <a:avLst/>
          </a:prstGeom>
          <a:noFill/>
          <a:ln/>
        </p:spPr>
        <p:txBody>
          <a:bodyPr wrap="square" lIns="0" tIns="0" rIns="0" bIns="0" rtlCol="0" anchor="ctr"/>
          <a:lstStyle/>
          <a:p>
            <a:pPr indent="0" marL="0">
              <a:buNone/>
            </a:pPr>
            <a:r>
              <a:rPr lang="en-US" sz="2600" b="1" dirty="0">
                <a:solidFill>
                  <a:srgbClr val="2E3440"/>
                </a:solidFill>
                <a:latin typeface="Meiryo UI" pitchFamily="34" charset="0"/>
                <a:ea typeface="Meiryo UI" pitchFamily="34" charset="-122"/>
                <a:cs typeface="Meiryo UI" pitchFamily="34" charset="-120"/>
              </a:rPr>
              <a:t>きっかけ ③　愛媛でナンバーワンになるために</a:t>
            </a:r>
            <a:endParaRPr lang="en-US" sz="2600" dirty="0"/>
          </a:p>
        </p:txBody>
      </p:sp>
      <p:sp>
        <p:nvSpPr>
          <p:cNvPr id="10" name="Text 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Meiryo UI" pitchFamily="34" charset="0"/>
                <a:ea typeface="Meiryo UI" pitchFamily="34" charset="-122"/>
                <a:cs typeface="Meiryo UI" pitchFamily="34" charset="-120"/>
              </a:rPr>
              <a:t>5</a:t>
            </a:r>
            <a:endParaRPr lang="en-US" sz="1000" dirty="0"/>
          </a:p>
        </p:txBody>
      </p:sp>
      <p:sp>
        <p:nvSpPr>
          <p:cNvPr id="11" name="Shape 9"/>
          <p:cNvSpPr/>
          <p:nvPr/>
        </p:nvSpPr>
        <p:spPr>
          <a:xfrm>
            <a:off x="457200" y="1371600"/>
            <a:ext cx="3931920" cy="3108960"/>
          </a:xfrm>
          <a:prstGeom prst="roundRect">
            <a:avLst>
              <a:gd name="adj" fmla="val 3529"/>
            </a:avLst>
          </a:prstGeom>
          <a:solidFill>
            <a:srgbClr val="F4F6FA"/>
          </a:solidFill>
          <a:ln w="12700">
            <a:solidFill>
              <a:srgbClr val="F4F6FA"/>
            </a:solidFill>
            <a:prstDash val="solid"/>
          </a:ln>
        </p:spPr>
      </p:sp>
      <p:sp>
        <p:nvSpPr>
          <p:cNvPr id="12" name="Text 10"/>
          <p:cNvSpPr txBox="1"/>
          <p:nvPr/>
        </p:nvSpPr>
        <p:spPr>
          <a:xfrm>
            <a:off x="685800" y="1554480"/>
            <a:ext cx="3566160" cy="320040"/>
          </a:xfrm>
          <a:prstGeom prst="rect">
            <a:avLst/>
          </a:prstGeom>
          <a:noFill/>
          <a:ln/>
        </p:spPr>
        <p:txBody>
          <a:bodyPr wrap="square" lIns="0" tIns="0" rIns="0" bIns="0" rtlCol="0" anchor="t"/>
          <a:lstStyle/>
          <a:p>
            <a:pPr indent="0" marL="0">
              <a:buNone/>
            </a:pPr>
            <a:r>
              <a:rPr lang="en-US" sz="1300" b="1" dirty="0">
                <a:solidFill>
                  <a:srgbClr val="2E3440"/>
                </a:solidFill>
                <a:latin typeface="Meiryo UI" pitchFamily="34" charset="0"/>
                <a:ea typeface="Meiryo UI" pitchFamily="34" charset="-122"/>
                <a:cs typeface="Meiryo UI" pitchFamily="34" charset="-120"/>
              </a:rPr>
              <a:t>愛媛の福祉を支える地域大手（例：来島会）</a:t>
            </a:r>
            <a:endParaRPr lang="en-US" sz="1300" dirty="0"/>
          </a:p>
        </p:txBody>
      </p:sp>
      <p:sp>
        <p:nvSpPr>
          <p:cNvPr id="13" name="Shape 11"/>
          <p:cNvSpPr/>
          <p:nvPr/>
        </p:nvSpPr>
        <p:spPr>
          <a:xfrm>
            <a:off x="685800" y="2011680"/>
            <a:ext cx="1645920" cy="438912"/>
          </a:xfrm>
          <a:prstGeom prst="roundRect">
            <a:avLst>
              <a:gd name="adj" fmla="val 50000"/>
            </a:avLst>
          </a:prstGeom>
          <a:solidFill>
            <a:srgbClr val="FFFFFF"/>
          </a:solidFill>
          <a:ln w="19050">
            <a:solidFill>
              <a:srgbClr val="F2C230"/>
            </a:solidFill>
            <a:prstDash val="solid"/>
          </a:ln>
        </p:spPr>
      </p:sp>
      <p:sp>
        <p:nvSpPr>
          <p:cNvPr id="14" name="Text 12"/>
          <p:cNvSpPr txBox="1"/>
          <p:nvPr/>
        </p:nvSpPr>
        <p:spPr>
          <a:xfrm>
            <a:off x="685800" y="2011680"/>
            <a:ext cx="1645920" cy="438912"/>
          </a:xfrm>
          <a:prstGeom prst="rect">
            <a:avLst/>
          </a:prstGeom>
          <a:noFill/>
          <a:ln/>
        </p:spPr>
        <p:txBody>
          <a:bodyPr wrap="square" lIns="0" tIns="0" rIns="0" bIns="0" rtlCol="0" anchor="ctr"/>
          <a:lstStyle/>
          <a:p>
            <a:pPr algn="ctr" indent="0" marL="0">
              <a:buNone/>
            </a:pPr>
            <a:r>
              <a:rPr lang="en-US" sz="1200" dirty="0">
                <a:solidFill>
                  <a:srgbClr val="2E3440"/>
                </a:solidFill>
                <a:latin typeface="Meiryo UI" pitchFamily="34" charset="0"/>
                <a:ea typeface="Meiryo UI" pitchFamily="34" charset="-122"/>
                <a:cs typeface="Meiryo UI" pitchFamily="34" charset="-120"/>
              </a:rPr>
              <a:t>児童発達支援</a:t>
            </a:r>
            <a:endParaRPr lang="en-US" sz="1200" dirty="0"/>
          </a:p>
        </p:txBody>
      </p:sp>
      <p:sp>
        <p:nvSpPr>
          <p:cNvPr id="15" name="Shape 13"/>
          <p:cNvSpPr/>
          <p:nvPr/>
        </p:nvSpPr>
        <p:spPr>
          <a:xfrm>
            <a:off x="2468880" y="2011680"/>
            <a:ext cx="1645920" cy="438912"/>
          </a:xfrm>
          <a:prstGeom prst="roundRect">
            <a:avLst>
              <a:gd name="adj" fmla="val 50000"/>
            </a:avLst>
          </a:prstGeom>
          <a:solidFill>
            <a:srgbClr val="FFFFFF"/>
          </a:solidFill>
          <a:ln w="19050">
            <a:solidFill>
              <a:srgbClr val="5DBB63"/>
            </a:solidFill>
            <a:prstDash val="solid"/>
          </a:ln>
        </p:spPr>
      </p:sp>
      <p:sp>
        <p:nvSpPr>
          <p:cNvPr id="16" name="Text 14"/>
          <p:cNvSpPr txBox="1"/>
          <p:nvPr/>
        </p:nvSpPr>
        <p:spPr>
          <a:xfrm>
            <a:off x="2468880" y="2011680"/>
            <a:ext cx="1645920" cy="438912"/>
          </a:xfrm>
          <a:prstGeom prst="rect">
            <a:avLst/>
          </a:prstGeom>
          <a:noFill/>
          <a:ln/>
        </p:spPr>
        <p:txBody>
          <a:bodyPr wrap="square" lIns="0" tIns="0" rIns="0" bIns="0" rtlCol="0" anchor="ctr"/>
          <a:lstStyle/>
          <a:p>
            <a:pPr algn="ctr" indent="0" marL="0">
              <a:buNone/>
            </a:pPr>
            <a:r>
              <a:rPr lang="en-US" sz="1200" dirty="0">
                <a:solidFill>
                  <a:srgbClr val="2E3440"/>
                </a:solidFill>
                <a:latin typeface="Meiryo UI" pitchFamily="34" charset="0"/>
                <a:ea typeface="Meiryo UI" pitchFamily="34" charset="-122"/>
                <a:cs typeface="Meiryo UI" pitchFamily="34" charset="-120"/>
              </a:rPr>
              <a:t>就労継続支援</a:t>
            </a:r>
            <a:endParaRPr lang="en-US" sz="1200" dirty="0"/>
          </a:p>
        </p:txBody>
      </p:sp>
      <p:sp>
        <p:nvSpPr>
          <p:cNvPr id="17" name="Shape 15"/>
          <p:cNvSpPr/>
          <p:nvPr/>
        </p:nvSpPr>
        <p:spPr>
          <a:xfrm>
            <a:off x="685800" y="2578608"/>
            <a:ext cx="1645920" cy="438912"/>
          </a:xfrm>
          <a:prstGeom prst="roundRect">
            <a:avLst>
              <a:gd name="adj" fmla="val 50000"/>
            </a:avLst>
          </a:prstGeom>
          <a:solidFill>
            <a:srgbClr val="FFFFFF"/>
          </a:solidFill>
          <a:ln w="19050">
            <a:solidFill>
              <a:srgbClr val="3FA7D6"/>
            </a:solidFill>
            <a:prstDash val="solid"/>
          </a:ln>
        </p:spPr>
      </p:sp>
      <p:sp>
        <p:nvSpPr>
          <p:cNvPr id="18" name="Text 16"/>
          <p:cNvSpPr txBox="1"/>
          <p:nvPr/>
        </p:nvSpPr>
        <p:spPr>
          <a:xfrm>
            <a:off x="685800" y="2578608"/>
            <a:ext cx="1645920" cy="438912"/>
          </a:xfrm>
          <a:prstGeom prst="rect">
            <a:avLst/>
          </a:prstGeom>
          <a:noFill/>
          <a:ln/>
        </p:spPr>
        <p:txBody>
          <a:bodyPr wrap="square" lIns="0" tIns="0" rIns="0" bIns="0" rtlCol="0" anchor="ctr"/>
          <a:lstStyle/>
          <a:p>
            <a:pPr algn="ctr" indent="0" marL="0">
              <a:buNone/>
            </a:pPr>
            <a:r>
              <a:rPr lang="en-US" sz="1200" dirty="0">
                <a:solidFill>
                  <a:srgbClr val="2E3440"/>
                </a:solidFill>
                <a:latin typeface="Meiryo UI" pitchFamily="34" charset="0"/>
                <a:ea typeface="Meiryo UI" pitchFamily="34" charset="-122"/>
                <a:cs typeface="Meiryo UI" pitchFamily="34" charset="-120"/>
              </a:rPr>
              <a:t>相談支援</a:t>
            </a:r>
            <a:endParaRPr lang="en-US" sz="1200" dirty="0"/>
          </a:p>
        </p:txBody>
      </p:sp>
      <p:sp>
        <p:nvSpPr>
          <p:cNvPr id="19" name="Shape 17"/>
          <p:cNvSpPr/>
          <p:nvPr/>
        </p:nvSpPr>
        <p:spPr>
          <a:xfrm>
            <a:off x="2468880" y="2578608"/>
            <a:ext cx="1645920" cy="438912"/>
          </a:xfrm>
          <a:prstGeom prst="roundRect">
            <a:avLst>
              <a:gd name="adj" fmla="val 50000"/>
            </a:avLst>
          </a:prstGeom>
          <a:solidFill>
            <a:srgbClr val="FFFFFF"/>
          </a:solidFill>
          <a:ln w="19050">
            <a:solidFill>
              <a:srgbClr val="4A6FC7"/>
            </a:solidFill>
            <a:prstDash val="solid"/>
          </a:ln>
        </p:spPr>
      </p:sp>
      <p:sp>
        <p:nvSpPr>
          <p:cNvPr id="20" name="Text 18"/>
          <p:cNvSpPr txBox="1"/>
          <p:nvPr/>
        </p:nvSpPr>
        <p:spPr>
          <a:xfrm>
            <a:off x="2468880" y="2578608"/>
            <a:ext cx="1645920" cy="438912"/>
          </a:xfrm>
          <a:prstGeom prst="rect">
            <a:avLst/>
          </a:prstGeom>
          <a:noFill/>
          <a:ln/>
        </p:spPr>
        <p:txBody>
          <a:bodyPr wrap="square" lIns="0" tIns="0" rIns="0" bIns="0" rtlCol="0" anchor="ctr"/>
          <a:lstStyle/>
          <a:p>
            <a:pPr algn="ctr" indent="0" marL="0">
              <a:buNone/>
            </a:pPr>
            <a:r>
              <a:rPr lang="en-US" sz="1200" dirty="0">
                <a:solidFill>
                  <a:srgbClr val="2E3440"/>
                </a:solidFill>
                <a:latin typeface="Meiryo UI" pitchFamily="34" charset="0"/>
                <a:ea typeface="Meiryo UI" pitchFamily="34" charset="-122"/>
                <a:cs typeface="Meiryo UI" pitchFamily="34" charset="-120"/>
              </a:rPr>
              <a:t>グループホーム</a:t>
            </a:r>
            <a:endParaRPr lang="en-US" sz="1200" dirty="0"/>
          </a:p>
        </p:txBody>
      </p:sp>
      <p:sp>
        <p:nvSpPr>
          <p:cNvPr id="21" name="Shape 19"/>
          <p:cNvSpPr/>
          <p:nvPr/>
        </p:nvSpPr>
        <p:spPr>
          <a:xfrm>
            <a:off x="685800" y="3145536"/>
            <a:ext cx="1645920" cy="438912"/>
          </a:xfrm>
          <a:prstGeom prst="roundRect">
            <a:avLst>
              <a:gd name="adj" fmla="val 50000"/>
            </a:avLst>
          </a:prstGeom>
          <a:solidFill>
            <a:srgbClr val="FFFFFF"/>
          </a:solidFill>
          <a:ln w="19050">
            <a:solidFill>
              <a:srgbClr val="9A6BC4"/>
            </a:solidFill>
            <a:prstDash val="solid"/>
          </a:ln>
        </p:spPr>
      </p:sp>
      <p:sp>
        <p:nvSpPr>
          <p:cNvPr id="22" name="Text 20"/>
          <p:cNvSpPr txBox="1"/>
          <p:nvPr/>
        </p:nvSpPr>
        <p:spPr>
          <a:xfrm>
            <a:off x="685800" y="3145536"/>
            <a:ext cx="1645920" cy="438912"/>
          </a:xfrm>
          <a:prstGeom prst="rect">
            <a:avLst/>
          </a:prstGeom>
          <a:noFill/>
          <a:ln/>
        </p:spPr>
        <p:txBody>
          <a:bodyPr wrap="square" lIns="0" tIns="0" rIns="0" bIns="0" rtlCol="0" anchor="ctr"/>
          <a:lstStyle/>
          <a:p>
            <a:pPr algn="ctr" indent="0" marL="0">
              <a:buNone/>
            </a:pPr>
            <a:r>
              <a:rPr lang="en-US" sz="1200" dirty="0">
                <a:solidFill>
                  <a:srgbClr val="2E3440"/>
                </a:solidFill>
                <a:latin typeface="Meiryo UI" pitchFamily="34" charset="0"/>
                <a:ea typeface="Meiryo UI" pitchFamily="34" charset="-122"/>
                <a:cs typeface="Meiryo UI" pitchFamily="34" charset="-120"/>
              </a:rPr>
              <a:t>介護</a:t>
            </a:r>
            <a:endParaRPr lang="en-US" sz="1200" dirty="0"/>
          </a:p>
        </p:txBody>
      </p:sp>
      <p:sp>
        <p:nvSpPr>
          <p:cNvPr id="23" name="Text 21"/>
          <p:cNvSpPr txBox="1"/>
          <p:nvPr/>
        </p:nvSpPr>
        <p:spPr>
          <a:xfrm>
            <a:off x="685800" y="3977640"/>
            <a:ext cx="3566160" cy="320040"/>
          </a:xfrm>
          <a:prstGeom prst="rect">
            <a:avLst/>
          </a:prstGeom>
          <a:noFill/>
          <a:ln/>
        </p:spPr>
        <p:txBody>
          <a:bodyPr wrap="square" lIns="0" tIns="0" rIns="0" bIns="0" rtlCol="0" anchor="t"/>
          <a:lstStyle/>
          <a:p>
            <a:pPr indent="0" marL="0">
              <a:buNone/>
            </a:pPr>
            <a:r>
              <a:rPr lang="en-US" sz="1100" dirty="0">
                <a:solidFill>
                  <a:srgbClr val="6B7280"/>
                </a:solidFill>
                <a:latin typeface="Meiryo UI" pitchFamily="34" charset="0"/>
                <a:ea typeface="Meiryo UI" pitchFamily="34" charset="-122"/>
                <a:cs typeface="Meiryo UI" pitchFamily="34" charset="-120"/>
              </a:rPr>
              <a:t>ライフステージを通して多数展開</a:t>
            </a:r>
            <a:endParaRPr lang="en-US" sz="1100" dirty="0"/>
          </a:p>
        </p:txBody>
      </p:sp>
      <p:sp>
        <p:nvSpPr>
          <p:cNvPr id="24" name="Text 22"/>
          <p:cNvSpPr txBox="1"/>
          <p:nvPr/>
        </p:nvSpPr>
        <p:spPr>
          <a:xfrm>
            <a:off x="4754880" y="1417320"/>
            <a:ext cx="3931920" cy="365760"/>
          </a:xfrm>
          <a:prstGeom prst="rect">
            <a:avLst/>
          </a:prstGeom>
          <a:noFill/>
          <a:ln/>
        </p:spPr>
        <p:txBody>
          <a:bodyPr wrap="square" lIns="0" tIns="0" rIns="0" bIns="0" rtlCol="0" anchor="t"/>
          <a:lstStyle/>
          <a:p>
            <a:pPr indent="0" marL="0">
              <a:buNone/>
            </a:pPr>
            <a:r>
              <a:rPr lang="en-US" sz="1500" b="1" dirty="0">
                <a:solidFill>
                  <a:srgbClr val="2E3440"/>
                </a:solidFill>
                <a:latin typeface="Meiryo UI" pitchFamily="34" charset="0"/>
                <a:ea typeface="Meiryo UI" pitchFamily="34" charset="-122"/>
                <a:cs typeface="Meiryo UI" pitchFamily="34" charset="-120"/>
              </a:rPr>
              <a:t>10年後・20年後を見据えると</a:t>
            </a:r>
            <a:endParaRPr lang="en-US" sz="1500" dirty="0"/>
          </a:p>
        </p:txBody>
      </p:sp>
      <p:sp>
        <p:nvSpPr>
          <p:cNvPr id="25" name="Shape 23"/>
          <p:cNvSpPr/>
          <p:nvPr/>
        </p:nvSpPr>
        <p:spPr>
          <a:xfrm>
            <a:off x="4754880" y="1920240"/>
            <a:ext cx="201168" cy="201168"/>
          </a:xfrm>
          <a:prstGeom prst="ellipse">
            <a:avLst/>
          </a:prstGeom>
          <a:solidFill>
            <a:srgbClr val="E8505B"/>
          </a:solidFill>
          <a:ln w="12700">
            <a:solidFill>
              <a:srgbClr val="E8505B"/>
            </a:solidFill>
            <a:prstDash val="solid"/>
          </a:ln>
        </p:spPr>
      </p:sp>
      <p:sp>
        <p:nvSpPr>
          <p:cNvPr id="26" name="Text 24"/>
          <p:cNvSpPr txBox="1"/>
          <p:nvPr/>
        </p:nvSpPr>
        <p:spPr>
          <a:xfrm>
            <a:off x="4754880" y="1920240"/>
            <a:ext cx="201168" cy="201168"/>
          </a:xfrm>
          <a:prstGeom prst="rect">
            <a:avLst/>
          </a:prstGeom>
          <a:noFill/>
          <a:ln/>
        </p:spPr>
        <p:txBody>
          <a:bodyPr wrap="square" lIns="0" tIns="0" rIns="0" bIns="0" rtlCol="0" anchor="ctr"/>
          <a:lstStyle/>
          <a:p>
            <a:pPr algn="ctr" indent="0" marL="0">
              <a:buNone/>
            </a:pPr>
            <a:endParaRPr lang="en-US" sz="1400" dirty="0"/>
          </a:p>
        </p:txBody>
      </p:sp>
      <p:sp>
        <p:nvSpPr>
          <p:cNvPr id="27" name="Text 25"/>
          <p:cNvSpPr txBox="1"/>
          <p:nvPr/>
        </p:nvSpPr>
        <p:spPr>
          <a:xfrm>
            <a:off x="5074920" y="1874520"/>
            <a:ext cx="3657600" cy="320040"/>
          </a:xfrm>
          <a:prstGeom prst="rect">
            <a:avLst/>
          </a:prstGeom>
          <a:noFill/>
          <a:ln/>
        </p:spPr>
        <p:txBody>
          <a:bodyPr wrap="square" lIns="0" tIns="0" rIns="0" bIns="0" rtlCol="0" anchor="ctr"/>
          <a:lstStyle/>
          <a:p>
            <a:pPr indent="0" marL="0">
              <a:buNone/>
            </a:pPr>
            <a:r>
              <a:rPr lang="en-US" sz="1350" dirty="0">
                <a:solidFill>
                  <a:srgbClr val="2E3440"/>
                </a:solidFill>
                <a:latin typeface="Meiryo UI" pitchFamily="34" charset="0"/>
                <a:ea typeface="Meiryo UI" pitchFamily="34" charset="-122"/>
                <a:cs typeface="Meiryo UI" pitchFamily="34" charset="-120"/>
              </a:rPr>
              <a:t>総量規制のはじまり</a:t>
            </a:r>
            <a:endParaRPr lang="en-US" sz="1350" dirty="0"/>
          </a:p>
        </p:txBody>
      </p:sp>
      <p:sp>
        <p:nvSpPr>
          <p:cNvPr id="28" name="Shape 26"/>
          <p:cNvSpPr/>
          <p:nvPr/>
        </p:nvSpPr>
        <p:spPr>
          <a:xfrm>
            <a:off x="4754880" y="2487168"/>
            <a:ext cx="201168" cy="201168"/>
          </a:xfrm>
          <a:prstGeom prst="ellipse">
            <a:avLst/>
          </a:prstGeom>
          <a:solidFill>
            <a:srgbClr val="F39C33"/>
          </a:solidFill>
          <a:ln w="12700">
            <a:solidFill>
              <a:srgbClr val="F39C33"/>
            </a:solidFill>
            <a:prstDash val="solid"/>
          </a:ln>
        </p:spPr>
      </p:sp>
      <p:sp>
        <p:nvSpPr>
          <p:cNvPr id="29" name="Text 27"/>
          <p:cNvSpPr txBox="1"/>
          <p:nvPr/>
        </p:nvSpPr>
        <p:spPr>
          <a:xfrm>
            <a:off x="4754880" y="2487168"/>
            <a:ext cx="201168" cy="201168"/>
          </a:xfrm>
          <a:prstGeom prst="rect">
            <a:avLst/>
          </a:prstGeom>
          <a:noFill/>
          <a:ln/>
        </p:spPr>
        <p:txBody>
          <a:bodyPr wrap="square" lIns="0" tIns="0" rIns="0" bIns="0" rtlCol="0" anchor="ctr"/>
          <a:lstStyle/>
          <a:p>
            <a:pPr algn="ctr" indent="0" marL="0">
              <a:buNone/>
            </a:pPr>
            <a:endParaRPr lang="en-US" sz="1400" dirty="0"/>
          </a:p>
        </p:txBody>
      </p:sp>
      <p:sp>
        <p:nvSpPr>
          <p:cNvPr id="30" name="Text 28"/>
          <p:cNvSpPr txBox="1"/>
          <p:nvPr/>
        </p:nvSpPr>
        <p:spPr>
          <a:xfrm>
            <a:off x="5074920" y="2441448"/>
            <a:ext cx="3657600" cy="320040"/>
          </a:xfrm>
          <a:prstGeom prst="rect">
            <a:avLst/>
          </a:prstGeom>
          <a:noFill/>
          <a:ln/>
        </p:spPr>
        <p:txBody>
          <a:bodyPr wrap="square" lIns="0" tIns="0" rIns="0" bIns="0" rtlCol="0" anchor="ctr"/>
          <a:lstStyle/>
          <a:p>
            <a:pPr indent="0" marL="0">
              <a:buNone/>
            </a:pPr>
            <a:r>
              <a:rPr lang="en-US" sz="1350" dirty="0">
                <a:solidFill>
                  <a:srgbClr val="2E3440"/>
                </a:solidFill>
                <a:latin typeface="Meiryo UI" pitchFamily="34" charset="0"/>
                <a:ea typeface="Meiryo UI" pitchFamily="34" charset="-122"/>
                <a:cs typeface="Meiryo UI" pitchFamily="34" charset="-120"/>
              </a:rPr>
              <a:t>人口減少</a:t>
            </a:r>
            <a:endParaRPr lang="en-US" sz="1350" dirty="0"/>
          </a:p>
        </p:txBody>
      </p:sp>
      <p:sp>
        <p:nvSpPr>
          <p:cNvPr id="31" name="Shape 29"/>
          <p:cNvSpPr/>
          <p:nvPr/>
        </p:nvSpPr>
        <p:spPr>
          <a:xfrm>
            <a:off x="4754880" y="3054096"/>
            <a:ext cx="201168" cy="201168"/>
          </a:xfrm>
          <a:prstGeom prst="ellipse">
            <a:avLst/>
          </a:prstGeom>
          <a:solidFill>
            <a:srgbClr val="5DBB63"/>
          </a:solidFill>
          <a:ln w="12700">
            <a:solidFill>
              <a:srgbClr val="5DBB63"/>
            </a:solidFill>
            <a:prstDash val="solid"/>
          </a:ln>
        </p:spPr>
      </p:sp>
      <p:sp>
        <p:nvSpPr>
          <p:cNvPr id="32" name="Text 30"/>
          <p:cNvSpPr txBox="1"/>
          <p:nvPr/>
        </p:nvSpPr>
        <p:spPr>
          <a:xfrm>
            <a:off x="4754880" y="3054096"/>
            <a:ext cx="201168" cy="201168"/>
          </a:xfrm>
          <a:prstGeom prst="rect">
            <a:avLst/>
          </a:prstGeom>
          <a:noFill/>
          <a:ln/>
        </p:spPr>
        <p:txBody>
          <a:bodyPr wrap="square" lIns="0" tIns="0" rIns="0" bIns="0" rtlCol="0" anchor="ctr"/>
          <a:lstStyle/>
          <a:p>
            <a:pPr algn="ctr" indent="0" marL="0">
              <a:buNone/>
            </a:pPr>
            <a:endParaRPr lang="en-US" sz="1400" dirty="0"/>
          </a:p>
        </p:txBody>
      </p:sp>
      <p:sp>
        <p:nvSpPr>
          <p:cNvPr id="33" name="Text 31"/>
          <p:cNvSpPr txBox="1"/>
          <p:nvPr/>
        </p:nvSpPr>
        <p:spPr>
          <a:xfrm>
            <a:off x="5074920" y="3008376"/>
            <a:ext cx="3657600" cy="320040"/>
          </a:xfrm>
          <a:prstGeom prst="rect">
            <a:avLst/>
          </a:prstGeom>
          <a:noFill/>
          <a:ln/>
        </p:spPr>
        <p:txBody>
          <a:bodyPr wrap="square" lIns="0" tIns="0" rIns="0" bIns="0" rtlCol="0" anchor="ctr"/>
          <a:lstStyle/>
          <a:p>
            <a:pPr indent="0" marL="0">
              <a:buNone/>
            </a:pPr>
            <a:r>
              <a:rPr lang="en-US" sz="1350" dirty="0">
                <a:solidFill>
                  <a:srgbClr val="2E3440"/>
                </a:solidFill>
                <a:latin typeface="Meiryo UI" pitchFamily="34" charset="0"/>
                <a:ea typeface="Meiryo UI" pitchFamily="34" charset="-122"/>
                <a:cs typeface="Meiryo UI" pitchFamily="34" charset="-120"/>
              </a:rPr>
              <a:t>「選ばれ続ける」ための地域に根差した福祉</a:t>
            </a:r>
            <a:endParaRPr lang="en-US" sz="1350" dirty="0"/>
          </a:p>
        </p:txBody>
      </p:sp>
      <p:sp>
        <p:nvSpPr>
          <p:cNvPr id="34" name="Text 32"/>
          <p:cNvSpPr txBox="1"/>
          <p:nvPr/>
        </p:nvSpPr>
        <p:spPr>
          <a:xfrm>
            <a:off x="4754880" y="3657600"/>
            <a:ext cx="3931920" cy="822960"/>
          </a:xfrm>
          <a:prstGeom prst="rect">
            <a:avLst/>
          </a:prstGeom>
          <a:noFill/>
          <a:ln/>
        </p:spPr>
        <p:txBody>
          <a:bodyPr wrap="square" lIns="0" tIns="0" rIns="0" bIns="0" rtlCol="0" anchor="t"/>
          <a:lstStyle/>
          <a:p>
            <a:pPr indent="0" marL="0">
              <a:buNone/>
            </a:pPr>
            <a:r>
              <a:rPr lang="en-US" sz="1800" b="1" dirty="0">
                <a:solidFill>
                  <a:srgbClr val="4A6FC7"/>
                </a:solidFill>
                <a:latin typeface="Meiryo UI" pitchFamily="34" charset="0"/>
                <a:ea typeface="Meiryo UI" pitchFamily="34" charset="-122"/>
                <a:cs typeface="Meiryo UI" pitchFamily="34" charset="-120"/>
              </a:rPr>
              <a:t>同等、それ以上の</a:t>
            </a:r>
            <a:endParaRPr lang="en-US" sz="1800" dirty="0"/>
          </a:p>
          <a:p>
            <a:pPr indent="0" marL="0">
              <a:buNone/>
            </a:pPr>
            <a:r>
              <a:rPr lang="en-US" sz="1800" b="1" dirty="0">
                <a:solidFill>
                  <a:srgbClr val="4A6FC7"/>
                </a:solidFill>
                <a:latin typeface="Meiryo UI" pitchFamily="34" charset="0"/>
                <a:ea typeface="Meiryo UI" pitchFamily="34" charset="-122"/>
                <a:cs typeface="Meiryo UI" pitchFamily="34" charset="-120"/>
              </a:rPr>
              <a:t>トータルサポートが必要。</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ellipse">
            <a:avLst/>
          </a:prstGeom>
          <a:solidFill>
            <a:srgbClr val="E8505B"/>
          </a:solidFill>
          <a:ln w="12700">
            <a:solidFill>
              <a:srgbClr val="E8505B"/>
            </a:solidFill>
            <a:prstDash val="solid"/>
          </a:ln>
        </p:spPr>
      </p:sp>
      <p:sp>
        <p:nvSpPr>
          <p:cNvPr id="3" name="Shape 1"/>
          <p:cNvSpPr/>
          <p:nvPr/>
        </p:nvSpPr>
        <p:spPr>
          <a:xfrm>
            <a:off x="621792" y="384048"/>
            <a:ext cx="100584" cy="100584"/>
          </a:xfrm>
          <a:prstGeom prst="ellipse">
            <a:avLst/>
          </a:prstGeom>
          <a:solidFill>
            <a:srgbClr val="F39C33"/>
          </a:solidFill>
          <a:ln w="12700">
            <a:solidFill>
              <a:srgbClr val="F39C33"/>
            </a:solidFill>
            <a:prstDash val="solid"/>
          </a:ln>
        </p:spPr>
      </p:sp>
      <p:sp>
        <p:nvSpPr>
          <p:cNvPr id="4" name="Shape 2"/>
          <p:cNvSpPr/>
          <p:nvPr/>
        </p:nvSpPr>
        <p:spPr>
          <a:xfrm>
            <a:off x="786384" y="384048"/>
            <a:ext cx="100584" cy="100584"/>
          </a:xfrm>
          <a:prstGeom prst="ellipse">
            <a:avLst/>
          </a:prstGeom>
          <a:solidFill>
            <a:srgbClr val="F2C230"/>
          </a:solidFill>
          <a:ln w="12700">
            <a:solidFill>
              <a:srgbClr val="F2C230"/>
            </a:solidFill>
            <a:prstDash val="solid"/>
          </a:ln>
        </p:spPr>
      </p:sp>
      <p:sp>
        <p:nvSpPr>
          <p:cNvPr id="5" name="Shape 3"/>
          <p:cNvSpPr/>
          <p:nvPr/>
        </p:nvSpPr>
        <p:spPr>
          <a:xfrm>
            <a:off x="950976" y="384048"/>
            <a:ext cx="100584" cy="100584"/>
          </a:xfrm>
          <a:prstGeom prst="ellipse">
            <a:avLst/>
          </a:prstGeom>
          <a:solidFill>
            <a:srgbClr val="5DBB63"/>
          </a:solidFill>
          <a:ln w="12700">
            <a:solidFill>
              <a:srgbClr val="5DBB63"/>
            </a:solidFill>
            <a:prstDash val="solid"/>
          </a:ln>
        </p:spPr>
      </p:sp>
      <p:sp>
        <p:nvSpPr>
          <p:cNvPr id="6" name="Shape 4"/>
          <p:cNvSpPr/>
          <p:nvPr/>
        </p:nvSpPr>
        <p:spPr>
          <a:xfrm>
            <a:off x="1115568" y="384048"/>
            <a:ext cx="100584" cy="100584"/>
          </a:xfrm>
          <a:prstGeom prst="ellipse">
            <a:avLst/>
          </a:prstGeom>
          <a:solidFill>
            <a:srgbClr val="3FA7D6"/>
          </a:solidFill>
          <a:ln w="12700">
            <a:solidFill>
              <a:srgbClr val="3FA7D6"/>
            </a:solidFill>
            <a:prstDash val="solid"/>
          </a:ln>
        </p:spPr>
      </p:sp>
      <p:sp>
        <p:nvSpPr>
          <p:cNvPr id="7" name="Shape 5"/>
          <p:cNvSpPr/>
          <p:nvPr/>
        </p:nvSpPr>
        <p:spPr>
          <a:xfrm>
            <a:off x="1280160" y="384048"/>
            <a:ext cx="100584" cy="100584"/>
          </a:xfrm>
          <a:prstGeom prst="ellipse">
            <a:avLst/>
          </a:prstGeom>
          <a:solidFill>
            <a:srgbClr val="4A6FC7"/>
          </a:solidFill>
          <a:ln w="12700">
            <a:solidFill>
              <a:srgbClr val="4A6FC7"/>
            </a:solidFill>
            <a:prstDash val="solid"/>
          </a:ln>
        </p:spPr>
      </p:sp>
      <p:sp>
        <p:nvSpPr>
          <p:cNvPr id="8" name="Shape 6"/>
          <p:cNvSpPr/>
          <p:nvPr/>
        </p:nvSpPr>
        <p:spPr>
          <a:xfrm>
            <a:off x="1444752" y="384048"/>
            <a:ext cx="100584" cy="100584"/>
          </a:xfrm>
          <a:prstGeom prst="ellipse">
            <a:avLst/>
          </a:prstGeom>
          <a:solidFill>
            <a:srgbClr val="9A6BC4"/>
          </a:solidFill>
          <a:ln w="12700">
            <a:solidFill>
              <a:srgbClr val="9A6BC4"/>
            </a:solidFill>
            <a:prstDash val="solid"/>
          </a:ln>
        </p:spPr>
      </p:sp>
      <p:sp>
        <p:nvSpPr>
          <p:cNvPr id="9" name="Text 7"/>
          <p:cNvSpPr txBox="1"/>
          <p:nvPr/>
        </p:nvSpPr>
        <p:spPr>
          <a:xfrm>
            <a:off x="457200" y="530352"/>
            <a:ext cx="8229600" cy="640080"/>
          </a:xfrm>
          <a:prstGeom prst="rect">
            <a:avLst/>
          </a:prstGeom>
          <a:noFill/>
          <a:ln/>
        </p:spPr>
        <p:txBody>
          <a:bodyPr wrap="square" lIns="0" tIns="0" rIns="0" bIns="0" rtlCol="0" anchor="ctr"/>
          <a:lstStyle/>
          <a:p>
            <a:pPr indent="0" marL="0">
              <a:buNone/>
            </a:pPr>
            <a:r>
              <a:rPr lang="en-US" sz="2600" b="1" dirty="0">
                <a:solidFill>
                  <a:srgbClr val="2E3440"/>
                </a:solidFill>
                <a:latin typeface="Meiryo UI" pitchFamily="34" charset="0"/>
                <a:ea typeface="Meiryo UI" pitchFamily="34" charset="-122"/>
                <a:cs typeface="Meiryo UI" pitchFamily="34" charset="-120"/>
              </a:rPr>
              <a:t>クロスボーダーで関わりたい部署</a:t>
            </a:r>
            <a:endParaRPr lang="en-US" sz="2600" dirty="0"/>
          </a:p>
        </p:txBody>
      </p:sp>
      <p:sp>
        <p:nvSpPr>
          <p:cNvPr id="10" name="Text 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Meiryo UI" pitchFamily="34" charset="0"/>
                <a:ea typeface="Meiryo UI" pitchFamily="34" charset="-122"/>
                <a:cs typeface="Meiryo UI" pitchFamily="34" charset="-120"/>
              </a:rPr>
              <a:t>6</a:t>
            </a:r>
            <a:endParaRPr lang="en-US" sz="1000" dirty="0"/>
          </a:p>
        </p:txBody>
      </p:sp>
      <p:sp>
        <p:nvSpPr>
          <p:cNvPr id="11" name="Text 9"/>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300" dirty="0">
                <a:solidFill>
                  <a:srgbClr val="6B7280"/>
                </a:solidFill>
                <a:latin typeface="Meiryo UI" pitchFamily="34" charset="0"/>
                <a:ea typeface="Meiryo UI" pitchFamily="34" charset="-122"/>
                <a:cs typeface="Meiryo UI" pitchFamily="34" charset="-120"/>
              </a:rPr>
              <a:t>愛媛などで福祉施設を広げるための「知識」と「動き方」を身につける</a:t>
            </a:r>
            <a:endParaRPr lang="en-US" sz="1300" dirty="0"/>
          </a:p>
        </p:txBody>
      </p:sp>
      <p:sp>
        <p:nvSpPr>
          <p:cNvPr id="12" name="Shape 10"/>
          <p:cNvSpPr/>
          <p:nvPr/>
        </p:nvSpPr>
        <p:spPr>
          <a:xfrm>
            <a:off x="457200" y="1691640"/>
            <a:ext cx="4023360" cy="2514600"/>
          </a:xfrm>
          <a:prstGeom prst="roundRect">
            <a:avLst>
              <a:gd name="adj" fmla="val 4364"/>
            </a:avLst>
          </a:prstGeom>
          <a:solidFill>
            <a:srgbClr val="F4F6FA"/>
          </a:solidFill>
          <a:ln w="12700">
            <a:solidFill>
              <a:srgbClr val="F4F6FA"/>
            </a:solidFill>
            <a:prstDash val="solid"/>
          </a:ln>
        </p:spPr>
      </p:sp>
      <p:sp>
        <p:nvSpPr>
          <p:cNvPr id="13" name="Text 11"/>
          <p:cNvSpPr txBox="1"/>
          <p:nvPr/>
        </p:nvSpPr>
        <p:spPr>
          <a:xfrm>
            <a:off x="685800" y="1874520"/>
            <a:ext cx="3566160" cy="274320"/>
          </a:xfrm>
          <a:prstGeom prst="rect">
            <a:avLst/>
          </a:prstGeom>
          <a:noFill/>
          <a:ln/>
        </p:spPr>
        <p:txBody>
          <a:bodyPr wrap="square" lIns="0" tIns="0" rIns="0" bIns="0" rtlCol="0" anchor="t"/>
          <a:lstStyle/>
          <a:p>
            <a:pPr indent="0" marL="0">
              <a:buNone/>
            </a:pPr>
            <a:r>
              <a:rPr lang="en-US" sz="1100" dirty="0">
                <a:solidFill>
                  <a:srgbClr val="6B7280"/>
                </a:solidFill>
                <a:latin typeface="Meiryo UI" pitchFamily="34" charset="0"/>
                <a:ea typeface="Meiryo UI" pitchFamily="34" charset="-122"/>
                <a:cs typeface="Meiryo UI" pitchFamily="34" charset="-120"/>
              </a:rPr>
              <a:t>第三管理部　事業開発課</a:t>
            </a:r>
            <a:endParaRPr lang="en-US" sz="1100" dirty="0"/>
          </a:p>
        </p:txBody>
      </p:sp>
      <p:sp>
        <p:nvSpPr>
          <p:cNvPr id="14" name="Shape 12"/>
          <p:cNvSpPr/>
          <p:nvPr/>
        </p:nvSpPr>
        <p:spPr>
          <a:xfrm>
            <a:off x="685800" y="2240280"/>
            <a:ext cx="201168" cy="201168"/>
          </a:xfrm>
          <a:prstGeom prst="ellipse">
            <a:avLst/>
          </a:prstGeom>
          <a:solidFill>
            <a:srgbClr val="5DBB63"/>
          </a:solidFill>
          <a:ln w="12700">
            <a:solidFill>
              <a:srgbClr val="5DBB63"/>
            </a:solidFill>
            <a:prstDash val="solid"/>
          </a:ln>
        </p:spPr>
      </p:sp>
      <p:sp>
        <p:nvSpPr>
          <p:cNvPr id="15" name="Text 13"/>
          <p:cNvSpPr txBox="1"/>
          <p:nvPr/>
        </p:nvSpPr>
        <p:spPr>
          <a:xfrm>
            <a:off x="978408" y="2148840"/>
            <a:ext cx="3291840" cy="384048"/>
          </a:xfrm>
          <a:prstGeom prst="rect">
            <a:avLst/>
          </a:prstGeom>
          <a:noFill/>
          <a:ln/>
        </p:spPr>
        <p:txBody>
          <a:bodyPr wrap="square" lIns="0" tIns="0" rIns="0" bIns="0" rtlCol="0" anchor="ctr"/>
          <a:lstStyle/>
          <a:p>
            <a:pPr indent="0" marL="0">
              <a:buNone/>
            </a:pPr>
            <a:r>
              <a:rPr lang="en-US" sz="1800" b="1" dirty="0">
                <a:solidFill>
                  <a:srgbClr val="2E3440"/>
                </a:solidFill>
                <a:latin typeface="Meiryo UI" pitchFamily="34" charset="0"/>
                <a:ea typeface="Meiryo UI" pitchFamily="34" charset="-122"/>
                <a:cs typeface="Meiryo UI" pitchFamily="34" charset="-120"/>
              </a:rPr>
              <a:t>地域共創係</a:t>
            </a:r>
            <a:endParaRPr lang="en-US" sz="1800" dirty="0"/>
          </a:p>
        </p:txBody>
      </p:sp>
      <p:sp>
        <p:nvSpPr>
          <p:cNvPr id="16" name="Shape 14"/>
          <p:cNvSpPr/>
          <p:nvPr/>
        </p:nvSpPr>
        <p:spPr>
          <a:xfrm>
            <a:off x="685800" y="2697480"/>
            <a:ext cx="685800" cy="274320"/>
          </a:xfrm>
          <a:prstGeom prst="roundRect">
            <a:avLst>
              <a:gd name="adj" fmla="val 50000"/>
            </a:avLst>
          </a:prstGeom>
          <a:solidFill>
            <a:srgbClr val="5DBB63"/>
          </a:solidFill>
          <a:ln w="12700">
            <a:solidFill>
              <a:srgbClr val="5DBB63"/>
            </a:solidFill>
            <a:prstDash val="solid"/>
          </a:ln>
        </p:spPr>
      </p:sp>
      <p:sp>
        <p:nvSpPr>
          <p:cNvPr id="17" name="Text 15"/>
          <p:cNvSpPr txBox="1"/>
          <p:nvPr/>
        </p:nvSpPr>
        <p:spPr>
          <a:xfrm>
            <a:off x="685800" y="2697480"/>
            <a:ext cx="685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知識</a:t>
            </a:r>
            <a:endParaRPr lang="en-US" sz="1000" dirty="0"/>
          </a:p>
        </p:txBody>
      </p:sp>
      <p:sp>
        <p:nvSpPr>
          <p:cNvPr id="18" name="Text 16"/>
          <p:cNvSpPr txBox="1"/>
          <p:nvPr/>
        </p:nvSpPr>
        <p:spPr>
          <a:xfrm>
            <a:off x="1508760" y="2670048"/>
            <a:ext cx="2788920" cy="640080"/>
          </a:xfrm>
          <a:prstGeom prst="rect">
            <a:avLst/>
          </a:prstGeom>
          <a:noFill/>
          <a:ln/>
        </p:spPr>
        <p:txBody>
          <a:bodyPr wrap="square" lIns="0" tIns="0" rIns="0" bIns="0" rtlCol="0" anchor="t"/>
          <a:lstStyle/>
          <a:p>
            <a:pPr indent="0" marL="0">
              <a:lnSpc>
                <a:spcPct val="110000"/>
              </a:lnSpc>
              <a:buNone/>
            </a:pPr>
            <a:r>
              <a:rPr lang="en-US" sz="1150" dirty="0">
                <a:solidFill>
                  <a:srgbClr val="2E3440"/>
                </a:solidFill>
                <a:latin typeface="Meiryo UI" pitchFamily="34" charset="0"/>
                <a:ea typeface="Meiryo UI" pitchFamily="34" charset="-122"/>
                <a:cs typeface="Meiryo UI" pitchFamily="34" charset="-120"/>
              </a:rPr>
              <a:t>新規事業の立ち上げ方（市場調査・事業計画・収支の見立て・指定申請）</a:t>
            </a:r>
            <a:endParaRPr lang="en-US" sz="1150" dirty="0"/>
          </a:p>
        </p:txBody>
      </p:sp>
      <p:sp>
        <p:nvSpPr>
          <p:cNvPr id="19" name="Shape 17"/>
          <p:cNvSpPr/>
          <p:nvPr/>
        </p:nvSpPr>
        <p:spPr>
          <a:xfrm>
            <a:off x="685800" y="3410712"/>
            <a:ext cx="685800" cy="274320"/>
          </a:xfrm>
          <a:prstGeom prst="roundRect">
            <a:avLst>
              <a:gd name="adj" fmla="val 50000"/>
            </a:avLst>
          </a:prstGeom>
          <a:solidFill>
            <a:srgbClr val="5DBB63"/>
          </a:solidFill>
          <a:ln w="12700">
            <a:solidFill>
              <a:srgbClr val="5DBB63"/>
            </a:solidFill>
            <a:prstDash val="solid"/>
          </a:ln>
        </p:spPr>
      </p:sp>
      <p:sp>
        <p:nvSpPr>
          <p:cNvPr id="20" name="Text 18"/>
          <p:cNvSpPr txBox="1"/>
          <p:nvPr/>
        </p:nvSpPr>
        <p:spPr>
          <a:xfrm>
            <a:off x="685800" y="3410712"/>
            <a:ext cx="685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動き方</a:t>
            </a:r>
            <a:endParaRPr lang="en-US" sz="1000" dirty="0"/>
          </a:p>
        </p:txBody>
      </p:sp>
      <p:sp>
        <p:nvSpPr>
          <p:cNvPr id="21" name="Text 19"/>
          <p:cNvSpPr txBox="1"/>
          <p:nvPr/>
        </p:nvSpPr>
        <p:spPr>
          <a:xfrm>
            <a:off x="1508760" y="3383280"/>
            <a:ext cx="2788920" cy="640080"/>
          </a:xfrm>
          <a:prstGeom prst="rect">
            <a:avLst/>
          </a:prstGeom>
          <a:noFill/>
          <a:ln/>
        </p:spPr>
        <p:txBody>
          <a:bodyPr wrap="square" lIns="0" tIns="0" rIns="0" bIns="0" rtlCol="0" anchor="t"/>
          <a:lstStyle/>
          <a:p>
            <a:pPr indent="0" marL="0">
              <a:lnSpc>
                <a:spcPct val="110000"/>
              </a:lnSpc>
              <a:buNone/>
            </a:pPr>
            <a:r>
              <a:rPr lang="en-US" sz="1150" dirty="0">
                <a:solidFill>
                  <a:srgbClr val="2E3440"/>
                </a:solidFill>
                <a:latin typeface="Meiryo UI" pitchFamily="34" charset="0"/>
                <a:ea typeface="Meiryo UI" pitchFamily="34" charset="-122"/>
                <a:cs typeface="Meiryo UI" pitchFamily="34" charset="-120"/>
              </a:rPr>
              <a:t>自治体・地域企業・学校と関係を築き、地域に根差した事業をつくる</a:t>
            </a:r>
            <a:endParaRPr lang="en-US" sz="1150" dirty="0"/>
          </a:p>
        </p:txBody>
      </p:sp>
      <p:sp>
        <p:nvSpPr>
          <p:cNvPr id="22" name="Shape 20"/>
          <p:cNvSpPr/>
          <p:nvPr/>
        </p:nvSpPr>
        <p:spPr>
          <a:xfrm>
            <a:off x="4663440" y="1691640"/>
            <a:ext cx="4023360" cy="2514600"/>
          </a:xfrm>
          <a:prstGeom prst="roundRect">
            <a:avLst>
              <a:gd name="adj" fmla="val 4364"/>
            </a:avLst>
          </a:prstGeom>
          <a:solidFill>
            <a:srgbClr val="F4F6FA"/>
          </a:solidFill>
          <a:ln w="12700">
            <a:solidFill>
              <a:srgbClr val="F4F6FA"/>
            </a:solidFill>
            <a:prstDash val="solid"/>
          </a:ln>
        </p:spPr>
      </p:sp>
      <p:sp>
        <p:nvSpPr>
          <p:cNvPr id="23" name="Text 21"/>
          <p:cNvSpPr txBox="1"/>
          <p:nvPr/>
        </p:nvSpPr>
        <p:spPr>
          <a:xfrm>
            <a:off x="4892040" y="1874520"/>
            <a:ext cx="3566160" cy="274320"/>
          </a:xfrm>
          <a:prstGeom prst="rect">
            <a:avLst/>
          </a:prstGeom>
          <a:noFill/>
          <a:ln/>
        </p:spPr>
        <p:txBody>
          <a:bodyPr wrap="square" lIns="0" tIns="0" rIns="0" bIns="0" rtlCol="0" anchor="t"/>
          <a:lstStyle/>
          <a:p>
            <a:pPr indent="0" marL="0">
              <a:buNone/>
            </a:pPr>
            <a:r>
              <a:rPr lang="en-US" sz="1100" dirty="0">
                <a:solidFill>
                  <a:srgbClr val="6B7280"/>
                </a:solidFill>
                <a:latin typeface="Meiryo UI" pitchFamily="34" charset="0"/>
                <a:ea typeface="Meiryo UI" pitchFamily="34" charset="-122"/>
                <a:cs typeface="Meiryo UI" pitchFamily="34" charset="-120"/>
              </a:rPr>
              <a:t>第三管理部　マーケティング課</a:t>
            </a:r>
            <a:endParaRPr lang="en-US" sz="1100" dirty="0"/>
          </a:p>
        </p:txBody>
      </p:sp>
      <p:sp>
        <p:nvSpPr>
          <p:cNvPr id="24" name="Shape 22"/>
          <p:cNvSpPr/>
          <p:nvPr/>
        </p:nvSpPr>
        <p:spPr>
          <a:xfrm>
            <a:off x="4892040" y="2240280"/>
            <a:ext cx="201168" cy="201168"/>
          </a:xfrm>
          <a:prstGeom prst="ellipse">
            <a:avLst/>
          </a:prstGeom>
          <a:solidFill>
            <a:srgbClr val="3FA7D6"/>
          </a:solidFill>
          <a:ln w="12700">
            <a:solidFill>
              <a:srgbClr val="3FA7D6"/>
            </a:solidFill>
            <a:prstDash val="solid"/>
          </a:ln>
        </p:spPr>
      </p:sp>
      <p:sp>
        <p:nvSpPr>
          <p:cNvPr id="25" name="Text 23"/>
          <p:cNvSpPr txBox="1"/>
          <p:nvPr/>
        </p:nvSpPr>
        <p:spPr>
          <a:xfrm>
            <a:off x="5184648" y="2148840"/>
            <a:ext cx="3291840" cy="384048"/>
          </a:xfrm>
          <a:prstGeom prst="rect">
            <a:avLst/>
          </a:prstGeom>
          <a:noFill/>
          <a:ln/>
        </p:spPr>
        <p:txBody>
          <a:bodyPr wrap="square" lIns="0" tIns="0" rIns="0" bIns="0" rtlCol="0" anchor="ctr"/>
          <a:lstStyle/>
          <a:p>
            <a:pPr indent="0" marL="0">
              <a:buNone/>
            </a:pPr>
            <a:r>
              <a:rPr lang="en-US" sz="1800" b="1" dirty="0">
                <a:solidFill>
                  <a:srgbClr val="2E3440"/>
                </a:solidFill>
                <a:latin typeface="Meiryo UI" pitchFamily="34" charset="0"/>
                <a:ea typeface="Meiryo UI" pitchFamily="34" charset="-122"/>
                <a:cs typeface="Meiryo UI" pitchFamily="34" charset="-120"/>
              </a:rPr>
              <a:t>トータルサポート推進係</a:t>
            </a:r>
            <a:endParaRPr lang="en-US" sz="1800" dirty="0"/>
          </a:p>
        </p:txBody>
      </p:sp>
      <p:sp>
        <p:nvSpPr>
          <p:cNvPr id="26" name="Shape 24"/>
          <p:cNvSpPr/>
          <p:nvPr/>
        </p:nvSpPr>
        <p:spPr>
          <a:xfrm>
            <a:off x="4892040" y="2697480"/>
            <a:ext cx="685800" cy="274320"/>
          </a:xfrm>
          <a:prstGeom prst="roundRect">
            <a:avLst>
              <a:gd name="adj" fmla="val 50000"/>
            </a:avLst>
          </a:prstGeom>
          <a:solidFill>
            <a:srgbClr val="3FA7D6"/>
          </a:solidFill>
          <a:ln w="12700">
            <a:solidFill>
              <a:srgbClr val="3FA7D6"/>
            </a:solidFill>
            <a:prstDash val="solid"/>
          </a:ln>
        </p:spPr>
      </p:sp>
      <p:sp>
        <p:nvSpPr>
          <p:cNvPr id="27" name="Text 25"/>
          <p:cNvSpPr txBox="1"/>
          <p:nvPr/>
        </p:nvSpPr>
        <p:spPr>
          <a:xfrm>
            <a:off x="4892040" y="2697480"/>
            <a:ext cx="685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知識</a:t>
            </a:r>
            <a:endParaRPr lang="en-US" sz="1000" dirty="0"/>
          </a:p>
        </p:txBody>
      </p:sp>
      <p:sp>
        <p:nvSpPr>
          <p:cNvPr id="28" name="Text 26"/>
          <p:cNvSpPr txBox="1"/>
          <p:nvPr/>
        </p:nvSpPr>
        <p:spPr>
          <a:xfrm>
            <a:off x="5715000" y="2670048"/>
            <a:ext cx="2788920" cy="640080"/>
          </a:xfrm>
          <a:prstGeom prst="rect">
            <a:avLst/>
          </a:prstGeom>
          <a:noFill/>
          <a:ln/>
        </p:spPr>
        <p:txBody>
          <a:bodyPr wrap="square" lIns="0" tIns="0" rIns="0" bIns="0" rtlCol="0" anchor="t"/>
          <a:lstStyle/>
          <a:p>
            <a:pPr indent="0" marL="0">
              <a:lnSpc>
                <a:spcPct val="110000"/>
              </a:lnSpc>
              <a:buNone/>
            </a:pPr>
            <a:r>
              <a:rPr lang="en-US" sz="1150" dirty="0">
                <a:solidFill>
                  <a:srgbClr val="2E3440"/>
                </a:solidFill>
                <a:latin typeface="Meiryo UI" pitchFamily="34" charset="0"/>
                <a:ea typeface="Meiryo UI" pitchFamily="34" charset="-122"/>
                <a:cs typeface="Meiryo UI" pitchFamily="34" charset="-120"/>
              </a:rPr>
              <a:t>キャレオスのトータルサポートの全体像と、事業部どうしのつなぎ方</a:t>
            </a:r>
            <a:endParaRPr lang="en-US" sz="1150" dirty="0"/>
          </a:p>
        </p:txBody>
      </p:sp>
      <p:sp>
        <p:nvSpPr>
          <p:cNvPr id="29" name="Shape 27"/>
          <p:cNvSpPr/>
          <p:nvPr/>
        </p:nvSpPr>
        <p:spPr>
          <a:xfrm>
            <a:off x="4892040" y="3410712"/>
            <a:ext cx="685800" cy="274320"/>
          </a:xfrm>
          <a:prstGeom prst="roundRect">
            <a:avLst>
              <a:gd name="adj" fmla="val 50000"/>
            </a:avLst>
          </a:prstGeom>
          <a:solidFill>
            <a:srgbClr val="3FA7D6"/>
          </a:solidFill>
          <a:ln w="12700">
            <a:solidFill>
              <a:srgbClr val="3FA7D6"/>
            </a:solidFill>
            <a:prstDash val="solid"/>
          </a:ln>
        </p:spPr>
      </p:sp>
      <p:sp>
        <p:nvSpPr>
          <p:cNvPr id="30" name="Text 28"/>
          <p:cNvSpPr txBox="1"/>
          <p:nvPr/>
        </p:nvSpPr>
        <p:spPr>
          <a:xfrm>
            <a:off x="4892040" y="3410712"/>
            <a:ext cx="685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動き方</a:t>
            </a:r>
            <a:endParaRPr lang="en-US" sz="1000" dirty="0"/>
          </a:p>
        </p:txBody>
      </p:sp>
      <p:sp>
        <p:nvSpPr>
          <p:cNvPr id="31" name="Text 29"/>
          <p:cNvSpPr txBox="1"/>
          <p:nvPr/>
        </p:nvSpPr>
        <p:spPr>
          <a:xfrm>
            <a:off x="5715000" y="3383280"/>
            <a:ext cx="2788920" cy="640080"/>
          </a:xfrm>
          <a:prstGeom prst="rect">
            <a:avLst/>
          </a:prstGeom>
          <a:noFill/>
          <a:ln/>
        </p:spPr>
        <p:txBody>
          <a:bodyPr wrap="square" lIns="0" tIns="0" rIns="0" bIns="0" rtlCol="0" anchor="t"/>
          <a:lstStyle/>
          <a:p>
            <a:pPr indent="0" marL="0">
              <a:lnSpc>
                <a:spcPct val="110000"/>
              </a:lnSpc>
              <a:buNone/>
            </a:pPr>
            <a:r>
              <a:rPr lang="en-US" sz="1150" dirty="0">
                <a:solidFill>
                  <a:srgbClr val="2E3440"/>
                </a:solidFill>
                <a:latin typeface="Meiryo UI" pitchFamily="34" charset="0"/>
                <a:ea typeface="Meiryo UI" pitchFamily="34" charset="-122"/>
                <a:cs typeface="Meiryo UI" pitchFamily="34" charset="-120"/>
              </a:rPr>
              <a:t>利用者・保護者の声から、放デイ → 就労へ切れ目なくつなぐ導線をつくる</a:t>
            </a:r>
            <a:endParaRPr lang="en-US" sz="1150" dirty="0"/>
          </a:p>
        </p:txBody>
      </p:sp>
      <p:sp>
        <p:nvSpPr>
          <p:cNvPr id="32" name="Text 30"/>
          <p:cNvSpPr txBox="1"/>
          <p:nvPr/>
        </p:nvSpPr>
        <p:spPr>
          <a:xfrm>
            <a:off x="457200" y="4370832"/>
            <a:ext cx="8229600" cy="320040"/>
          </a:xfrm>
          <a:prstGeom prst="rect">
            <a:avLst/>
          </a:prstGeom>
          <a:noFill/>
          <a:ln/>
        </p:spPr>
        <p:txBody>
          <a:bodyPr wrap="square" lIns="0" tIns="0" rIns="0" bIns="0" rtlCol="0" anchor="t"/>
          <a:lstStyle/>
          <a:p>
            <a:pPr indent="0" marL="0">
              <a:buNone/>
            </a:pPr>
            <a:r>
              <a:rPr lang="en-US" sz="1500" b="1" dirty="0">
                <a:solidFill>
                  <a:srgbClr val="4A6FC7"/>
                </a:solidFill>
                <a:latin typeface="Meiryo UI" pitchFamily="34" charset="0"/>
                <a:ea typeface="Meiryo UI" pitchFamily="34" charset="-122"/>
                <a:cs typeface="Meiryo UI" pitchFamily="34" charset="-120"/>
              </a:rPr>
              <a:t>現場（愛媛）の声 × 本部の知識と動き方 ＝ 自分のボーダーを越える</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ellipse">
            <a:avLst/>
          </a:prstGeom>
          <a:solidFill>
            <a:srgbClr val="E8505B"/>
          </a:solidFill>
          <a:ln w="12700">
            <a:solidFill>
              <a:srgbClr val="E8505B"/>
            </a:solidFill>
            <a:prstDash val="solid"/>
          </a:ln>
        </p:spPr>
      </p:sp>
      <p:sp>
        <p:nvSpPr>
          <p:cNvPr id="3" name="Shape 1"/>
          <p:cNvSpPr/>
          <p:nvPr/>
        </p:nvSpPr>
        <p:spPr>
          <a:xfrm>
            <a:off x="621792" y="384048"/>
            <a:ext cx="100584" cy="100584"/>
          </a:xfrm>
          <a:prstGeom prst="ellipse">
            <a:avLst/>
          </a:prstGeom>
          <a:solidFill>
            <a:srgbClr val="F39C33"/>
          </a:solidFill>
          <a:ln w="12700">
            <a:solidFill>
              <a:srgbClr val="F39C33"/>
            </a:solidFill>
            <a:prstDash val="solid"/>
          </a:ln>
        </p:spPr>
      </p:sp>
      <p:sp>
        <p:nvSpPr>
          <p:cNvPr id="4" name="Shape 2"/>
          <p:cNvSpPr/>
          <p:nvPr/>
        </p:nvSpPr>
        <p:spPr>
          <a:xfrm>
            <a:off x="786384" y="384048"/>
            <a:ext cx="100584" cy="100584"/>
          </a:xfrm>
          <a:prstGeom prst="ellipse">
            <a:avLst/>
          </a:prstGeom>
          <a:solidFill>
            <a:srgbClr val="F2C230"/>
          </a:solidFill>
          <a:ln w="12700">
            <a:solidFill>
              <a:srgbClr val="F2C230"/>
            </a:solidFill>
            <a:prstDash val="solid"/>
          </a:ln>
        </p:spPr>
      </p:sp>
      <p:sp>
        <p:nvSpPr>
          <p:cNvPr id="5" name="Shape 3"/>
          <p:cNvSpPr/>
          <p:nvPr/>
        </p:nvSpPr>
        <p:spPr>
          <a:xfrm>
            <a:off x="950976" y="384048"/>
            <a:ext cx="100584" cy="100584"/>
          </a:xfrm>
          <a:prstGeom prst="ellipse">
            <a:avLst/>
          </a:prstGeom>
          <a:solidFill>
            <a:srgbClr val="5DBB63"/>
          </a:solidFill>
          <a:ln w="12700">
            <a:solidFill>
              <a:srgbClr val="5DBB63"/>
            </a:solidFill>
            <a:prstDash val="solid"/>
          </a:ln>
        </p:spPr>
      </p:sp>
      <p:sp>
        <p:nvSpPr>
          <p:cNvPr id="6" name="Shape 4"/>
          <p:cNvSpPr/>
          <p:nvPr/>
        </p:nvSpPr>
        <p:spPr>
          <a:xfrm>
            <a:off x="1115568" y="384048"/>
            <a:ext cx="100584" cy="100584"/>
          </a:xfrm>
          <a:prstGeom prst="ellipse">
            <a:avLst/>
          </a:prstGeom>
          <a:solidFill>
            <a:srgbClr val="3FA7D6"/>
          </a:solidFill>
          <a:ln w="12700">
            <a:solidFill>
              <a:srgbClr val="3FA7D6"/>
            </a:solidFill>
            <a:prstDash val="solid"/>
          </a:ln>
        </p:spPr>
      </p:sp>
      <p:sp>
        <p:nvSpPr>
          <p:cNvPr id="7" name="Shape 5"/>
          <p:cNvSpPr/>
          <p:nvPr/>
        </p:nvSpPr>
        <p:spPr>
          <a:xfrm>
            <a:off x="1280160" y="384048"/>
            <a:ext cx="100584" cy="100584"/>
          </a:xfrm>
          <a:prstGeom prst="ellipse">
            <a:avLst/>
          </a:prstGeom>
          <a:solidFill>
            <a:srgbClr val="4A6FC7"/>
          </a:solidFill>
          <a:ln w="12700">
            <a:solidFill>
              <a:srgbClr val="4A6FC7"/>
            </a:solidFill>
            <a:prstDash val="solid"/>
          </a:ln>
        </p:spPr>
      </p:sp>
      <p:sp>
        <p:nvSpPr>
          <p:cNvPr id="8" name="Shape 6"/>
          <p:cNvSpPr/>
          <p:nvPr/>
        </p:nvSpPr>
        <p:spPr>
          <a:xfrm>
            <a:off x="1444752" y="384048"/>
            <a:ext cx="100584" cy="100584"/>
          </a:xfrm>
          <a:prstGeom prst="ellipse">
            <a:avLst/>
          </a:prstGeom>
          <a:solidFill>
            <a:srgbClr val="9A6BC4"/>
          </a:solidFill>
          <a:ln w="12700">
            <a:solidFill>
              <a:srgbClr val="9A6BC4"/>
            </a:solidFill>
            <a:prstDash val="solid"/>
          </a:ln>
        </p:spPr>
      </p:sp>
      <p:sp>
        <p:nvSpPr>
          <p:cNvPr id="9" name="Text 7"/>
          <p:cNvSpPr txBox="1"/>
          <p:nvPr/>
        </p:nvSpPr>
        <p:spPr>
          <a:xfrm>
            <a:off x="457200" y="530352"/>
            <a:ext cx="8229600" cy="640080"/>
          </a:xfrm>
          <a:prstGeom prst="rect">
            <a:avLst/>
          </a:prstGeom>
          <a:noFill/>
          <a:ln/>
        </p:spPr>
        <p:txBody>
          <a:bodyPr wrap="square" lIns="0" tIns="0" rIns="0" bIns="0" rtlCol="0" anchor="ctr"/>
          <a:lstStyle/>
          <a:p>
            <a:pPr indent="0" marL="0">
              <a:buNone/>
            </a:pPr>
            <a:r>
              <a:rPr lang="en-US" sz="2600" b="1" dirty="0">
                <a:solidFill>
                  <a:srgbClr val="2E3440"/>
                </a:solidFill>
                <a:latin typeface="Meiryo UI" pitchFamily="34" charset="0"/>
                <a:ea typeface="Meiryo UI" pitchFamily="34" charset="-122"/>
                <a:cs typeface="Meiryo UI" pitchFamily="34" charset="-120"/>
              </a:rPr>
              <a:t>まずは、愛媛に就労継続支援B型を</a:t>
            </a:r>
            <a:endParaRPr lang="en-US" sz="2600" dirty="0"/>
          </a:p>
        </p:txBody>
      </p:sp>
      <p:sp>
        <p:nvSpPr>
          <p:cNvPr id="10" name="Text 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Meiryo UI" pitchFamily="34" charset="0"/>
                <a:ea typeface="Meiryo UI" pitchFamily="34" charset="-122"/>
                <a:cs typeface="Meiryo UI" pitchFamily="34" charset="-120"/>
              </a:rPr>
              <a:t>7</a:t>
            </a:r>
            <a:endParaRPr lang="en-US" sz="1000" dirty="0"/>
          </a:p>
        </p:txBody>
      </p:sp>
      <p:sp>
        <p:nvSpPr>
          <p:cNvPr id="11" name="Text 9"/>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300" dirty="0">
                <a:solidFill>
                  <a:srgbClr val="6B7280"/>
                </a:solidFill>
                <a:latin typeface="Meiryo UI" pitchFamily="34" charset="0"/>
                <a:ea typeface="Meiryo UI" pitchFamily="34" charset="-122"/>
                <a:cs typeface="Meiryo UI" pitchFamily="34" charset="-120"/>
              </a:rPr>
              <a:t>西条市・定員20名で開設した場合の試算（標準シナリオ・2027年4月開設を想定）</a:t>
            </a:r>
            <a:endParaRPr lang="en-US" sz="1300" dirty="0"/>
          </a:p>
        </p:txBody>
      </p:sp>
      <p:sp>
        <p:nvSpPr>
          <p:cNvPr id="12" name="Shape 10"/>
          <p:cNvSpPr/>
          <p:nvPr/>
        </p:nvSpPr>
        <p:spPr>
          <a:xfrm>
            <a:off x="457200" y="1691640"/>
            <a:ext cx="1920240" cy="1600200"/>
          </a:xfrm>
          <a:prstGeom prst="roundRect">
            <a:avLst>
              <a:gd name="adj" fmla="val 6857"/>
            </a:avLst>
          </a:prstGeom>
          <a:solidFill>
            <a:srgbClr val="F4F6FA"/>
          </a:solidFill>
          <a:ln w="12700">
            <a:solidFill>
              <a:srgbClr val="F4F6FA"/>
            </a:solidFill>
            <a:prstDash val="solid"/>
          </a:ln>
        </p:spPr>
      </p:sp>
      <p:sp>
        <p:nvSpPr>
          <p:cNvPr id="13" name="Text 11"/>
          <p:cNvSpPr txBox="1"/>
          <p:nvPr/>
        </p:nvSpPr>
        <p:spPr>
          <a:xfrm>
            <a:off x="548640" y="1874520"/>
            <a:ext cx="1737360" cy="548640"/>
          </a:xfrm>
          <a:prstGeom prst="rect">
            <a:avLst/>
          </a:prstGeom>
          <a:noFill/>
          <a:ln/>
        </p:spPr>
        <p:txBody>
          <a:bodyPr wrap="square" lIns="0" tIns="0" rIns="0" bIns="0" rtlCol="0" anchor="ctr"/>
          <a:lstStyle/>
          <a:p>
            <a:pPr algn="ctr" indent="0" marL="0">
              <a:buNone/>
            </a:pPr>
            <a:r>
              <a:rPr lang="en-US" sz="2200" b="1" dirty="0">
                <a:solidFill>
                  <a:srgbClr val="E8505B"/>
                </a:solidFill>
                <a:latin typeface="Meiryo UI" pitchFamily="34" charset="0"/>
                <a:ea typeface="Meiryo UI" pitchFamily="34" charset="-122"/>
                <a:cs typeface="Meiryo UI" pitchFamily="34" charset="-120"/>
              </a:rPr>
              <a:t>18人</a:t>
            </a:r>
            <a:endParaRPr lang="en-US" sz="2200" dirty="0"/>
          </a:p>
        </p:txBody>
      </p:sp>
      <p:sp>
        <p:nvSpPr>
          <p:cNvPr id="14" name="Text 12"/>
          <p:cNvSpPr txBox="1"/>
          <p:nvPr/>
        </p:nvSpPr>
        <p:spPr>
          <a:xfrm>
            <a:off x="548640" y="2514600"/>
            <a:ext cx="1737360" cy="594360"/>
          </a:xfrm>
          <a:prstGeom prst="rect">
            <a:avLst/>
          </a:prstGeom>
          <a:noFill/>
          <a:ln/>
        </p:spPr>
        <p:txBody>
          <a:bodyPr wrap="square" lIns="0" tIns="0" rIns="0" bIns="0" rtlCol="0" anchor="t"/>
          <a:lstStyle/>
          <a:p>
            <a:pPr algn="ctr" indent="0" marL="0">
              <a:buNone/>
            </a:pPr>
            <a:r>
              <a:rPr lang="en-US" sz="1100" dirty="0">
                <a:solidFill>
                  <a:srgbClr val="6B7280"/>
                </a:solidFill>
                <a:latin typeface="Meiryo UI" pitchFamily="34" charset="0"/>
                <a:ea typeface="Meiryo UI" pitchFamily="34" charset="-122"/>
                <a:cs typeface="Meiryo UI" pitchFamily="34" charset="-120"/>
              </a:rPr>
              <a:t>1日の平均利用者数</a:t>
            </a:r>
            <a:endParaRPr lang="en-US" sz="1100" dirty="0"/>
          </a:p>
          <a:p>
            <a:pPr algn="ctr" indent="0" marL="0">
              <a:buNone/>
            </a:pPr>
            <a:r>
              <a:rPr lang="en-US" sz="1100" dirty="0">
                <a:solidFill>
                  <a:srgbClr val="6B7280"/>
                </a:solidFill>
                <a:latin typeface="Meiryo UI" pitchFamily="34" charset="0"/>
                <a:ea typeface="Meiryo UI" pitchFamily="34" charset="-122"/>
                <a:cs typeface="Meiryo UI" pitchFamily="34" charset="-120"/>
              </a:rPr>
              <a:t>（安定期）</a:t>
            </a:r>
            <a:endParaRPr lang="en-US" sz="1100" dirty="0"/>
          </a:p>
        </p:txBody>
      </p:sp>
      <p:sp>
        <p:nvSpPr>
          <p:cNvPr id="15" name="Shape 13"/>
          <p:cNvSpPr/>
          <p:nvPr/>
        </p:nvSpPr>
        <p:spPr>
          <a:xfrm>
            <a:off x="2560320" y="1691640"/>
            <a:ext cx="1920240" cy="1600200"/>
          </a:xfrm>
          <a:prstGeom prst="roundRect">
            <a:avLst>
              <a:gd name="adj" fmla="val 6857"/>
            </a:avLst>
          </a:prstGeom>
          <a:solidFill>
            <a:srgbClr val="F4F6FA"/>
          </a:solidFill>
          <a:ln w="12700">
            <a:solidFill>
              <a:srgbClr val="F4F6FA"/>
            </a:solidFill>
            <a:prstDash val="solid"/>
          </a:ln>
        </p:spPr>
      </p:sp>
      <p:sp>
        <p:nvSpPr>
          <p:cNvPr id="16" name="Text 14"/>
          <p:cNvSpPr txBox="1"/>
          <p:nvPr/>
        </p:nvSpPr>
        <p:spPr>
          <a:xfrm>
            <a:off x="2651760" y="1874520"/>
            <a:ext cx="1737360" cy="548640"/>
          </a:xfrm>
          <a:prstGeom prst="rect">
            <a:avLst/>
          </a:prstGeom>
          <a:noFill/>
          <a:ln/>
        </p:spPr>
        <p:txBody>
          <a:bodyPr wrap="square" lIns="0" tIns="0" rIns="0" bIns="0" rtlCol="0" anchor="ctr"/>
          <a:lstStyle/>
          <a:p>
            <a:pPr algn="ctr" indent="0" marL="0">
              <a:buNone/>
            </a:pPr>
            <a:r>
              <a:rPr lang="en-US" sz="2200" b="1" dirty="0">
                <a:solidFill>
                  <a:srgbClr val="F39C33"/>
                </a:solidFill>
                <a:latin typeface="Meiryo UI" pitchFamily="34" charset="0"/>
                <a:ea typeface="Meiryo UI" pitchFamily="34" charset="-122"/>
                <a:cs typeface="Meiryo UI" pitchFamily="34" charset="-120"/>
              </a:rPr>
              <a:t>6か月目</a:t>
            </a:r>
            <a:endParaRPr lang="en-US" sz="2200" dirty="0"/>
          </a:p>
        </p:txBody>
      </p:sp>
      <p:sp>
        <p:nvSpPr>
          <p:cNvPr id="17" name="Text 15"/>
          <p:cNvSpPr txBox="1"/>
          <p:nvPr/>
        </p:nvSpPr>
        <p:spPr>
          <a:xfrm>
            <a:off x="2651760" y="2514600"/>
            <a:ext cx="1737360" cy="594360"/>
          </a:xfrm>
          <a:prstGeom prst="rect">
            <a:avLst/>
          </a:prstGeom>
          <a:noFill/>
          <a:ln/>
        </p:spPr>
        <p:txBody>
          <a:bodyPr wrap="square" lIns="0" tIns="0" rIns="0" bIns="0" rtlCol="0" anchor="t"/>
          <a:lstStyle/>
          <a:p>
            <a:pPr algn="ctr" indent="0" marL="0">
              <a:buNone/>
            </a:pPr>
            <a:r>
              <a:rPr lang="en-US" sz="1100" dirty="0">
                <a:solidFill>
                  <a:srgbClr val="6B7280"/>
                </a:solidFill>
                <a:latin typeface="Meiryo UI" pitchFamily="34" charset="0"/>
                <a:ea typeface="Meiryo UI" pitchFamily="34" charset="-122"/>
                <a:cs typeface="Meiryo UI" pitchFamily="34" charset="-120"/>
              </a:rPr>
              <a:t>単月で黒字化</a:t>
            </a:r>
            <a:endParaRPr lang="en-US" sz="1100" dirty="0"/>
          </a:p>
        </p:txBody>
      </p:sp>
      <p:sp>
        <p:nvSpPr>
          <p:cNvPr id="18" name="Shape 16"/>
          <p:cNvSpPr/>
          <p:nvPr/>
        </p:nvSpPr>
        <p:spPr>
          <a:xfrm>
            <a:off x="4663440" y="1691640"/>
            <a:ext cx="1920240" cy="1600200"/>
          </a:xfrm>
          <a:prstGeom prst="roundRect">
            <a:avLst>
              <a:gd name="adj" fmla="val 6857"/>
            </a:avLst>
          </a:prstGeom>
          <a:solidFill>
            <a:srgbClr val="F4F6FA"/>
          </a:solidFill>
          <a:ln w="12700">
            <a:solidFill>
              <a:srgbClr val="F4F6FA"/>
            </a:solidFill>
            <a:prstDash val="solid"/>
          </a:ln>
        </p:spPr>
      </p:sp>
      <p:sp>
        <p:nvSpPr>
          <p:cNvPr id="19" name="Text 17"/>
          <p:cNvSpPr txBox="1"/>
          <p:nvPr/>
        </p:nvSpPr>
        <p:spPr>
          <a:xfrm>
            <a:off x="4754880" y="1874520"/>
            <a:ext cx="1737360" cy="548640"/>
          </a:xfrm>
          <a:prstGeom prst="rect">
            <a:avLst/>
          </a:prstGeom>
          <a:noFill/>
          <a:ln/>
        </p:spPr>
        <p:txBody>
          <a:bodyPr wrap="square" lIns="0" tIns="0" rIns="0" bIns="0" rtlCol="0" anchor="ctr"/>
          <a:lstStyle/>
          <a:p>
            <a:pPr algn="ctr" indent="0" marL="0">
              <a:buNone/>
            </a:pPr>
            <a:r>
              <a:rPr lang="en-US" sz="2200" b="1" dirty="0">
                <a:solidFill>
                  <a:srgbClr val="5DBB63"/>
                </a:solidFill>
                <a:latin typeface="Meiryo UI" pitchFamily="34" charset="0"/>
                <a:ea typeface="Meiryo UI" pitchFamily="34" charset="-122"/>
                <a:cs typeface="Meiryo UI" pitchFamily="34" charset="-120"/>
              </a:rPr>
              <a:t>27か月目</a:t>
            </a:r>
            <a:endParaRPr lang="en-US" sz="2200" dirty="0"/>
          </a:p>
        </p:txBody>
      </p:sp>
      <p:sp>
        <p:nvSpPr>
          <p:cNvPr id="20" name="Text 18"/>
          <p:cNvSpPr txBox="1"/>
          <p:nvPr/>
        </p:nvSpPr>
        <p:spPr>
          <a:xfrm>
            <a:off x="4754880" y="2514600"/>
            <a:ext cx="1737360" cy="594360"/>
          </a:xfrm>
          <a:prstGeom prst="rect">
            <a:avLst/>
          </a:prstGeom>
          <a:noFill/>
          <a:ln/>
        </p:spPr>
        <p:txBody>
          <a:bodyPr wrap="square" lIns="0" tIns="0" rIns="0" bIns="0" rtlCol="0" anchor="t"/>
          <a:lstStyle/>
          <a:p>
            <a:pPr algn="ctr" indent="0" marL="0">
              <a:buNone/>
            </a:pPr>
            <a:r>
              <a:rPr lang="en-US" sz="1100" dirty="0">
                <a:solidFill>
                  <a:srgbClr val="6B7280"/>
                </a:solidFill>
                <a:latin typeface="Meiryo UI" pitchFamily="34" charset="0"/>
                <a:ea typeface="Meiryo UI" pitchFamily="34" charset="-122"/>
                <a:cs typeface="Meiryo UI" pitchFamily="34" charset="-120"/>
              </a:rPr>
              <a:t>初期投資</a:t>
            </a:r>
            <a:endParaRPr lang="en-US" sz="1100" dirty="0"/>
          </a:p>
          <a:p>
            <a:pPr algn="ctr" indent="0" marL="0">
              <a:buNone/>
            </a:pPr>
            <a:r>
              <a:rPr lang="en-US" sz="1100" dirty="0">
                <a:solidFill>
                  <a:srgbClr val="6B7280"/>
                </a:solidFill>
                <a:latin typeface="Meiryo UI" pitchFamily="34" charset="0"/>
                <a:ea typeface="Meiryo UI" pitchFamily="34" charset="-122"/>
                <a:cs typeface="Meiryo UI" pitchFamily="34" charset="-120"/>
              </a:rPr>
              <a:t>約900万円を回収</a:t>
            </a:r>
            <a:endParaRPr lang="en-US" sz="1100" dirty="0"/>
          </a:p>
        </p:txBody>
      </p:sp>
      <p:sp>
        <p:nvSpPr>
          <p:cNvPr id="21" name="Shape 19"/>
          <p:cNvSpPr/>
          <p:nvPr/>
        </p:nvSpPr>
        <p:spPr>
          <a:xfrm>
            <a:off x="6766560" y="1691640"/>
            <a:ext cx="1920240" cy="1600200"/>
          </a:xfrm>
          <a:prstGeom prst="roundRect">
            <a:avLst>
              <a:gd name="adj" fmla="val 6857"/>
            </a:avLst>
          </a:prstGeom>
          <a:solidFill>
            <a:srgbClr val="F4F6FA"/>
          </a:solidFill>
          <a:ln w="12700">
            <a:solidFill>
              <a:srgbClr val="F4F6FA"/>
            </a:solidFill>
            <a:prstDash val="solid"/>
          </a:ln>
        </p:spPr>
      </p:sp>
      <p:sp>
        <p:nvSpPr>
          <p:cNvPr id="22" name="Text 20"/>
          <p:cNvSpPr txBox="1"/>
          <p:nvPr/>
        </p:nvSpPr>
        <p:spPr>
          <a:xfrm>
            <a:off x="6858000" y="1874520"/>
            <a:ext cx="1737360" cy="548640"/>
          </a:xfrm>
          <a:prstGeom prst="rect">
            <a:avLst/>
          </a:prstGeom>
          <a:noFill/>
          <a:ln/>
        </p:spPr>
        <p:txBody>
          <a:bodyPr wrap="square" lIns="0" tIns="0" rIns="0" bIns="0" rtlCol="0" anchor="ctr"/>
          <a:lstStyle/>
          <a:p>
            <a:pPr algn="ctr" indent="0" marL="0">
              <a:buNone/>
            </a:pPr>
            <a:r>
              <a:rPr lang="en-US" sz="2200" b="1" dirty="0">
                <a:solidFill>
                  <a:srgbClr val="4A6FC7"/>
                </a:solidFill>
                <a:latin typeface="Meiryo UI" pitchFamily="34" charset="0"/>
                <a:ea typeface="Meiryo UI" pitchFamily="34" charset="-122"/>
                <a:cs typeface="Meiryo UI" pitchFamily="34" charset="-120"/>
              </a:rPr>
              <a:t>1,140万円</a:t>
            </a:r>
            <a:endParaRPr lang="en-US" sz="2200" dirty="0"/>
          </a:p>
        </p:txBody>
      </p:sp>
      <p:sp>
        <p:nvSpPr>
          <p:cNvPr id="23" name="Text 21"/>
          <p:cNvSpPr txBox="1"/>
          <p:nvPr/>
        </p:nvSpPr>
        <p:spPr>
          <a:xfrm>
            <a:off x="6858000" y="2514600"/>
            <a:ext cx="1737360" cy="594360"/>
          </a:xfrm>
          <a:prstGeom prst="rect">
            <a:avLst/>
          </a:prstGeom>
          <a:noFill/>
          <a:ln/>
        </p:spPr>
        <p:txBody>
          <a:bodyPr wrap="square" lIns="0" tIns="0" rIns="0" bIns="0" rtlCol="0" anchor="t"/>
          <a:lstStyle/>
          <a:p>
            <a:pPr algn="ctr" indent="0" marL="0">
              <a:buNone/>
            </a:pPr>
            <a:r>
              <a:rPr lang="en-US" sz="1100" dirty="0">
                <a:solidFill>
                  <a:srgbClr val="6B7280"/>
                </a:solidFill>
                <a:latin typeface="Meiryo UI" pitchFamily="34" charset="0"/>
                <a:ea typeface="Meiryo UI" pitchFamily="34" charset="-122"/>
                <a:cs typeface="Meiryo UI" pitchFamily="34" charset="-120"/>
              </a:rPr>
              <a:t>3年目の営業利益</a:t>
            </a:r>
            <a:endParaRPr lang="en-US" sz="1100" dirty="0"/>
          </a:p>
          <a:p>
            <a:pPr algn="ctr" indent="0" marL="0">
              <a:buNone/>
            </a:pPr>
            <a:r>
              <a:rPr lang="en-US" sz="1100" dirty="0">
                <a:solidFill>
                  <a:srgbClr val="6B7280"/>
                </a:solidFill>
                <a:latin typeface="Meiryo UI" pitchFamily="34" charset="0"/>
                <a:ea typeface="Meiryo UI" pitchFamily="34" charset="-122"/>
                <a:cs typeface="Meiryo UI" pitchFamily="34" charset="-120"/>
              </a:rPr>
              <a:t>（概算）</a:t>
            </a:r>
            <a:endParaRPr lang="en-US" sz="1100" dirty="0"/>
          </a:p>
        </p:txBody>
      </p:sp>
      <p:sp>
        <p:nvSpPr>
          <p:cNvPr id="24" name="Shape 22"/>
          <p:cNvSpPr/>
          <p:nvPr/>
        </p:nvSpPr>
        <p:spPr>
          <a:xfrm>
            <a:off x="457200" y="3520440"/>
            <a:ext cx="329184" cy="329184"/>
          </a:xfrm>
          <a:prstGeom prst="ellipse">
            <a:avLst/>
          </a:prstGeom>
          <a:solidFill>
            <a:srgbClr val="3FA7D6"/>
          </a:solidFill>
          <a:ln w="12700">
            <a:solidFill>
              <a:srgbClr val="3FA7D6"/>
            </a:solidFill>
            <a:prstDash val="solid"/>
          </a:ln>
        </p:spPr>
      </p:sp>
      <p:sp>
        <p:nvSpPr>
          <p:cNvPr id="25" name="Text 23"/>
          <p:cNvSpPr txBox="1"/>
          <p:nvPr/>
        </p:nvSpPr>
        <p:spPr>
          <a:xfrm>
            <a:off x="457200" y="3520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26" name="Text 24"/>
          <p:cNvSpPr txBox="1"/>
          <p:nvPr/>
        </p:nvSpPr>
        <p:spPr>
          <a:xfrm>
            <a:off x="914400" y="3502152"/>
            <a:ext cx="3566160" cy="320040"/>
          </a:xfrm>
          <a:prstGeom prst="rect">
            <a:avLst/>
          </a:prstGeom>
          <a:noFill/>
          <a:ln/>
        </p:spPr>
        <p:txBody>
          <a:bodyPr wrap="square" lIns="0" tIns="0" rIns="0" bIns="0" rtlCol="0" anchor="ctr"/>
          <a:lstStyle/>
          <a:p>
            <a:pPr indent="0" marL="0">
              <a:buNone/>
            </a:pPr>
            <a:r>
              <a:rPr lang="en-US" sz="1350" b="1" dirty="0">
                <a:solidFill>
                  <a:srgbClr val="2E3440"/>
                </a:solidFill>
                <a:latin typeface="Meiryo UI" pitchFamily="34" charset="0"/>
                <a:ea typeface="Meiryo UI" pitchFamily="34" charset="-122"/>
                <a:cs typeface="Meiryo UI" pitchFamily="34" charset="-120"/>
              </a:rPr>
              <a:t>放デイ卒業生の受け皿</a:t>
            </a:r>
            <a:endParaRPr lang="en-US" sz="1350" dirty="0"/>
          </a:p>
        </p:txBody>
      </p:sp>
      <p:sp>
        <p:nvSpPr>
          <p:cNvPr id="27" name="Text 25"/>
          <p:cNvSpPr txBox="1"/>
          <p:nvPr/>
        </p:nvSpPr>
        <p:spPr>
          <a:xfrm>
            <a:off x="914400" y="3840480"/>
            <a:ext cx="3566160" cy="548640"/>
          </a:xfrm>
          <a:prstGeom prst="rect">
            <a:avLst/>
          </a:prstGeom>
          <a:noFill/>
          <a:ln/>
        </p:spPr>
        <p:txBody>
          <a:bodyPr wrap="square" lIns="0" tIns="0" rIns="0" bIns="0" rtlCol="0" anchor="t"/>
          <a:lstStyle/>
          <a:p>
            <a:pPr indent="0" marL="0">
              <a:buNone/>
            </a:pPr>
            <a:r>
              <a:rPr lang="en-US" sz="1100" dirty="0">
                <a:solidFill>
                  <a:srgbClr val="6B7280"/>
                </a:solidFill>
                <a:latin typeface="Meiryo UI" pitchFamily="34" charset="0"/>
                <a:ea typeface="Meiryo UI" pitchFamily="34" charset="-122"/>
                <a:cs typeface="Meiryo UI" pitchFamily="34" charset="-120"/>
              </a:rPr>
              <a:t>採算ラインは1日12人前後。日吉・西条の卒業予定者の把握が集客の土台</a:t>
            </a:r>
            <a:endParaRPr lang="en-US" sz="1100" dirty="0"/>
          </a:p>
        </p:txBody>
      </p:sp>
      <p:sp>
        <p:nvSpPr>
          <p:cNvPr id="28" name="Shape 26"/>
          <p:cNvSpPr/>
          <p:nvPr/>
        </p:nvSpPr>
        <p:spPr>
          <a:xfrm>
            <a:off x="4663440" y="3520440"/>
            <a:ext cx="329184" cy="329184"/>
          </a:xfrm>
          <a:prstGeom prst="ellipse">
            <a:avLst/>
          </a:prstGeom>
          <a:solidFill>
            <a:srgbClr val="9A6BC4"/>
          </a:solidFill>
          <a:ln w="12700">
            <a:solidFill>
              <a:srgbClr val="9A6BC4"/>
            </a:solidFill>
            <a:prstDash val="solid"/>
          </a:ln>
        </p:spPr>
      </p:sp>
      <p:sp>
        <p:nvSpPr>
          <p:cNvPr id="29" name="Text 27"/>
          <p:cNvSpPr txBox="1"/>
          <p:nvPr/>
        </p:nvSpPr>
        <p:spPr>
          <a:xfrm>
            <a:off x="4663440" y="352044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30" name="Text 28"/>
          <p:cNvSpPr txBox="1"/>
          <p:nvPr/>
        </p:nvSpPr>
        <p:spPr>
          <a:xfrm>
            <a:off x="5120640" y="3502152"/>
            <a:ext cx="3566160" cy="320040"/>
          </a:xfrm>
          <a:prstGeom prst="rect">
            <a:avLst/>
          </a:prstGeom>
          <a:noFill/>
          <a:ln/>
        </p:spPr>
        <p:txBody>
          <a:bodyPr wrap="square" lIns="0" tIns="0" rIns="0" bIns="0" rtlCol="0" anchor="ctr"/>
          <a:lstStyle/>
          <a:p>
            <a:pPr indent="0" marL="0">
              <a:buNone/>
            </a:pPr>
            <a:r>
              <a:rPr lang="en-US" sz="1350" b="1" dirty="0">
                <a:solidFill>
                  <a:srgbClr val="2E3440"/>
                </a:solidFill>
                <a:latin typeface="Meiryo UI" pitchFamily="34" charset="0"/>
                <a:ea typeface="Meiryo UI" pitchFamily="34" charset="-122"/>
                <a:cs typeface="Meiryo UI" pitchFamily="34" charset="-120"/>
              </a:rPr>
              <a:t>工賃1.8万円の壁</a:t>
            </a:r>
            <a:endParaRPr lang="en-US" sz="1350" dirty="0"/>
          </a:p>
        </p:txBody>
      </p:sp>
      <p:sp>
        <p:nvSpPr>
          <p:cNvPr id="31" name="Text 29"/>
          <p:cNvSpPr txBox="1"/>
          <p:nvPr/>
        </p:nvSpPr>
        <p:spPr>
          <a:xfrm>
            <a:off x="5120640" y="3840480"/>
            <a:ext cx="3566160" cy="548640"/>
          </a:xfrm>
          <a:prstGeom prst="rect">
            <a:avLst/>
          </a:prstGeom>
          <a:noFill/>
          <a:ln/>
        </p:spPr>
        <p:txBody>
          <a:bodyPr wrap="square" lIns="0" tIns="0" rIns="0" bIns="0" rtlCol="0" anchor="t"/>
          <a:lstStyle/>
          <a:p>
            <a:pPr indent="0" marL="0">
              <a:buNone/>
            </a:pPr>
            <a:r>
              <a:rPr lang="en-US" sz="1100" dirty="0">
                <a:solidFill>
                  <a:srgbClr val="6B7280"/>
                </a:solidFill>
                <a:latin typeface="Meiryo UI" pitchFamily="34" charset="0"/>
                <a:ea typeface="Meiryo UI" pitchFamily="34" charset="-122"/>
                <a:cs typeface="Meiryo UI" pitchFamily="34" charset="-120"/>
              </a:rPr>
              <a:t>令和8年6月の見直しで区分の基準額が上昇。作業の開拓が収益に直結</a:t>
            </a:r>
            <a:endParaRPr lang="en-US" sz="1100" dirty="0"/>
          </a:p>
        </p:txBody>
      </p:sp>
      <p:sp>
        <p:nvSpPr>
          <p:cNvPr id="32" name="Text 30"/>
          <p:cNvSpPr txBox="1"/>
          <p:nvPr/>
        </p:nvSpPr>
        <p:spPr>
          <a:xfrm>
            <a:off x="457200" y="4526280"/>
            <a:ext cx="7589520" cy="274320"/>
          </a:xfrm>
          <a:prstGeom prst="rect">
            <a:avLst/>
          </a:prstGeom>
          <a:noFill/>
          <a:ln/>
        </p:spPr>
        <p:txBody>
          <a:bodyPr wrap="square" lIns="0" tIns="0" rIns="0" bIns="0"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※人件費・家賃・初期投資は仮置きの試算。報酬は令和8年6月の見直し・新規指定事業所の特例（984/1000）を反映</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100584" cy="100584"/>
          </a:xfrm>
          <a:prstGeom prst="ellipse">
            <a:avLst/>
          </a:prstGeom>
          <a:solidFill>
            <a:srgbClr val="E8505B"/>
          </a:solidFill>
          <a:ln w="12700">
            <a:solidFill>
              <a:srgbClr val="E8505B"/>
            </a:solidFill>
            <a:prstDash val="solid"/>
          </a:ln>
        </p:spPr>
      </p:sp>
      <p:sp>
        <p:nvSpPr>
          <p:cNvPr id="3" name="Shape 1"/>
          <p:cNvSpPr/>
          <p:nvPr/>
        </p:nvSpPr>
        <p:spPr>
          <a:xfrm>
            <a:off x="621792" y="384048"/>
            <a:ext cx="100584" cy="100584"/>
          </a:xfrm>
          <a:prstGeom prst="ellipse">
            <a:avLst/>
          </a:prstGeom>
          <a:solidFill>
            <a:srgbClr val="F39C33"/>
          </a:solidFill>
          <a:ln w="12700">
            <a:solidFill>
              <a:srgbClr val="F39C33"/>
            </a:solidFill>
            <a:prstDash val="solid"/>
          </a:ln>
        </p:spPr>
      </p:sp>
      <p:sp>
        <p:nvSpPr>
          <p:cNvPr id="4" name="Shape 2"/>
          <p:cNvSpPr/>
          <p:nvPr/>
        </p:nvSpPr>
        <p:spPr>
          <a:xfrm>
            <a:off x="786384" y="384048"/>
            <a:ext cx="100584" cy="100584"/>
          </a:xfrm>
          <a:prstGeom prst="ellipse">
            <a:avLst/>
          </a:prstGeom>
          <a:solidFill>
            <a:srgbClr val="F2C230"/>
          </a:solidFill>
          <a:ln w="12700">
            <a:solidFill>
              <a:srgbClr val="F2C230"/>
            </a:solidFill>
            <a:prstDash val="solid"/>
          </a:ln>
        </p:spPr>
      </p:sp>
      <p:sp>
        <p:nvSpPr>
          <p:cNvPr id="5" name="Shape 3"/>
          <p:cNvSpPr/>
          <p:nvPr/>
        </p:nvSpPr>
        <p:spPr>
          <a:xfrm>
            <a:off x="950976" y="384048"/>
            <a:ext cx="100584" cy="100584"/>
          </a:xfrm>
          <a:prstGeom prst="ellipse">
            <a:avLst/>
          </a:prstGeom>
          <a:solidFill>
            <a:srgbClr val="5DBB63"/>
          </a:solidFill>
          <a:ln w="12700">
            <a:solidFill>
              <a:srgbClr val="5DBB63"/>
            </a:solidFill>
            <a:prstDash val="solid"/>
          </a:ln>
        </p:spPr>
      </p:sp>
      <p:sp>
        <p:nvSpPr>
          <p:cNvPr id="6" name="Shape 4"/>
          <p:cNvSpPr/>
          <p:nvPr/>
        </p:nvSpPr>
        <p:spPr>
          <a:xfrm>
            <a:off x="1115568" y="384048"/>
            <a:ext cx="100584" cy="100584"/>
          </a:xfrm>
          <a:prstGeom prst="ellipse">
            <a:avLst/>
          </a:prstGeom>
          <a:solidFill>
            <a:srgbClr val="3FA7D6"/>
          </a:solidFill>
          <a:ln w="12700">
            <a:solidFill>
              <a:srgbClr val="3FA7D6"/>
            </a:solidFill>
            <a:prstDash val="solid"/>
          </a:ln>
        </p:spPr>
      </p:sp>
      <p:sp>
        <p:nvSpPr>
          <p:cNvPr id="7" name="Shape 5"/>
          <p:cNvSpPr/>
          <p:nvPr/>
        </p:nvSpPr>
        <p:spPr>
          <a:xfrm>
            <a:off x="1280160" y="384048"/>
            <a:ext cx="100584" cy="100584"/>
          </a:xfrm>
          <a:prstGeom prst="ellipse">
            <a:avLst/>
          </a:prstGeom>
          <a:solidFill>
            <a:srgbClr val="4A6FC7"/>
          </a:solidFill>
          <a:ln w="12700">
            <a:solidFill>
              <a:srgbClr val="4A6FC7"/>
            </a:solidFill>
            <a:prstDash val="solid"/>
          </a:ln>
        </p:spPr>
      </p:sp>
      <p:sp>
        <p:nvSpPr>
          <p:cNvPr id="8" name="Shape 6"/>
          <p:cNvSpPr/>
          <p:nvPr/>
        </p:nvSpPr>
        <p:spPr>
          <a:xfrm>
            <a:off x="1444752" y="384048"/>
            <a:ext cx="100584" cy="100584"/>
          </a:xfrm>
          <a:prstGeom prst="ellipse">
            <a:avLst/>
          </a:prstGeom>
          <a:solidFill>
            <a:srgbClr val="9A6BC4"/>
          </a:solidFill>
          <a:ln w="12700">
            <a:solidFill>
              <a:srgbClr val="9A6BC4"/>
            </a:solidFill>
            <a:prstDash val="solid"/>
          </a:ln>
        </p:spPr>
      </p:sp>
      <p:sp>
        <p:nvSpPr>
          <p:cNvPr id="9" name="Text 7"/>
          <p:cNvSpPr txBox="1"/>
          <p:nvPr/>
        </p:nvSpPr>
        <p:spPr>
          <a:xfrm>
            <a:off x="457200" y="530352"/>
            <a:ext cx="8229600" cy="640080"/>
          </a:xfrm>
          <a:prstGeom prst="rect">
            <a:avLst/>
          </a:prstGeom>
          <a:noFill/>
          <a:ln/>
        </p:spPr>
        <p:txBody>
          <a:bodyPr wrap="square" lIns="0" tIns="0" rIns="0" bIns="0" rtlCol="0" anchor="ctr"/>
          <a:lstStyle/>
          <a:p>
            <a:pPr indent="0" marL="0">
              <a:buNone/>
            </a:pPr>
            <a:r>
              <a:rPr lang="en-US" sz="2600" b="1" dirty="0">
                <a:solidFill>
                  <a:srgbClr val="2E3440"/>
                </a:solidFill>
                <a:latin typeface="Meiryo UI" pitchFamily="34" charset="0"/>
                <a:ea typeface="Meiryo UI" pitchFamily="34" charset="-122"/>
                <a:cs typeface="Meiryo UI" pitchFamily="34" charset="-120"/>
              </a:rPr>
              <a:t>描く未来　― 愛媛から全国へ（仮構想）</a:t>
            </a:r>
            <a:endParaRPr lang="en-US" sz="2600" dirty="0"/>
          </a:p>
        </p:txBody>
      </p:sp>
      <p:sp>
        <p:nvSpPr>
          <p:cNvPr id="10" name="Text 8"/>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Meiryo UI" pitchFamily="34" charset="0"/>
                <a:ea typeface="Meiryo UI" pitchFamily="34" charset="-122"/>
                <a:cs typeface="Meiryo UI" pitchFamily="34" charset="-120"/>
              </a:rPr>
              <a:t>8</a:t>
            </a:r>
            <a:endParaRPr lang="en-US" sz="1000" dirty="0"/>
          </a:p>
        </p:txBody>
      </p:sp>
      <p:sp>
        <p:nvSpPr>
          <p:cNvPr id="11" name="Shape 9"/>
          <p:cNvSpPr/>
          <p:nvPr/>
        </p:nvSpPr>
        <p:spPr>
          <a:xfrm>
            <a:off x="457200" y="1417320"/>
            <a:ext cx="1920240" cy="2148840"/>
          </a:xfrm>
          <a:prstGeom prst="roundRect">
            <a:avLst>
              <a:gd name="adj" fmla="val 5714"/>
            </a:avLst>
          </a:prstGeom>
          <a:solidFill>
            <a:srgbClr val="F4F6FA"/>
          </a:solidFill>
          <a:ln w="12700">
            <a:solidFill>
              <a:srgbClr val="F4F6FA"/>
            </a:solidFill>
            <a:prstDash val="solid"/>
          </a:ln>
        </p:spPr>
      </p:sp>
      <p:sp>
        <p:nvSpPr>
          <p:cNvPr id="12" name="Shape 10"/>
          <p:cNvSpPr/>
          <p:nvPr/>
        </p:nvSpPr>
        <p:spPr>
          <a:xfrm>
            <a:off x="640080" y="1618488"/>
            <a:ext cx="868680" cy="292608"/>
          </a:xfrm>
          <a:prstGeom prst="roundRect">
            <a:avLst>
              <a:gd name="adj" fmla="val 50000"/>
            </a:avLst>
          </a:prstGeom>
          <a:solidFill>
            <a:srgbClr val="E8505B"/>
          </a:solidFill>
          <a:ln w="12700">
            <a:solidFill>
              <a:srgbClr val="E8505B"/>
            </a:solidFill>
            <a:prstDash val="solid"/>
          </a:ln>
        </p:spPr>
      </p:sp>
      <p:sp>
        <p:nvSpPr>
          <p:cNvPr id="13" name="Text 11"/>
          <p:cNvSpPr txBox="1"/>
          <p:nvPr/>
        </p:nvSpPr>
        <p:spPr>
          <a:xfrm>
            <a:off x="640080" y="1618488"/>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 1</a:t>
            </a:r>
            <a:endParaRPr lang="en-US" sz="1000" dirty="0"/>
          </a:p>
        </p:txBody>
      </p:sp>
      <p:sp>
        <p:nvSpPr>
          <p:cNvPr id="14" name="Text 12"/>
          <p:cNvSpPr txBox="1"/>
          <p:nvPr/>
        </p:nvSpPr>
        <p:spPr>
          <a:xfrm>
            <a:off x="640080" y="2057400"/>
            <a:ext cx="1600200" cy="411480"/>
          </a:xfrm>
          <a:prstGeom prst="rect">
            <a:avLst/>
          </a:prstGeom>
          <a:noFill/>
          <a:ln/>
        </p:spPr>
        <p:txBody>
          <a:bodyPr wrap="square" lIns="0" tIns="0" rIns="0" bIns="0" rtlCol="0" anchor="t"/>
          <a:lstStyle/>
          <a:p>
            <a:pPr indent="0" marL="0">
              <a:buNone/>
            </a:pPr>
            <a:r>
              <a:rPr lang="en-US" sz="1700" b="1" dirty="0">
                <a:solidFill>
                  <a:srgbClr val="2E3440"/>
                </a:solidFill>
                <a:latin typeface="Meiryo UI" pitchFamily="34" charset="0"/>
                <a:ea typeface="Meiryo UI" pitchFamily="34" charset="-122"/>
                <a:cs typeface="Meiryo UI" pitchFamily="34" charset="-120"/>
              </a:rPr>
              <a:t>愛媛で実践</a:t>
            </a:r>
            <a:endParaRPr lang="en-US" sz="1700" dirty="0"/>
          </a:p>
        </p:txBody>
      </p:sp>
      <p:sp>
        <p:nvSpPr>
          <p:cNvPr id="15" name="Text 13"/>
          <p:cNvSpPr txBox="1"/>
          <p:nvPr/>
        </p:nvSpPr>
        <p:spPr>
          <a:xfrm>
            <a:off x="640080" y="2560320"/>
            <a:ext cx="1691640" cy="914400"/>
          </a:xfrm>
          <a:prstGeom prst="rect">
            <a:avLst/>
          </a:prstGeom>
          <a:noFill/>
          <a:ln/>
        </p:spPr>
        <p:txBody>
          <a:bodyPr wrap="square" lIns="0" tIns="0" rIns="0" bIns="0" rtlCol="0" anchor="t"/>
          <a:lstStyle/>
          <a:p>
            <a:pPr indent="0" marL="0">
              <a:lnSpc>
                <a:spcPct val="115000"/>
              </a:lnSpc>
              <a:buNone/>
            </a:pPr>
            <a:r>
              <a:rPr lang="en-US" sz="1050" dirty="0">
                <a:solidFill>
                  <a:srgbClr val="6B7280"/>
                </a:solidFill>
                <a:latin typeface="Meiryo UI" pitchFamily="34" charset="0"/>
                <a:ea typeface="Meiryo UI" pitchFamily="34" charset="-122"/>
                <a:cs typeface="Meiryo UI" pitchFamily="34" charset="-120"/>
              </a:rPr>
              <a:t>B型を第一歩に、</a:t>
            </a:r>
            <a:endParaRPr lang="en-US" sz="1050" dirty="0"/>
          </a:p>
          <a:p>
            <a:pPr indent="0" marL="0">
              <a:lnSpc>
                <a:spcPct val="115000"/>
              </a:lnSpc>
              <a:buNone/>
            </a:pPr>
            <a:r>
              <a:rPr lang="en-US" sz="1050" dirty="0">
                <a:solidFill>
                  <a:srgbClr val="6B7280"/>
                </a:solidFill>
                <a:latin typeface="Meiryo UI" pitchFamily="34" charset="0"/>
                <a:ea typeface="Meiryo UI" pitchFamily="34" charset="-122"/>
                <a:cs typeface="Meiryo UI" pitchFamily="34" charset="-120"/>
              </a:rPr>
              <a:t>放デイ・児童クラブ・</a:t>
            </a:r>
            <a:endParaRPr lang="en-US" sz="1050" dirty="0"/>
          </a:p>
          <a:p>
            <a:pPr indent="0" marL="0">
              <a:lnSpc>
                <a:spcPct val="115000"/>
              </a:lnSpc>
              <a:buNone/>
            </a:pPr>
            <a:r>
              <a:rPr lang="en-US" sz="1050" dirty="0">
                <a:solidFill>
                  <a:srgbClr val="6B7280"/>
                </a:solidFill>
                <a:latin typeface="Meiryo UI" pitchFamily="34" charset="0"/>
                <a:ea typeface="Meiryo UI" pitchFamily="34" charset="-122"/>
                <a:cs typeface="Meiryo UI" pitchFamily="34" charset="-120"/>
              </a:rPr>
              <a:t>就労をつなぐ</a:t>
            </a:r>
            <a:endParaRPr lang="en-US" sz="1050" dirty="0"/>
          </a:p>
        </p:txBody>
      </p:sp>
      <p:sp>
        <p:nvSpPr>
          <p:cNvPr id="16" name="Shape 14"/>
          <p:cNvSpPr/>
          <p:nvPr/>
        </p:nvSpPr>
        <p:spPr>
          <a:xfrm>
            <a:off x="2560320" y="1417320"/>
            <a:ext cx="1920240" cy="2148840"/>
          </a:xfrm>
          <a:prstGeom prst="roundRect">
            <a:avLst>
              <a:gd name="adj" fmla="val 5714"/>
            </a:avLst>
          </a:prstGeom>
          <a:solidFill>
            <a:srgbClr val="F4F6FA"/>
          </a:solidFill>
          <a:ln w="12700">
            <a:solidFill>
              <a:srgbClr val="F4F6FA"/>
            </a:solidFill>
            <a:prstDash val="solid"/>
          </a:ln>
        </p:spPr>
      </p:sp>
      <p:sp>
        <p:nvSpPr>
          <p:cNvPr id="17" name="Shape 15"/>
          <p:cNvSpPr/>
          <p:nvPr/>
        </p:nvSpPr>
        <p:spPr>
          <a:xfrm>
            <a:off x="2743200" y="1618488"/>
            <a:ext cx="868680" cy="292608"/>
          </a:xfrm>
          <a:prstGeom prst="roundRect">
            <a:avLst>
              <a:gd name="adj" fmla="val 50000"/>
            </a:avLst>
          </a:prstGeom>
          <a:solidFill>
            <a:srgbClr val="F2C230"/>
          </a:solidFill>
          <a:ln w="12700">
            <a:solidFill>
              <a:srgbClr val="F2C230"/>
            </a:solidFill>
            <a:prstDash val="solid"/>
          </a:ln>
        </p:spPr>
      </p:sp>
      <p:sp>
        <p:nvSpPr>
          <p:cNvPr id="18" name="Text 16"/>
          <p:cNvSpPr txBox="1"/>
          <p:nvPr/>
        </p:nvSpPr>
        <p:spPr>
          <a:xfrm>
            <a:off x="2743200" y="1618488"/>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 2</a:t>
            </a:r>
            <a:endParaRPr lang="en-US" sz="1000" dirty="0"/>
          </a:p>
        </p:txBody>
      </p:sp>
      <p:sp>
        <p:nvSpPr>
          <p:cNvPr id="19" name="Text 17"/>
          <p:cNvSpPr txBox="1"/>
          <p:nvPr/>
        </p:nvSpPr>
        <p:spPr>
          <a:xfrm>
            <a:off x="2743200" y="2057400"/>
            <a:ext cx="1600200" cy="411480"/>
          </a:xfrm>
          <a:prstGeom prst="rect">
            <a:avLst/>
          </a:prstGeom>
          <a:noFill/>
          <a:ln/>
        </p:spPr>
        <p:txBody>
          <a:bodyPr wrap="square" lIns="0" tIns="0" rIns="0" bIns="0" rtlCol="0" anchor="t"/>
          <a:lstStyle/>
          <a:p>
            <a:pPr indent="0" marL="0">
              <a:buNone/>
            </a:pPr>
            <a:r>
              <a:rPr lang="en-US" sz="1700" b="1" dirty="0">
                <a:solidFill>
                  <a:srgbClr val="2E3440"/>
                </a:solidFill>
                <a:latin typeface="Meiryo UI" pitchFamily="34" charset="0"/>
                <a:ea typeface="Meiryo UI" pitchFamily="34" charset="-122"/>
                <a:cs typeface="Meiryo UI" pitchFamily="34" charset="-120"/>
              </a:rPr>
              <a:t>四国支社</a:t>
            </a:r>
            <a:endParaRPr lang="en-US" sz="1700" dirty="0"/>
          </a:p>
        </p:txBody>
      </p:sp>
      <p:sp>
        <p:nvSpPr>
          <p:cNvPr id="20" name="Text 18"/>
          <p:cNvSpPr txBox="1"/>
          <p:nvPr/>
        </p:nvSpPr>
        <p:spPr>
          <a:xfrm>
            <a:off x="2743200" y="2560320"/>
            <a:ext cx="1691640" cy="914400"/>
          </a:xfrm>
          <a:prstGeom prst="rect">
            <a:avLst/>
          </a:prstGeom>
          <a:noFill/>
          <a:ln/>
        </p:spPr>
        <p:txBody>
          <a:bodyPr wrap="square" lIns="0" tIns="0" rIns="0" bIns="0" rtlCol="0" anchor="t"/>
          <a:lstStyle/>
          <a:p>
            <a:pPr indent="0" marL="0">
              <a:lnSpc>
                <a:spcPct val="115000"/>
              </a:lnSpc>
              <a:buNone/>
            </a:pPr>
            <a:r>
              <a:rPr lang="en-US" sz="1050" dirty="0">
                <a:solidFill>
                  <a:srgbClr val="6B7280"/>
                </a:solidFill>
                <a:latin typeface="Meiryo UI" pitchFamily="34" charset="0"/>
                <a:ea typeface="Meiryo UI" pitchFamily="34" charset="-122"/>
                <a:cs typeface="Meiryo UI" pitchFamily="34" charset="-120"/>
              </a:rPr>
              <a:t>愛媛から四国全域へ</a:t>
            </a:r>
            <a:endParaRPr lang="en-US" sz="1050" dirty="0"/>
          </a:p>
          <a:p>
            <a:pPr indent="0" marL="0">
              <a:lnSpc>
                <a:spcPct val="115000"/>
              </a:lnSpc>
              <a:buNone/>
            </a:pPr>
            <a:r>
              <a:rPr lang="en-US" sz="1050" dirty="0">
                <a:solidFill>
                  <a:srgbClr val="6B7280"/>
                </a:solidFill>
                <a:latin typeface="Meiryo UI" pitchFamily="34" charset="0"/>
                <a:ea typeface="Meiryo UI" pitchFamily="34" charset="-122"/>
                <a:cs typeface="Meiryo UI" pitchFamily="34" charset="-120"/>
              </a:rPr>
              <a:t>インドネシア特定技能</a:t>
            </a:r>
            <a:endParaRPr lang="en-US" sz="1050" dirty="0"/>
          </a:p>
          <a:p>
            <a:pPr indent="0" marL="0">
              <a:lnSpc>
                <a:spcPct val="115000"/>
              </a:lnSpc>
              <a:buNone/>
            </a:pPr>
            <a:r>
              <a:rPr lang="en-US" sz="1050" dirty="0">
                <a:solidFill>
                  <a:srgbClr val="6B7280"/>
                </a:solidFill>
                <a:latin typeface="Meiryo UI" pitchFamily="34" charset="0"/>
                <a:ea typeface="Meiryo UI" pitchFamily="34" charset="-122"/>
                <a:cs typeface="Meiryo UI" pitchFamily="34" charset="-120"/>
              </a:rPr>
              <a:t>等の人材も含めて</a:t>
            </a:r>
            <a:endParaRPr lang="en-US" sz="1050" dirty="0"/>
          </a:p>
        </p:txBody>
      </p:sp>
      <p:sp>
        <p:nvSpPr>
          <p:cNvPr id="21" name="Shape 19"/>
          <p:cNvSpPr/>
          <p:nvPr/>
        </p:nvSpPr>
        <p:spPr>
          <a:xfrm>
            <a:off x="4663440" y="1417320"/>
            <a:ext cx="1920240" cy="2148840"/>
          </a:xfrm>
          <a:prstGeom prst="roundRect">
            <a:avLst>
              <a:gd name="adj" fmla="val 5714"/>
            </a:avLst>
          </a:prstGeom>
          <a:solidFill>
            <a:srgbClr val="F4F6FA"/>
          </a:solidFill>
          <a:ln w="12700">
            <a:solidFill>
              <a:srgbClr val="F4F6FA"/>
            </a:solidFill>
            <a:prstDash val="solid"/>
          </a:ln>
        </p:spPr>
      </p:sp>
      <p:sp>
        <p:nvSpPr>
          <p:cNvPr id="22" name="Shape 20"/>
          <p:cNvSpPr/>
          <p:nvPr/>
        </p:nvSpPr>
        <p:spPr>
          <a:xfrm>
            <a:off x="4846320" y="1618488"/>
            <a:ext cx="868680" cy="292608"/>
          </a:xfrm>
          <a:prstGeom prst="roundRect">
            <a:avLst>
              <a:gd name="adj" fmla="val 50000"/>
            </a:avLst>
          </a:prstGeom>
          <a:solidFill>
            <a:srgbClr val="3FA7D6"/>
          </a:solidFill>
          <a:ln w="12700">
            <a:solidFill>
              <a:srgbClr val="3FA7D6"/>
            </a:solidFill>
            <a:prstDash val="solid"/>
          </a:ln>
        </p:spPr>
      </p:sp>
      <p:sp>
        <p:nvSpPr>
          <p:cNvPr id="23" name="Text 21"/>
          <p:cNvSpPr txBox="1"/>
          <p:nvPr/>
        </p:nvSpPr>
        <p:spPr>
          <a:xfrm>
            <a:off x="4846320" y="1618488"/>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 3</a:t>
            </a:r>
            <a:endParaRPr lang="en-US" sz="1000" dirty="0"/>
          </a:p>
        </p:txBody>
      </p:sp>
      <p:sp>
        <p:nvSpPr>
          <p:cNvPr id="24" name="Text 22"/>
          <p:cNvSpPr txBox="1"/>
          <p:nvPr/>
        </p:nvSpPr>
        <p:spPr>
          <a:xfrm>
            <a:off x="4846320" y="2057400"/>
            <a:ext cx="1600200" cy="411480"/>
          </a:xfrm>
          <a:prstGeom prst="rect">
            <a:avLst/>
          </a:prstGeom>
          <a:noFill/>
          <a:ln/>
        </p:spPr>
        <p:txBody>
          <a:bodyPr wrap="square" lIns="0" tIns="0" rIns="0" bIns="0" rtlCol="0" anchor="t"/>
          <a:lstStyle/>
          <a:p>
            <a:pPr indent="0" marL="0">
              <a:buNone/>
            </a:pPr>
            <a:r>
              <a:rPr lang="en-US" sz="1700" b="1" dirty="0">
                <a:solidFill>
                  <a:srgbClr val="2E3440"/>
                </a:solidFill>
                <a:latin typeface="Meiryo UI" pitchFamily="34" charset="0"/>
                <a:ea typeface="Meiryo UI" pitchFamily="34" charset="-122"/>
                <a:cs typeface="Meiryo UI" pitchFamily="34" charset="-120"/>
              </a:rPr>
              <a:t>関西・中部支社</a:t>
            </a:r>
            <a:endParaRPr lang="en-US" sz="1700" dirty="0"/>
          </a:p>
        </p:txBody>
      </p:sp>
      <p:sp>
        <p:nvSpPr>
          <p:cNvPr id="25" name="Text 23"/>
          <p:cNvSpPr txBox="1"/>
          <p:nvPr/>
        </p:nvSpPr>
        <p:spPr>
          <a:xfrm>
            <a:off x="4846320" y="2560320"/>
            <a:ext cx="1691640" cy="914400"/>
          </a:xfrm>
          <a:prstGeom prst="rect">
            <a:avLst/>
          </a:prstGeom>
          <a:noFill/>
          <a:ln/>
        </p:spPr>
        <p:txBody>
          <a:bodyPr wrap="square" lIns="0" tIns="0" rIns="0" bIns="0" rtlCol="0" anchor="t"/>
          <a:lstStyle/>
          <a:p>
            <a:pPr indent="0" marL="0">
              <a:lnSpc>
                <a:spcPct val="115000"/>
              </a:lnSpc>
              <a:buNone/>
            </a:pPr>
            <a:r>
              <a:rPr lang="en-US" sz="1050" dirty="0">
                <a:solidFill>
                  <a:srgbClr val="6B7280"/>
                </a:solidFill>
                <a:latin typeface="Meiryo UI" pitchFamily="34" charset="0"/>
                <a:ea typeface="Meiryo UI" pitchFamily="34" charset="-122"/>
                <a:cs typeface="Meiryo UI" pitchFamily="34" charset="-120"/>
              </a:rPr>
              <a:t>エリアごとの拠点を</a:t>
            </a:r>
            <a:endParaRPr lang="en-US" sz="1050" dirty="0"/>
          </a:p>
          <a:p>
            <a:pPr indent="0" marL="0">
              <a:lnSpc>
                <a:spcPct val="115000"/>
              </a:lnSpc>
              <a:buNone/>
            </a:pPr>
            <a:r>
              <a:rPr lang="en-US" sz="1050" dirty="0">
                <a:solidFill>
                  <a:srgbClr val="6B7280"/>
                </a:solidFill>
                <a:latin typeface="Meiryo UI" pitchFamily="34" charset="0"/>
                <a:ea typeface="Meiryo UI" pitchFamily="34" charset="-122"/>
                <a:cs typeface="Meiryo UI" pitchFamily="34" charset="-120"/>
              </a:rPr>
              <a:t>各地に広げていく</a:t>
            </a:r>
            <a:endParaRPr lang="en-US" sz="1050" dirty="0"/>
          </a:p>
        </p:txBody>
      </p:sp>
      <p:sp>
        <p:nvSpPr>
          <p:cNvPr id="26" name="Shape 24"/>
          <p:cNvSpPr/>
          <p:nvPr/>
        </p:nvSpPr>
        <p:spPr>
          <a:xfrm>
            <a:off x="6766560" y="1417320"/>
            <a:ext cx="1920240" cy="2148840"/>
          </a:xfrm>
          <a:prstGeom prst="roundRect">
            <a:avLst>
              <a:gd name="adj" fmla="val 5714"/>
            </a:avLst>
          </a:prstGeom>
          <a:solidFill>
            <a:srgbClr val="F4F6FA"/>
          </a:solidFill>
          <a:ln w="12700">
            <a:solidFill>
              <a:srgbClr val="F4F6FA"/>
            </a:solidFill>
            <a:prstDash val="solid"/>
          </a:ln>
        </p:spPr>
      </p:sp>
      <p:sp>
        <p:nvSpPr>
          <p:cNvPr id="27" name="Shape 25"/>
          <p:cNvSpPr/>
          <p:nvPr/>
        </p:nvSpPr>
        <p:spPr>
          <a:xfrm>
            <a:off x="6949440" y="1618488"/>
            <a:ext cx="868680" cy="292608"/>
          </a:xfrm>
          <a:prstGeom prst="roundRect">
            <a:avLst>
              <a:gd name="adj" fmla="val 50000"/>
            </a:avLst>
          </a:prstGeom>
          <a:solidFill>
            <a:srgbClr val="9A6BC4"/>
          </a:solidFill>
          <a:ln w="12700">
            <a:solidFill>
              <a:srgbClr val="9A6BC4"/>
            </a:solidFill>
            <a:prstDash val="solid"/>
          </a:ln>
        </p:spPr>
      </p:sp>
      <p:sp>
        <p:nvSpPr>
          <p:cNvPr id="28" name="Text 26"/>
          <p:cNvSpPr txBox="1"/>
          <p:nvPr/>
        </p:nvSpPr>
        <p:spPr>
          <a:xfrm>
            <a:off x="6949440" y="1618488"/>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GOAL</a:t>
            </a:r>
            <a:endParaRPr lang="en-US" sz="1000" dirty="0"/>
          </a:p>
        </p:txBody>
      </p:sp>
      <p:sp>
        <p:nvSpPr>
          <p:cNvPr id="29" name="Text 27"/>
          <p:cNvSpPr txBox="1"/>
          <p:nvPr/>
        </p:nvSpPr>
        <p:spPr>
          <a:xfrm>
            <a:off x="6949440" y="2057400"/>
            <a:ext cx="1600200" cy="411480"/>
          </a:xfrm>
          <a:prstGeom prst="rect">
            <a:avLst/>
          </a:prstGeom>
          <a:noFill/>
          <a:ln/>
        </p:spPr>
        <p:txBody>
          <a:bodyPr wrap="square" lIns="0" tIns="0" rIns="0" bIns="0" rtlCol="0" anchor="t"/>
          <a:lstStyle/>
          <a:p>
            <a:pPr indent="0" marL="0">
              <a:buNone/>
            </a:pPr>
            <a:r>
              <a:rPr lang="en-US" sz="1700" b="1" dirty="0">
                <a:solidFill>
                  <a:srgbClr val="2E3440"/>
                </a:solidFill>
                <a:latin typeface="Meiryo UI" pitchFamily="34" charset="0"/>
                <a:ea typeface="Meiryo UI" pitchFamily="34" charset="-122"/>
                <a:cs typeface="Meiryo UI" pitchFamily="34" charset="-120"/>
              </a:rPr>
              <a:t>全国へ</a:t>
            </a:r>
            <a:endParaRPr lang="en-US" sz="1700" dirty="0"/>
          </a:p>
        </p:txBody>
      </p:sp>
      <p:sp>
        <p:nvSpPr>
          <p:cNvPr id="30" name="Text 28"/>
          <p:cNvSpPr txBox="1"/>
          <p:nvPr/>
        </p:nvSpPr>
        <p:spPr>
          <a:xfrm>
            <a:off x="6949440" y="2560320"/>
            <a:ext cx="1691640" cy="914400"/>
          </a:xfrm>
          <a:prstGeom prst="rect">
            <a:avLst/>
          </a:prstGeom>
          <a:noFill/>
          <a:ln/>
        </p:spPr>
        <p:txBody>
          <a:bodyPr wrap="square" lIns="0" tIns="0" rIns="0" bIns="0" rtlCol="0" anchor="t"/>
          <a:lstStyle/>
          <a:p>
            <a:pPr indent="0" marL="0">
              <a:lnSpc>
                <a:spcPct val="115000"/>
              </a:lnSpc>
              <a:buNone/>
            </a:pPr>
            <a:r>
              <a:rPr lang="en-US" sz="1050" dirty="0">
                <a:solidFill>
                  <a:srgbClr val="6B7280"/>
                </a:solidFill>
                <a:latin typeface="Meiryo UI" pitchFamily="34" charset="0"/>
                <a:ea typeface="Meiryo UI" pitchFamily="34" charset="-122"/>
                <a:cs typeface="Meiryo UI" pitchFamily="34" charset="-120"/>
              </a:rPr>
              <a:t>全国にキャレオスの</a:t>
            </a:r>
            <a:endParaRPr lang="en-US" sz="1050" dirty="0"/>
          </a:p>
          <a:p>
            <a:pPr indent="0" marL="0">
              <a:lnSpc>
                <a:spcPct val="115000"/>
              </a:lnSpc>
              <a:buNone/>
            </a:pPr>
            <a:r>
              <a:rPr lang="en-US" sz="1050" dirty="0">
                <a:solidFill>
                  <a:srgbClr val="6B7280"/>
                </a:solidFill>
                <a:latin typeface="Meiryo UI" pitchFamily="34" charset="0"/>
                <a:ea typeface="Meiryo UI" pitchFamily="34" charset="-122"/>
                <a:cs typeface="Meiryo UI" pitchFamily="34" charset="-120"/>
              </a:rPr>
              <a:t>トータルサポートを</a:t>
            </a:r>
            <a:endParaRPr lang="en-US" sz="1050" dirty="0"/>
          </a:p>
        </p:txBody>
      </p:sp>
      <p:sp>
        <p:nvSpPr>
          <p:cNvPr id="31" name="Shape 29"/>
          <p:cNvSpPr/>
          <p:nvPr/>
        </p:nvSpPr>
        <p:spPr>
          <a:xfrm>
            <a:off x="457200" y="3794760"/>
            <a:ext cx="8229600" cy="777240"/>
          </a:xfrm>
          <a:prstGeom prst="roundRect">
            <a:avLst>
              <a:gd name="adj" fmla="val 14118"/>
            </a:avLst>
          </a:prstGeom>
          <a:solidFill>
            <a:srgbClr val="EEF1FB"/>
          </a:solidFill>
          <a:ln w="12700">
            <a:solidFill>
              <a:srgbClr val="EEF1FB"/>
            </a:solidFill>
            <a:prstDash val="solid"/>
          </a:ln>
        </p:spPr>
      </p:sp>
      <p:sp>
        <p:nvSpPr>
          <p:cNvPr id="32" name="Text 30"/>
          <p:cNvSpPr txBox="1"/>
          <p:nvPr/>
        </p:nvSpPr>
        <p:spPr>
          <a:xfrm>
            <a:off x="685800" y="3794760"/>
            <a:ext cx="7772400" cy="777240"/>
          </a:xfrm>
          <a:prstGeom prst="rect">
            <a:avLst/>
          </a:prstGeom>
          <a:noFill/>
          <a:ln/>
        </p:spPr>
        <p:txBody>
          <a:bodyPr wrap="square" lIns="0" tIns="0" rIns="0" bIns="0" rtlCol="0" anchor="ctr"/>
          <a:lstStyle/>
          <a:p>
            <a:pPr indent="0" marL="0">
              <a:buNone/>
            </a:pPr>
            <a:r>
              <a:rPr lang="en-US" sz="1500" b="1" dirty="0">
                <a:solidFill>
                  <a:srgbClr val="4A6FC7"/>
                </a:solidFill>
                <a:latin typeface="Meiryo UI" pitchFamily="34" charset="0"/>
                <a:ea typeface="Meiryo UI" pitchFamily="34" charset="-122"/>
                <a:cs typeface="Meiryo UI" pitchFamily="34" charset="-120"/>
              </a:rPr>
              <a:t>まだキャレオスにいない人材・ポジション。そこを確立させることに価値がある。</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834640" y="-2834640"/>
            <a:ext cx="5669280" cy="5669280"/>
          </a:xfrm>
          <a:prstGeom prst="blockArc">
            <a:avLst>
              <a:gd name="adj1" fmla="val 0"/>
              <a:gd name="adj2" fmla="val 5400000"/>
              <a:gd name="adj3" fmla="val 4500"/>
            </a:avLst>
          </a:prstGeom>
          <a:solidFill>
            <a:srgbClr val="E8505B"/>
          </a:solidFill>
          <a:ln w="12700">
            <a:solidFill>
              <a:srgbClr val="E8505B"/>
            </a:solidFill>
            <a:prstDash val="solid"/>
          </a:ln>
        </p:spPr>
      </p:sp>
      <p:sp>
        <p:nvSpPr>
          <p:cNvPr id="3" name="Shape 1"/>
          <p:cNvSpPr/>
          <p:nvPr/>
        </p:nvSpPr>
        <p:spPr>
          <a:xfrm>
            <a:off x="-2560320" y="-2560320"/>
            <a:ext cx="5120640" cy="5120640"/>
          </a:xfrm>
          <a:prstGeom prst="blockArc">
            <a:avLst>
              <a:gd name="adj1" fmla="val 0"/>
              <a:gd name="adj2" fmla="val 5400000"/>
              <a:gd name="adj3" fmla="val 4500"/>
            </a:avLst>
          </a:prstGeom>
          <a:solidFill>
            <a:srgbClr val="F39C33"/>
          </a:solidFill>
          <a:ln w="12700">
            <a:solidFill>
              <a:srgbClr val="F39C33"/>
            </a:solidFill>
            <a:prstDash val="solid"/>
          </a:ln>
        </p:spPr>
      </p:sp>
      <p:sp>
        <p:nvSpPr>
          <p:cNvPr id="4" name="Shape 2"/>
          <p:cNvSpPr/>
          <p:nvPr/>
        </p:nvSpPr>
        <p:spPr>
          <a:xfrm>
            <a:off x="-2286000" y="-2286000"/>
            <a:ext cx="4572000" cy="4572000"/>
          </a:xfrm>
          <a:prstGeom prst="blockArc">
            <a:avLst>
              <a:gd name="adj1" fmla="val 0"/>
              <a:gd name="adj2" fmla="val 5400000"/>
              <a:gd name="adj3" fmla="val 4500"/>
            </a:avLst>
          </a:prstGeom>
          <a:solidFill>
            <a:srgbClr val="F2C230"/>
          </a:solidFill>
          <a:ln w="12700">
            <a:solidFill>
              <a:srgbClr val="F2C230"/>
            </a:solidFill>
            <a:prstDash val="solid"/>
          </a:ln>
        </p:spPr>
      </p:sp>
      <p:sp>
        <p:nvSpPr>
          <p:cNvPr id="5" name="Shape 3"/>
          <p:cNvSpPr/>
          <p:nvPr/>
        </p:nvSpPr>
        <p:spPr>
          <a:xfrm>
            <a:off x="-2011680" y="-2011680"/>
            <a:ext cx="4023360" cy="4023360"/>
          </a:xfrm>
          <a:prstGeom prst="blockArc">
            <a:avLst>
              <a:gd name="adj1" fmla="val 0"/>
              <a:gd name="adj2" fmla="val 5400000"/>
              <a:gd name="adj3" fmla="val 4500"/>
            </a:avLst>
          </a:prstGeom>
          <a:solidFill>
            <a:srgbClr val="5DBB63"/>
          </a:solidFill>
          <a:ln w="12700">
            <a:solidFill>
              <a:srgbClr val="5DBB63"/>
            </a:solidFill>
            <a:prstDash val="solid"/>
          </a:ln>
        </p:spPr>
      </p:sp>
      <p:sp>
        <p:nvSpPr>
          <p:cNvPr id="6" name="Shape 4"/>
          <p:cNvSpPr/>
          <p:nvPr/>
        </p:nvSpPr>
        <p:spPr>
          <a:xfrm>
            <a:off x="-1737360" y="-1737360"/>
            <a:ext cx="3474720" cy="3474720"/>
          </a:xfrm>
          <a:prstGeom prst="blockArc">
            <a:avLst>
              <a:gd name="adj1" fmla="val 0"/>
              <a:gd name="adj2" fmla="val 5400000"/>
              <a:gd name="adj3" fmla="val 4500"/>
            </a:avLst>
          </a:prstGeom>
          <a:solidFill>
            <a:srgbClr val="3FA7D6"/>
          </a:solidFill>
          <a:ln w="12700">
            <a:solidFill>
              <a:srgbClr val="3FA7D6"/>
            </a:solidFill>
            <a:prstDash val="solid"/>
          </a:ln>
        </p:spPr>
      </p:sp>
      <p:sp>
        <p:nvSpPr>
          <p:cNvPr id="7" name="Shape 5"/>
          <p:cNvSpPr/>
          <p:nvPr/>
        </p:nvSpPr>
        <p:spPr>
          <a:xfrm>
            <a:off x="-1463040" y="-1463040"/>
            <a:ext cx="2926080" cy="2926080"/>
          </a:xfrm>
          <a:prstGeom prst="blockArc">
            <a:avLst>
              <a:gd name="adj1" fmla="val 0"/>
              <a:gd name="adj2" fmla="val 5400000"/>
              <a:gd name="adj3" fmla="val 4500"/>
            </a:avLst>
          </a:prstGeom>
          <a:solidFill>
            <a:srgbClr val="4A6FC7"/>
          </a:solidFill>
          <a:ln w="12700">
            <a:solidFill>
              <a:srgbClr val="4A6FC7"/>
            </a:solidFill>
            <a:prstDash val="solid"/>
          </a:ln>
        </p:spPr>
      </p:sp>
      <p:sp>
        <p:nvSpPr>
          <p:cNvPr id="8" name="Shape 6"/>
          <p:cNvSpPr/>
          <p:nvPr/>
        </p:nvSpPr>
        <p:spPr>
          <a:xfrm>
            <a:off x="-1188720" y="-1188720"/>
            <a:ext cx="2377440" cy="2377440"/>
          </a:xfrm>
          <a:prstGeom prst="blockArc">
            <a:avLst>
              <a:gd name="adj1" fmla="val 0"/>
              <a:gd name="adj2" fmla="val 5400000"/>
              <a:gd name="adj3" fmla="val 4500"/>
            </a:avLst>
          </a:prstGeom>
          <a:solidFill>
            <a:srgbClr val="9A6BC4"/>
          </a:solidFill>
          <a:ln w="12700">
            <a:solidFill>
              <a:srgbClr val="9A6BC4"/>
            </a:solidFill>
            <a:prstDash val="solid"/>
          </a:ln>
        </p:spPr>
      </p:sp>
      <p:sp>
        <p:nvSpPr>
          <p:cNvPr id="9" name="Text 7"/>
          <p:cNvSpPr txBox="1"/>
          <p:nvPr/>
        </p:nvSpPr>
        <p:spPr>
          <a:xfrm>
            <a:off x="914400" y="1828800"/>
            <a:ext cx="7772400" cy="457200"/>
          </a:xfrm>
          <a:prstGeom prst="rect">
            <a:avLst/>
          </a:prstGeom>
          <a:noFill/>
          <a:ln/>
        </p:spPr>
        <p:txBody>
          <a:bodyPr wrap="square" lIns="0" tIns="0" rIns="0" bIns="0" rtlCol="0" anchor="t"/>
          <a:lstStyle/>
          <a:p>
            <a:pPr algn="r" indent="0" marL="0">
              <a:buNone/>
            </a:pPr>
            <a:r>
              <a:rPr lang="en-US" sz="1800" dirty="0">
                <a:solidFill>
                  <a:srgbClr val="6B7280"/>
                </a:solidFill>
                <a:latin typeface="Meiryo UI" pitchFamily="34" charset="0"/>
                <a:ea typeface="Meiryo UI" pitchFamily="34" charset="-122"/>
                <a:cs typeface="Meiryo UI" pitchFamily="34" charset="-120"/>
              </a:rPr>
              <a:t>その始まりを、愛媛で実践する人材に。</a:t>
            </a:r>
            <a:endParaRPr lang="en-US" sz="1800" dirty="0"/>
          </a:p>
        </p:txBody>
      </p:sp>
      <p:sp>
        <p:nvSpPr>
          <p:cNvPr id="10" name="Text 8"/>
          <p:cNvSpPr txBox="1"/>
          <p:nvPr/>
        </p:nvSpPr>
        <p:spPr>
          <a:xfrm>
            <a:off x="2743200" y="2331720"/>
            <a:ext cx="5943600" cy="1463040"/>
          </a:xfrm>
          <a:prstGeom prst="rect">
            <a:avLst/>
          </a:prstGeom>
          <a:noFill/>
          <a:ln/>
        </p:spPr>
        <p:txBody>
          <a:bodyPr wrap="square" lIns="0" tIns="0" rIns="0" bIns="0" rtlCol="0" anchor="t"/>
          <a:lstStyle/>
          <a:p>
            <a:pPr algn="r" indent="0" marL="0">
              <a:lnSpc>
                <a:spcPct val="105000"/>
              </a:lnSpc>
              <a:buNone/>
            </a:pPr>
            <a:r>
              <a:rPr lang="en-US" sz="4000" b="1" dirty="0">
                <a:solidFill>
                  <a:srgbClr val="2E3440"/>
                </a:solidFill>
                <a:latin typeface="Meiryo UI" pitchFamily="34" charset="0"/>
                <a:ea typeface="Meiryo UI" pitchFamily="34" charset="-122"/>
                <a:cs typeface="Meiryo UI" pitchFamily="34" charset="-120"/>
              </a:rPr>
              <a:t>全国に</a:t>
            </a:r>
            <a:endParaRPr lang="en-US" sz="4000" dirty="0"/>
          </a:p>
          <a:p>
            <a:pPr algn="r" indent="0" marL="0">
              <a:lnSpc>
                <a:spcPct val="105000"/>
              </a:lnSpc>
              <a:buNone/>
            </a:pPr>
            <a:r>
              <a:rPr lang="en-US" sz="4000" b="1" dirty="0">
                <a:solidFill>
                  <a:srgbClr val="2E3440"/>
                </a:solidFill>
                <a:latin typeface="Meiryo UI" pitchFamily="34" charset="0"/>
                <a:ea typeface="Meiryo UI" pitchFamily="34" charset="-122"/>
                <a:cs typeface="Meiryo UI" pitchFamily="34" charset="-120"/>
              </a:rPr>
              <a:t>トータルサポートを。</a:t>
            </a:r>
            <a:endParaRPr lang="en-US" sz="4000" dirty="0"/>
          </a:p>
        </p:txBody>
      </p:sp>
      <p:sp>
        <p:nvSpPr>
          <p:cNvPr id="11" name="Shape 9"/>
          <p:cNvSpPr/>
          <p:nvPr/>
        </p:nvSpPr>
        <p:spPr>
          <a:xfrm>
            <a:off x="7598664" y="4069080"/>
            <a:ext cx="100584" cy="100584"/>
          </a:xfrm>
          <a:prstGeom prst="ellipse">
            <a:avLst/>
          </a:prstGeom>
          <a:solidFill>
            <a:srgbClr val="E8505B"/>
          </a:solidFill>
          <a:ln w="12700">
            <a:solidFill>
              <a:srgbClr val="E8505B"/>
            </a:solidFill>
            <a:prstDash val="solid"/>
          </a:ln>
        </p:spPr>
      </p:sp>
      <p:sp>
        <p:nvSpPr>
          <p:cNvPr id="12" name="Shape 10"/>
          <p:cNvSpPr/>
          <p:nvPr/>
        </p:nvSpPr>
        <p:spPr>
          <a:xfrm>
            <a:off x="7763256" y="4069080"/>
            <a:ext cx="100584" cy="100584"/>
          </a:xfrm>
          <a:prstGeom prst="ellipse">
            <a:avLst/>
          </a:prstGeom>
          <a:solidFill>
            <a:srgbClr val="F39C33"/>
          </a:solidFill>
          <a:ln w="12700">
            <a:solidFill>
              <a:srgbClr val="F39C33"/>
            </a:solidFill>
            <a:prstDash val="solid"/>
          </a:ln>
        </p:spPr>
      </p:sp>
      <p:sp>
        <p:nvSpPr>
          <p:cNvPr id="13" name="Shape 11"/>
          <p:cNvSpPr/>
          <p:nvPr/>
        </p:nvSpPr>
        <p:spPr>
          <a:xfrm>
            <a:off x="7927848" y="4069080"/>
            <a:ext cx="100584" cy="100584"/>
          </a:xfrm>
          <a:prstGeom prst="ellipse">
            <a:avLst/>
          </a:prstGeom>
          <a:solidFill>
            <a:srgbClr val="F2C230"/>
          </a:solidFill>
          <a:ln w="12700">
            <a:solidFill>
              <a:srgbClr val="F2C230"/>
            </a:solidFill>
            <a:prstDash val="solid"/>
          </a:ln>
        </p:spPr>
      </p:sp>
      <p:sp>
        <p:nvSpPr>
          <p:cNvPr id="14" name="Shape 12"/>
          <p:cNvSpPr/>
          <p:nvPr/>
        </p:nvSpPr>
        <p:spPr>
          <a:xfrm>
            <a:off x="8092440" y="4069080"/>
            <a:ext cx="100584" cy="100584"/>
          </a:xfrm>
          <a:prstGeom prst="ellipse">
            <a:avLst/>
          </a:prstGeom>
          <a:solidFill>
            <a:srgbClr val="5DBB63"/>
          </a:solidFill>
          <a:ln w="12700">
            <a:solidFill>
              <a:srgbClr val="5DBB63"/>
            </a:solidFill>
            <a:prstDash val="solid"/>
          </a:ln>
        </p:spPr>
      </p:sp>
      <p:sp>
        <p:nvSpPr>
          <p:cNvPr id="15" name="Shape 13"/>
          <p:cNvSpPr/>
          <p:nvPr/>
        </p:nvSpPr>
        <p:spPr>
          <a:xfrm>
            <a:off x="8257032" y="4069080"/>
            <a:ext cx="100584" cy="100584"/>
          </a:xfrm>
          <a:prstGeom prst="ellipse">
            <a:avLst/>
          </a:prstGeom>
          <a:solidFill>
            <a:srgbClr val="3FA7D6"/>
          </a:solidFill>
          <a:ln w="12700">
            <a:solidFill>
              <a:srgbClr val="3FA7D6"/>
            </a:solidFill>
            <a:prstDash val="solid"/>
          </a:ln>
        </p:spPr>
      </p:sp>
      <p:sp>
        <p:nvSpPr>
          <p:cNvPr id="16" name="Shape 14"/>
          <p:cNvSpPr/>
          <p:nvPr/>
        </p:nvSpPr>
        <p:spPr>
          <a:xfrm>
            <a:off x="8421624" y="4069080"/>
            <a:ext cx="100584" cy="100584"/>
          </a:xfrm>
          <a:prstGeom prst="ellipse">
            <a:avLst/>
          </a:prstGeom>
          <a:solidFill>
            <a:srgbClr val="4A6FC7"/>
          </a:solidFill>
          <a:ln w="12700">
            <a:solidFill>
              <a:srgbClr val="4A6FC7"/>
            </a:solidFill>
            <a:prstDash val="solid"/>
          </a:ln>
        </p:spPr>
      </p:sp>
      <p:sp>
        <p:nvSpPr>
          <p:cNvPr id="17" name="Shape 15"/>
          <p:cNvSpPr/>
          <p:nvPr/>
        </p:nvSpPr>
        <p:spPr>
          <a:xfrm>
            <a:off x="8586216" y="4069080"/>
            <a:ext cx="100584" cy="100584"/>
          </a:xfrm>
          <a:prstGeom prst="ellipse">
            <a:avLst/>
          </a:prstGeom>
          <a:solidFill>
            <a:srgbClr val="9A6BC4"/>
          </a:solidFill>
          <a:ln w="12700">
            <a:solidFill>
              <a:srgbClr val="9A6BC4"/>
            </a:solidFill>
            <a:prstDash val="solid"/>
          </a:ln>
        </p:spPr>
      </p:sp>
      <p:sp>
        <p:nvSpPr>
          <p:cNvPr id="18" name="Text 16"/>
          <p:cNvSpPr txBox="1"/>
          <p:nvPr/>
        </p:nvSpPr>
        <p:spPr>
          <a:xfrm>
            <a:off x="2743200" y="4343400"/>
            <a:ext cx="5943600" cy="365760"/>
          </a:xfrm>
          <a:prstGeom prst="rect">
            <a:avLst/>
          </a:prstGeom>
          <a:noFill/>
          <a:ln/>
        </p:spPr>
        <p:txBody>
          <a:bodyPr wrap="square" lIns="0" tIns="0" rIns="0" bIns="0" rtlCol="0" anchor="t"/>
          <a:lstStyle/>
          <a:p>
            <a:pPr algn="r" indent="0" marL="0">
              <a:buNone/>
            </a:pPr>
            <a:r>
              <a:rPr lang="en-US" sz="1300" dirty="0">
                <a:solidFill>
                  <a:srgbClr val="6B7280"/>
                </a:solidFill>
                <a:latin typeface="Meiryo UI" pitchFamily="34" charset="0"/>
                <a:ea typeface="Meiryo UI" pitchFamily="34" charset="-122"/>
                <a:cs typeface="Meiryo UI" pitchFamily="34" charset="-120"/>
              </a:rPr>
              <a:t>ご清聴ありがとうございました</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全国にトータルサポートを。</dc:title>
  <dc:subject>PptxGenJS Presentation</dc:subject>
  <dc:creator>PptxGenJS</dc:creator>
  <cp:lastModifiedBy>PptxGenJS</cp:lastModifiedBy>
  <cp:revision>1</cp:revision>
  <dcterms:created xsi:type="dcterms:W3CDTF">2026-09-30T03:10:49Z</dcterms:created>
  <dcterms:modified xsi:type="dcterms:W3CDTF">2026-09-30T03:10:49Z</dcterms:modified>
</cp:coreProperties>
</file>