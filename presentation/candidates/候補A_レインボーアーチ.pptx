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charts/chart2.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E3440"/>
                </a:solidFill>
                <a:latin typeface="Meiryo UI"/>
              </a:defRPr>
            </a:pPr>
            <a:r>
              <a:rPr sz="1300" b="0" i="0" u="none" strike="noStrike">
                <a:solidFill>
                  <a:srgbClr val="2E3440"/>
                </a:solidFill>
                <a:latin typeface="Meiryo UI"/>
              </a:rPr>
              <a:t>B型事業所が取り組む作業（上位6・複数回答）</a:t>
            </a:r>
          </a:p>
        </c:rich>
      </c:tx>
      <c:layout/>
      <c:overlay val="0"/>
    </c:title>
    <c:autoTitleDeleted val="0"/>
    <c:plotArea>
      <c:layout/>
      <c:barChart>
        <c:barDir val="bar"/>
        <c:grouping val="clustered"/>
        <c:varyColors val="0"/>
        <c:ser>
          <c:idx val="0"/>
          <c:order val="0"/>
          <c:tx>
            <c:strRef>
              <c:f>Sheet1!$B$1</c:f>
              <c:strCache>
                <c:ptCount val="1"/>
                <c:pt idx="0">
                  <c:v>実施している事業所の割合</c:v>
                </c:pt>
              </c:strCache>
            </c:strRef>
          </c:tx>
          <c:spPr>
            <a:solidFill>
              <a:srgbClr val="4A6FC7"/>
            </a:solidFill>
            <a:effectLst/>
          </c:spPr>
          <c:invertIfNegative val="0"/>
          <c:dLbls>
            <c:numFmt formatCode="0.0&quot;%&quot;" sourceLinked="0"/>
            <c:txPr>
              <a:bodyPr/>
              <a:lstStyle/>
              <a:p>
                <a:pPr>
                  <a:defRPr b="1" i="0" strike="noStrike" sz="1200" u="none">
                    <a:solidFill>
                      <a:srgbClr val="2E3440"/>
                    </a:solidFill>
                    <a:latin typeface="Meiryo UI"/>
                  </a:defRPr>
                </a:pPr>
              </a:p>
            </c:txPr>
            <c:showLegendKey val="0"/>
            <c:showVal val="1"/>
            <c:showCatName val="0"/>
            <c:showSerName val="0"/>
            <c:showPercent val="0"/>
            <c:showBubbleSize val="0"/>
            <c:showLeaderLines val="0"/>
          </c:dLbls>
          <c:dPt>
            <c:idx val="0"/>
            <c:invertIfNegative val="0"/>
            <c:bubble3D val="0"/>
            <c:spPr>
              <a:solidFill>
                <a:srgbClr val="4A6FC7"/>
              </a:solidFill>
              <a:effectLst/>
            </c:spPr>
          </c:dPt>
          <c:dPt>
            <c:idx val="1"/>
            <c:invertIfNegative val="0"/>
            <c:bubble3D val="0"/>
            <c:spPr>
              <a:solidFill>
                <a:srgbClr val="C9CFDA"/>
              </a:solidFill>
              <a:effectLst/>
            </c:spPr>
          </c:dPt>
          <c:dPt>
            <c:idx val="2"/>
            <c:invertIfNegative val="0"/>
            <c:bubble3D val="0"/>
            <c:spPr>
              <a:solidFill>
                <a:srgbClr val="C9CFDA"/>
              </a:solidFill>
              <a:effectLst/>
            </c:spPr>
          </c:dPt>
          <c:dPt>
            <c:idx val="3"/>
            <c:invertIfNegative val="0"/>
            <c:bubble3D val="0"/>
            <c:spPr>
              <a:solidFill>
                <a:srgbClr val="C9CFDA"/>
              </a:solidFill>
              <a:effectLst/>
            </c:spPr>
          </c:dPt>
          <c:dPt>
            <c:idx val="4"/>
            <c:invertIfNegative val="0"/>
            <c:bubble3D val="0"/>
            <c:spPr>
              <a:solidFill>
                <a:srgbClr val="C9CFDA"/>
              </a:solidFill>
              <a:effectLst/>
            </c:spPr>
          </c:dPt>
          <c:dPt>
            <c:idx val="5"/>
            <c:invertIfNegative val="0"/>
            <c:bubble3D val="0"/>
            <c:spPr>
              <a:solidFill>
                <a:srgbClr val="C9CFDA"/>
              </a:solidFill>
              <a:effectLst/>
            </c:spPr>
          </c:dPt>
          <c:cat>
            <c:multiLvlStrRef>
              <c:f>Sheet1!$A$2:$A$7</c:f>
              <c:multiLvlStrCache>
                <c:ptCount val="6"/>
                <c:lvl>
                  <c:pt idx="0">
                    <c:v>軽作業</c:v>
                  </c:pt>
                  <c:pt idx="1">
                    <c:v>清掃</c:v>
                  </c:pt>
                  <c:pt idx="2">
                    <c:v>雑貨製造</c:v>
                  </c:pt>
                  <c:pt idx="3">
                    <c:v>菓子製造</c:v>
                  </c:pt>
                  <c:pt idx="4">
                    <c:v>農業</c:v>
                  </c:pt>
                  <c:pt idx="5">
                    <c:v>リサイクル</c:v>
                  </c:pt>
                </c:lvl>
              </c:multiLvlStrCache>
            </c:multiLvlStrRef>
          </c:cat>
          <c:val>
            <c:numRef>
              <c:f>Sheet1!$B$2:$B$7</c:f>
              <c:numCache>
                <c:formatCode>General</c:formatCode>
                <c:ptCount val="6"/>
                <c:pt idx="0">
                  <c:v>63.6</c:v>
                </c:pt>
                <c:pt idx="1">
                  <c:v>27.8</c:v>
                </c:pt>
                <c:pt idx="2">
                  <c:v>23.1</c:v>
                </c:pt>
                <c:pt idx="3">
                  <c:v>15.2</c:v>
                </c:pt>
                <c:pt idx="4">
                  <c:v>12</c:v>
                </c:pt>
                <c:pt idx="5">
                  <c:v>10.8</c:v>
                </c:pt>
              </c:numCache>
            </c:numRef>
          </c:val>
        </c:ser>
        <c:dLbls>
          <c:numFmt formatCode="0.0&quot;%&quot;" sourceLinked="0"/>
          <c:txPr>
            <a:bodyPr/>
            <a:lstStyle/>
            <a:p>
              <a:pPr>
                <a:defRPr b="1" i="0" strike="noStrike" sz="1200" u="none">
                  <a:solidFill>
                    <a:srgbClr val="2E3440"/>
                  </a:solidFill>
                  <a:latin typeface="Meiryo UI"/>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300" b="0" i="0" u="none" strike="noStrike">
                <a:solidFill>
                  <a:srgbClr val="2E3440"/>
                </a:solidFill>
                <a:latin typeface="Meiryo UI"/>
              </a:defRPr>
            </a:pPr>
            <a:endParaRPr lang="en-US"/>
          </a:p>
        </c:txPr>
        <c:crossAx val="2094734552"/>
        <c:crosses val="autoZero"/>
        <c:auto val="1"/>
        <c:lblAlgn val="ctr"/>
        <c:noMultiLvlLbl val="1"/>
      </c:catAx>
      <c:valAx>
        <c:axId val="2094734552"/>
        <c:scaling>
          <c:orientation val="minMax"/>
          <c:max val="75"/>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E3440"/>
                </a:solidFill>
                <a:latin typeface="Meiryo UI"/>
              </a:defRPr>
            </a:pPr>
            <a:r>
              <a:rPr sz="1300" b="0" i="0" u="none" strike="noStrike">
                <a:solidFill>
                  <a:srgbClr val="2E3440"/>
                </a:solidFill>
                <a:latin typeface="Meiryo UI"/>
              </a:rPr>
              <a:t>資金残高の推移（万円）　横軸：開設からの月数</a:t>
            </a:r>
          </a:p>
        </c:rich>
      </c:tx>
      <c:layout/>
      <c:overlay val="0"/>
    </c:title>
    <c:autoTitleDeleted val="0"/>
    <c:plotArea>
      <c:layout/>
      <c:lineChart>
        <c:varyColors val="0"/>
        <c:ser>
          <c:idx val="0"/>
          <c:order val="0"/>
          <c:tx>
            <c:strRef>
              <c:f>Sheet1!$B$1</c:f>
              <c:strCache>
                <c:ptCount val="1"/>
                <c:pt idx="0">
                  <c:v>資金残高（万円）</c:v>
                </c:pt>
              </c:strCache>
            </c:strRef>
          </c:tx>
          <c:spPr>
            <a:solidFill>
              <a:srgbClr val="4A6FC7"/>
            </a:solidFill>
            <a:ln w="31750" cap="flat">
              <a:solidFill>
                <a:srgbClr val="4A6FC7"/>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4A6FC7"/>
              </a:solidFill>
              <a:ln w="9525" cap="flat">
                <a:solidFill>
                  <a:srgbClr val="4A6FC7"/>
                </a:solidFill>
                <a:prstDash val="solid"/>
                <a:round/>
              </a:ln>
              <a:effectLst/>
            </c:spPr>
          </c:marker>
          <c:cat>
            <c:multiLvlStrRef>
              <c:f>Sheet1!$A$2:$A$38</c:f>
              <c:multiLvlStrCache>
                <c:ptCount val="37"/>
                <c:lvl>
                  <c:pt idx="0">
                    <c:v>0</c:v>
                  </c:pt>
                  <c:pt idx="1">
                    <c:v/>
                  </c:pt>
                  <c:pt idx="2">
                    <c:v/>
                  </c:pt>
                  <c:pt idx="3">
                    <c:v/>
                  </c:pt>
                  <c:pt idx="4">
                    <c:v/>
                  </c:pt>
                  <c:pt idx="5">
                    <c:v/>
                  </c:pt>
                  <c:pt idx="6">
                    <c:v>6</c:v>
                  </c:pt>
                  <c:pt idx="7">
                    <c:v/>
                  </c:pt>
                  <c:pt idx="8">
                    <c:v/>
                  </c:pt>
                  <c:pt idx="9">
                    <c:v/>
                  </c:pt>
                  <c:pt idx="10">
                    <c:v/>
                  </c:pt>
                  <c:pt idx="11">
                    <c:v/>
                  </c:pt>
                  <c:pt idx="12">
                    <c:v>12</c:v>
                  </c:pt>
                  <c:pt idx="13">
                    <c:v/>
                  </c:pt>
                  <c:pt idx="14">
                    <c:v/>
                  </c:pt>
                  <c:pt idx="15">
                    <c:v/>
                  </c:pt>
                  <c:pt idx="16">
                    <c:v/>
                  </c:pt>
                  <c:pt idx="17">
                    <c:v/>
                  </c:pt>
                  <c:pt idx="18">
                    <c:v>18</c:v>
                  </c:pt>
                  <c:pt idx="19">
                    <c:v/>
                  </c:pt>
                  <c:pt idx="20">
                    <c:v/>
                  </c:pt>
                  <c:pt idx="21">
                    <c:v/>
                  </c:pt>
                  <c:pt idx="22">
                    <c:v/>
                  </c:pt>
                  <c:pt idx="23">
                    <c:v/>
                  </c:pt>
                  <c:pt idx="24">
                    <c:v>24</c:v>
                  </c:pt>
                  <c:pt idx="25">
                    <c:v/>
                  </c:pt>
                  <c:pt idx="26">
                    <c:v/>
                  </c:pt>
                  <c:pt idx="27">
                    <c:v/>
                  </c:pt>
                  <c:pt idx="28">
                    <c:v/>
                  </c:pt>
                  <c:pt idx="29">
                    <c:v/>
                  </c:pt>
                  <c:pt idx="30">
                    <c:v>30</c:v>
                  </c:pt>
                  <c:pt idx="31">
                    <c:v/>
                  </c:pt>
                  <c:pt idx="32">
                    <c:v/>
                  </c:pt>
                  <c:pt idx="33">
                    <c:v/>
                  </c:pt>
                  <c:pt idx="34">
                    <c:v/>
                  </c:pt>
                  <c:pt idx="35">
                    <c:v/>
                  </c:pt>
                  <c:pt idx="36">
                    <c:v>36</c:v>
                  </c:pt>
                </c:lvl>
              </c:multiLvlStrCache>
            </c:multiLvlStrRef>
          </c:cat>
          <c:val>
            <c:numRef>
              <c:f>Sheet1!$B$2:$B$38</c:f>
              <c:numCache>
                <c:formatCode>General</c:formatCode>
                <c:ptCount val="37"/>
                <c:pt idx="0">
                  <c:v>-900</c:v>
                </c:pt>
                <c:pt idx="1">
                  <c:v>-1056</c:v>
                </c:pt>
                <c:pt idx="2">
                  <c:v>-1214</c:v>
                </c:pt>
                <c:pt idx="3">
                  <c:v>-1290</c:v>
                </c:pt>
                <c:pt idx="4">
                  <c:v>-1348</c:v>
                </c:pt>
                <c:pt idx="5">
                  <c:v>-1389</c:v>
                </c:pt>
                <c:pt idx="6">
                  <c:v>-1412</c:v>
                </c:pt>
                <c:pt idx="7">
                  <c:v>-1432</c:v>
                </c:pt>
                <c:pt idx="8">
                  <c:v>-1435</c:v>
                </c:pt>
                <c:pt idx="9">
                  <c:v>-1420</c:v>
                </c:pt>
                <c:pt idx="10">
                  <c:v>-1403</c:v>
                </c:pt>
                <c:pt idx="11">
                  <c:v>-1369</c:v>
                </c:pt>
                <c:pt idx="12">
                  <c:v>-1316</c:v>
                </c:pt>
                <c:pt idx="13">
                  <c:v>-1242</c:v>
                </c:pt>
                <c:pt idx="14">
                  <c:v>-1152</c:v>
                </c:pt>
                <c:pt idx="15">
                  <c:v>-1061</c:v>
                </c:pt>
                <c:pt idx="16">
                  <c:v>-971</c:v>
                </c:pt>
                <c:pt idx="17">
                  <c:v>-880</c:v>
                </c:pt>
                <c:pt idx="18">
                  <c:v>-790</c:v>
                </c:pt>
                <c:pt idx="19">
                  <c:v>-699</c:v>
                </c:pt>
                <c:pt idx="20">
                  <c:v>-609</c:v>
                </c:pt>
                <c:pt idx="21">
                  <c:v>-518</c:v>
                </c:pt>
                <c:pt idx="22">
                  <c:v>-428</c:v>
                </c:pt>
                <c:pt idx="23">
                  <c:v>-337</c:v>
                </c:pt>
                <c:pt idx="24">
                  <c:v>-247</c:v>
                </c:pt>
                <c:pt idx="25">
                  <c:v>-158</c:v>
                </c:pt>
                <c:pt idx="26">
                  <c:v>-69</c:v>
                </c:pt>
                <c:pt idx="27">
                  <c:v>33</c:v>
                </c:pt>
                <c:pt idx="28">
                  <c:v>135</c:v>
                </c:pt>
                <c:pt idx="29">
                  <c:v>237</c:v>
                </c:pt>
                <c:pt idx="30">
                  <c:v>339</c:v>
                </c:pt>
                <c:pt idx="31">
                  <c:v>441</c:v>
                </c:pt>
                <c:pt idx="32">
                  <c:v>542</c:v>
                </c:pt>
                <c:pt idx="33">
                  <c:v>644</c:v>
                </c:pt>
                <c:pt idx="34">
                  <c:v>746</c:v>
                </c:pt>
                <c:pt idx="35">
                  <c:v>848</c:v>
                </c:pt>
                <c:pt idx="36">
                  <c:v>950</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9AA3B2"/>
            </a:solidFill>
            <a:prstDash val="solid"/>
            <a:round/>
          </a:ln>
        </c:spPr>
        <c:txPr>
          <a:bodyPr/>
          <a:lstStyle/>
          <a:p>
            <a:pPr>
              <a:defRPr sz="1000" b="0" i="0" u="none" strike="noStrike">
                <a:solidFill>
                  <a:srgbClr val="5B6472"/>
                </a:solidFill>
                <a:latin typeface="Meiryo UI"/>
              </a:defRPr>
            </a:pPr>
            <a:endParaRPr lang="en-US"/>
          </a:p>
        </c:txPr>
        <c:crossAx val="2094734552"/>
        <c:crosses val="autoZero"/>
        <c:auto val="1"/>
        <c:lblAlgn val="ctr"/>
        <c:noMultiLvlLbl val="1"/>
      </c:catAx>
      <c:valAx>
        <c:axId val="2094734552"/>
        <c:scaling>
          <c:orientation val="minMax"/>
          <c:max val="1200"/>
          <c:min val="-1600"/>
        </c:scaling>
        <c:delete val="0"/>
        <c:axPos val="l"/>
        <c:majorGridlines>
          <c:spPr>
            <a:ln w="9525" cap="flat">
              <a:solidFill>
                <a:srgbClr val="E3E7EE"/>
              </a:solidFill>
              <a:prstDash val="solid"/>
              <a:round/>
            </a:ln>
          </c:spPr>
        </c:majorGridlines>
        <c:numFmt formatCode="#,##0" sourceLinked="0"/>
        <c:majorTickMark val="out"/>
        <c:minorTickMark val="none"/>
        <c:tickLblPos val="nextTo"/>
        <c:spPr>
          <a:ln w="12700" cap="flat">
            <a:noFill/>
            <a:prstDash val="solid"/>
            <a:round/>
          </a:ln>
        </c:spPr>
        <c:txPr>
          <a:bodyPr/>
          <a:lstStyle/>
          <a:p>
            <a:pPr>
              <a:defRPr sz="1000" b="0" i="0" u="none" strike="noStrike">
                <a:solidFill>
                  <a:srgbClr val="5B6472"/>
                </a:solidFill>
                <a:latin typeface="Meiryo UI"/>
              </a:defRPr>
            </a:pPr>
            <a:endParaRPr lang="en-US"/>
          </a:p>
        </c:txPr>
        <c:crossAx val="2094734554"/>
        <c:crosses val="autoZero"/>
        <c:crossBetween val="between"/>
        <c:majorUnit val="400"/>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本日は「全国にトータルサポートを。」というテーマで、クロスボーダーキャリアパスの候補生として、これから取り組みたいことをお話しします。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2019年に奈良津1組で入社し、放課後等デイサービスの現場を経験しました。2024年に愛媛県今治市の日吉へ、2026年9月からは西条へ異動し、管理者兼エリアマネージャーとして愛媛エリアを担っています。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つ目のきっかけは保護者の声です。異動先ではさまざまな困難もありましたが、愛媛の地にもキャレオス、夢門塾はあり、利用者の居場所として確立していました。そんな中、高校生になる利用者の保護者から「ゆうゆうを卒業したあとがとても不安」「愛媛にキャレオスの就労があったらとっても安心する」という言葉をいただきました。嬉しい一方で、胸の痛む言葉でし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二つ目は、サービス支給量の決定基準の制定です。支給日数の上限が手帳や個別サポートの有無で決まるようになり、「お留守番ができるのか」「行き場が見つからない」「放デイ利用中を理由に児童クラブを断られた」といった不安の声が聞かれました。キャレオスには放課後児童クラブの委託事業があり、愛媛でも受け皿になれるのではと考えまし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三つ目は、愛媛でナンバーワンになるためです。愛媛には、児童から就労、介護まで多数展開する法人があります。総量規制や人口減少の中で選ばれ続けるには、同等以上のトータルサポートを、地域に根差して提供する必要があり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クロスボーダーで関わりたいのは、第三管理部の事業開発課・地域共創係と、マーケティング課・トータルサポート推進係です。地域共創係では新規事業の立ち上げ方と、自治体・地域企業・学校と関係を築く動き方を。推進係では、トータルサポートの全体像と事業部のつなぎ方、放デイから就労へ切れ目なくつなぐ導線づくりを学びたいと考えて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具体的な第一歩は、愛媛での就労継続支援B型です。B型の平均工賃は全国で約2万4千円、愛媛で約2万3千円。作業の主流は企業からの軽作業で、3分の2の事業所が取り組んでいます。立ち上げ期は軽作業で仕事を確保し、施設外就労や自主製品で工賃を上げる。放デイ卒業生に合わせ、ITや接客など一般就労につながる作業も用意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西条市で定員20名の事業所を開設した場合の試算です。標準シナリオでは1日18人の利用で、6か月目に単月黒字、27か月目に初期投資を回収し、3年目の営業利益は約1,140万円です。黒字ラインは1日11人前後。放デイ卒業生の受け皿になれるかが集客の土台です。工賃が愛媛平均に届けば、さらに年間約100万円上乗せでき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こからは、まだ妄想の域を出ない仮構想です。まず愛媛で、B型を第一歩に、放デイ・児童クラブ・就労をつなぐトータルサポートの形をつくります。次に四国支社として四国全域へ。インドネシアの特定技能などの人材も含めて考えています。そして関西支社、中部支社と、全国へ。まだキャレオスにいない人材、ポジションだからこそ、確立させることに価値があると考えて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全国にトータルサポートを届ける。その始まりを、愛媛で実践する人材になります。ご清聴ありがとうございました。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image" Target="../media/image-7-1.png"/><Relationship Id="rId3" Type="http://schemas.openxmlformats.org/officeDocument/2006/relationships/image" Target="../media/image-7-2.png"/><Relationship Id="rId4" Type="http://schemas.openxmlformats.org/officeDocument/2006/relationships/image" Target="../media/image-7-3.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522415" y="2926080"/>
            <a:ext cx="9144000" cy="9144000"/>
          </a:xfrm>
          <a:prstGeom prst="blockArc">
            <a:avLst>
              <a:gd name="adj1" fmla="val 10800000"/>
              <a:gd name="adj2" fmla="val 16200000"/>
              <a:gd name="adj3" fmla="val 3000"/>
            </a:avLst>
          </a:prstGeom>
          <a:solidFill>
            <a:srgbClr val="E8505B"/>
          </a:solidFill>
          <a:ln w="6350">
            <a:solidFill>
              <a:srgbClr val="E8505B"/>
            </a:solidFill>
            <a:prstDash val="solid"/>
          </a:ln>
        </p:spPr>
      </p:sp>
      <p:sp>
        <p:nvSpPr>
          <p:cNvPr id="3" name="Shape 1"/>
          <p:cNvSpPr/>
          <p:nvPr/>
        </p:nvSpPr>
        <p:spPr>
          <a:xfrm>
            <a:off x="6943039" y="3346704"/>
            <a:ext cx="8302752" cy="8302752"/>
          </a:xfrm>
          <a:prstGeom prst="blockArc">
            <a:avLst>
              <a:gd name="adj1" fmla="val 10800000"/>
              <a:gd name="adj2" fmla="val 16200000"/>
              <a:gd name="adj3" fmla="val 3304"/>
            </a:avLst>
          </a:prstGeom>
          <a:solidFill>
            <a:srgbClr val="F39C33"/>
          </a:solidFill>
          <a:ln w="6350">
            <a:solidFill>
              <a:srgbClr val="F39C33"/>
            </a:solidFill>
            <a:prstDash val="solid"/>
          </a:ln>
        </p:spPr>
      </p:sp>
      <p:sp>
        <p:nvSpPr>
          <p:cNvPr id="4" name="Shape 2"/>
          <p:cNvSpPr/>
          <p:nvPr/>
        </p:nvSpPr>
        <p:spPr>
          <a:xfrm>
            <a:off x="7363663" y="3767328"/>
            <a:ext cx="7461504" cy="7461504"/>
          </a:xfrm>
          <a:prstGeom prst="blockArc">
            <a:avLst>
              <a:gd name="adj1" fmla="val 10800000"/>
              <a:gd name="adj2" fmla="val 16200000"/>
              <a:gd name="adj3" fmla="val 3676"/>
            </a:avLst>
          </a:prstGeom>
          <a:solidFill>
            <a:srgbClr val="F2C230"/>
          </a:solidFill>
          <a:ln w="6350">
            <a:solidFill>
              <a:srgbClr val="F2C230"/>
            </a:solidFill>
            <a:prstDash val="solid"/>
          </a:ln>
        </p:spPr>
      </p:sp>
      <p:sp>
        <p:nvSpPr>
          <p:cNvPr id="5" name="Shape 3"/>
          <p:cNvSpPr/>
          <p:nvPr/>
        </p:nvSpPr>
        <p:spPr>
          <a:xfrm>
            <a:off x="7784287" y="4187952"/>
            <a:ext cx="6620256" cy="6620256"/>
          </a:xfrm>
          <a:prstGeom prst="blockArc">
            <a:avLst>
              <a:gd name="adj1" fmla="val 10800000"/>
              <a:gd name="adj2" fmla="val 16200000"/>
              <a:gd name="adj3" fmla="val 4144"/>
            </a:avLst>
          </a:prstGeom>
          <a:solidFill>
            <a:srgbClr val="5DBB63"/>
          </a:solidFill>
          <a:ln w="6350">
            <a:solidFill>
              <a:srgbClr val="5DBB63"/>
            </a:solidFill>
            <a:prstDash val="solid"/>
          </a:ln>
        </p:spPr>
      </p:sp>
      <p:sp>
        <p:nvSpPr>
          <p:cNvPr id="6" name="Shape 4"/>
          <p:cNvSpPr/>
          <p:nvPr/>
        </p:nvSpPr>
        <p:spPr>
          <a:xfrm>
            <a:off x="8204911" y="4608576"/>
            <a:ext cx="5779008" cy="5779008"/>
          </a:xfrm>
          <a:prstGeom prst="blockArc">
            <a:avLst>
              <a:gd name="adj1" fmla="val 10800000"/>
              <a:gd name="adj2" fmla="val 16200000"/>
              <a:gd name="adj3" fmla="val 4747"/>
            </a:avLst>
          </a:prstGeom>
          <a:solidFill>
            <a:srgbClr val="3FA7D6"/>
          </a:solidFill>
          <a:ln w="6350">
            <a:solidFill>
              <a:srgbClr val="3FA7D6"/>
            </a:solidFill>
            <a:prstDash val="solid"/>
          </a:ln>
        </p:spPr>
      </p:sp>
      <p:sp>
        <p:nvSpPr>
          <p:cNvPr id="7" name="Shape 5"/>
          <p:cNvSpPr/>
          <p:nvPr/>
        </p:nvSpPr>
        <p:spPr>
          <a:xfrm>
            <a:off x="8625535" y="5029200"/>
            <a:ext cx="4937760" cy="4937760"/>
          </a:xfrm>
          <a:prstGeom prst="blockArc">
            <a:avLst>
              <a:gd name="adj1" fmla="val 10800000"/>
              <a:gd name="adj2" fmla="val 16200000"/>
              <a:gd name="adj3" fmla="val 5556"/>
            </a:avLst>
          </a:prstGeom>
          <a:solidFill>
            <a:srgbClr val="4A6FC7"/>
          </a:solidFill>
          <a:ln w="6350">
            <a:solidFill>
              <a:srgbClr val="4A6FC7"/>
            </a:solidFill>
            <a:prstDash val="solid"/>
          </a:ln>
        </p:spPr>
      </p:sp>
      <p:sp>
        <p:nvSpPr>
          <p:cNvPr id="8" name="Shape 6"/>
          <p:cNvSpPr/>
          <p:nvPr/>
        </p:nvSpPr>
        <p:spPr>
          <a:xfrm>
            <a:off x="9046159" y="5449824"/>
            <a:ext cx="4096512" cy="4096512"/>
          </a:xfrm>
          <a:prstGeom prst="blockArc">
            <a:avLst>
              <a:gd name="adj1" fmla="val 10800000"/>
              <a:gd name="adj2" fmla="val 16200000"/>
              <a:gd name="adj3" fmla="val 6696"/>
            </a:avLst>
          </a:prstGeom>
          <a:solidFill>
            <a:srgbClr val="9A6BC4"/>
          </a:solidFill>
          <a:ln w="6350">
            <a:solidFill>
              <a:srgbClr val="9A6BC4"/>
            </a:solidFill>
            <a:prstDash val="solid"/>
          </a:ln>
        </p:spPr>
      </p:sp>
      <p:sp>
        <p:nvSpPr>
          <p:cNvPr id="9" name="Shape 7"/>
          <p:cNvSpPr/>
          <p:nvPr/>
        </p:nvSpPr>
        <p:spPr>
          <a:xfrm>
            <a:off x="822960" y="1572768"/>
            <a:ext cx="118872" cy="118872"/>
          </a:xfrm>
          <a:prstGeom prst="ellipse">
            <a:avLst/>
          </a:prstGeom>
          <a:solidFill>
            <a:srgbClr val="E8505B"/>
          </a:solidFill>
          <a:ln w="6350">
            <a:solidFill>
              <a:srgbClr val="E8505B"/>
            </a:solidFill>
            <a:prstDash val="solid"/>
          </a:ln>
        </p:spPr>
      </p:sp>
      <p:sp>
        <p:nvSpPr>
          <p:cNvPr id="10" name="Shape 8"/>
          <p:cNvSpPr/>
          <p:nvPr/>
        </p:nvSpPr>
        <p:spPr>
          <a:xfrm>
            <a:off x="1014984" y="1572768"/>
            <a:ext cx="118872" cy="118872"/>
          </a:xfrm>
          <a:prstGeom prst="ellipse">
            <a:avLst/>
          </a:prstGeom>
          <a:solidFill>
            <a:srgbClr val="F39C33"/>
          </a:solidFill>
          <a:ln w="6350">
            <a:solidFill>
              <a:srgbClr val="F39C33"/>
            </a:solidFill>
            <a:prstDash val="solid"/>
          </a:ln>
        </p:spPr>
      </p:sp>
      <p:sp>
        <p:nvSpPr>
          <p:cNvPr id="11" name="Shape 9"/>
          <p:cNvSpPr/>
          <p:nvPr/>
        </p:nvSpPr>
        <p:spPr>
          <a:xfrm>
            <a:off x="1207008" y="1572768"/>
            <a:ext cx="118872" cy="118872"/>
          </a:xfrm>
          <a:prstGeom prst="ellipse">
            <a:avLst/>
          </a:prstGeom>
          <a:solidFill>
            <a:srgbClr val="F2C230"/>
          </a:solidFill>
          <a:ln w="6350">
            <a:solidFill>
              <a:srgbClr val="F2C230"/>
            </a:solidFill>
            <a:prstDash val="solid"/>
          </a:ln>
        </p:spPr>
      </p:sp>
      <p:sp>
        <p:nvSpPr>
          <p:cNvPr id="12" name="Shape 10"/>
          <p:cNvSpPr/>
          <p:nvPr/>
        </p:nvSpPr>
        <p:spPr>
          <a:xfrm>
            <a:off x="1399032" y="1572768"/>
            <a:ext cx="118872" cy="118872"/>
          </a:xfrm>
          <a:prstGeom prst="ellipse">
            <a:avLst/>
          </a:prstGeom>
          <a:solidFill>
            <a:srgbClr val="5DBB63"/>
          </a:solidFill>
          <a:ln w="6350">
            <a:solidFill>
              <a:srgbClr val="5DBB63"/>
            </a:solidFill>
            <a:prstDash val="solid"/>
          </a:ln>
        </p:spPr>
      </p:sp>
      <p:sp>
        <p:nvSpPr>
          <p:cNvPr id="13" name="Shape 11"/>
          <p:cNvSpPr/>
          <p:nvPr/>
        </p:nvSpPr>
        <p:spPr>
          <a:xfrm>
            <a:off x="1591056" y="1572768"/>
            <a:ext cx="118872" cy="118872"/>
          </a:xfrm>
          <a:prstGeom prst="ellipse">
            <a:avLst/>
          </a:prstGeom>
          <a:solidFill>
            <a:srgbClr val="3FA7D6"/>
          </a:solidFill>
          <a:ln w="6350">
            <a:solidFill>
              <a:srgbClr val="3FA7D6"/>
            </a:solidFill>
            <a:prstDash val="solid"/>
          </a:ln>
        </p:spPr>
      </p:sp>
      <p:sp>
        <p:nvSpPr>
          <p:cNvPr id="14" name="Shape 12"/>
          <p:cNvSpPr/>
          <p:nvPr/>
        </p:nvSpPr>
        <p:spPr>
          <a:xfrm>
            <a:off x="1783080" y="1572768"/>
            <a:ext cx="118872" cy="118872"/>
          </a:xfrm>
          <a:prstGeom prst="ellipse">
            <a:avLst/>
          </a:prstGeom>
          <a:solidFill>
            <a:srgbClr val="4A6FC7"/>
          </a:solidFill>
          <a:ln w="6350">
            <a:solidFill>
              <a:srgbClr val="4A6FC7"/>
            </a:solidFill>
            <a:prstDash val="solid"/>
          </a:ln>
        </p:spPr>
      </p:sp>
      <p:sp>
        <p:nvSpPr>
          <p:cNvPr id="15" name="Shape 13"/>
          <p:cNvSpPr/>
          <p:nvPr/>
        </p:nvSpPr>
        <p:spPr>
          <a:xfrm>
            <a:off x="1975104" y="1572768"/>
            <a:ext cx="118872" cy="118872"/>
          </a:xfrm>
          <a:prstGeom prst="ellipse">
            <a:avLst/>
          </a:prstGeom>
          <a:solidFill>
            <a:srgbClr val="9A6BC4"/>
          </a:solidFill>
          <a:ln w="6350">
            <a:solidFill>
              <a:srgbClr val="9A6BC4"/>
            </a:solidFill>
            <a:prstDash val="solid"/>
          </a:ln>
        </p:spPr>
      </p:sp>
      <p:sp>
        <p:nvSpPr>
          <p:cNvPr id="16" name="Text 14"/>
          <p:cNvSpPr txBox="1"/>
          <p:nvPr/>
        </p:nvSpPr>
        <p:spPr>
          <a:xfrm>
            <a:off x="822960" y="1828800"/>
            <a:ext cx="6858000" cy="365760"/>
          </a:xfrm>
          <a:prstGeom prst="rect">
            <a:avLst/>
          </a:prstGeom>
          <a:noFill/>
          <a:ln/>
        </p:spPr>
        <p:txBody>
          <a:bodyPr wrap="square" lIns="0" tIns="0" rIns="0" bIns="0" rtlCol="0" anchor="t"/>
          <a:lstStyle/>
          <a:p>
            <a:pPr indent="0" marL="0">
              <a:lnSpc>
                <a:spcPts val="2080"/>
              </a:lnSpc>
              <a:buNone/>
            </a:pPr>
            <a:r>
              <a:rPr lang="en-US" sz="1600" dirty="0">
                <a:solidFill>
                  <a:srgbClr val="5B6472"/>
                </a:solidFill>
                <a:latin typeface="Meiryo UI" pitchFamily="34" charset="0"/>
                <a:ea typeface="Meiryo UI" pitchFamily="34" charset="-122"/>
                <a:cs typeface="Meiryo UI" pitchFamily="34" charset="-120"/>
              </a:rPr>
              <a:t>クロスボーダーキャリアパス　候補生発表</a:t>
            </a:r>
            <a:endParaRPr lang="en-US" sz="1600" dirty="0"/>
          </a:p>
        </p:txBody>
      </p:sp>
      <p:sp>
        <p:nvSpPr>
          <p:cNvPr id="17" name="Text 15"/>
          <p:cNvSpPr txBox="1"/>
          <p:nvPr/>
        </p:nvSpPr>
        <p:spPr>
          <a:xfrm>
            <a:off x="822960" y="2286000"/>
            <a:ext cx="7132320" cy="1645920"/>
          </a:xfrm>
          <a:prstGeom prst="rect">
            <a:avLst/>
          </a:prstGeom>
          <a:noFill/>
          <a:ln/>
        </p:spPr>
        <p:txBody>
          <a:bodyPr wrap="square" lIns="0" tIns="0" rIns="0" bIns="0" rtlCol="0" anchor="t"/>
          <a:lstStyle/>
          <a:p>
            <a:pPr indent="0" marL="0">
              <a:lnSpc>
                <a:spcPts val="6000"/>
              </a:lnSpc>
              <a:buNone/>
            </a:pPr>
            <a:r>
              <a:rPr lang="en-US" sz="4800" b="1" dirty="0">
                <a:solidFill>
                  <a:srgbClr val="2E3440"/>
                </a:solidFill>
                <a:latin typeface="Meiryo UI" pitchFamily="34" charset="0"/>
                <a:ea typeface="Meiryo UI" pitchFamily="34" charset="-122"/>
                <a:cs typeface="Meiryo UI" pitchFamily="34" charset="-120"/>
              </a:rPr>
              <a:t>全国に</a:t>
            </a:r>
            <a:endParaRPr lang="en-US" sz="4800" dirty="0"/>
          </a:p>
          <a:p>
            <a:pPr indent="0" marL="0">
              <a:lnSpc>
                <a:spcPts val="6000"/>
              </a:lnSpc>
              <a:buNone/>
            </a:pPr>
            <a:r>
              <a:rPr lang="en-US" sz="4800" b="1" dirty="0">
                <a:solidFill>
                  <a:srgbClr val="2E3440"/>
                </a:solidFill>
                <a:latin typeface="Meiryo UI" pitchFamily="34" charset="0"/>
                <a:ea typeface="Meiryo UI" pitchFamily="34" charset="-122"/>
                <a:cs typeface="Meiryo UI" pitchFamily="34" charset="-120"/>
              </a:rPr>
              <a:t>トータルサポートを。</a:t>
            </a:r>
            <a:endParaRPr lang="en-US" sz="4800" dirty="0"/>
          </a:p>
        </p:txBody>
      </p:sp>
      <p:sp>
        <p:nvSpPr>
          <p:cNvPr id="18" name="Text 16"/>
          <p:cNvSpPr txBox="1"/>
          <p:nvPr/>
        </p:nvSpPr>
        <p:spPr>
          <a:xfrm>
            <a:off x="822960" y="4069080"/>
            <a:ext cx="6400800" cy="457200"/>
          </a:xfrm>
          <a:prstGeom prst="rect">
            <a:avLst/>
          </a:prstGeom>
          <a:noFill/>
          <a:ln/>
        </p:spPr>
        <p:txBody>
          <a:bodyPr wrap="square" lIns="0" tIns="0" rIns="0" bIns="0" rtlCol="0" anchor="t"/>
          <a:lstStyle/>
          <a:p>
            <a:pPr indent="0" marL="0">
              <a:lnSpc>
                <a:spcPts val="2860"/>
              </a:lnSpc>
              <a:buNone/>
            </a:pPr>
            <a:r>
              <a:rPr lang="en-US" sz="2200" b="1" dirty="0">
                <a:solidFill>
                  <a:srgbClr val="3A5BB8"/>
                </a:solidFill>
                <a:latin typeface="Meiryo UI" pitchFamily="34" charset="0"/>
                <a:ea typeface="Meiryo UI" pitchFamily="34" charset="-122"/>
                <a:cs typeface="Meiryo UI" pitchFamily="34" charset="-120"/>
              </a:rPr>
              <a:t>その始まりを、愛媛から。</a:t>
            </a:r>
            <a:endParaRPr lang="en-US" sz="2200" dirty="0"/>
          </a:p>
        </p:txBody>
      </p:sp>
      <p:sp>
        <p:nvSpPr>
          <p:cNvPr id="19" name="Text 17"/>
          <p:cNvSpPr txBox="1"/>
          <p:nvPr/>
        </p:nvSpPr>
        <p:spPr>
          <a:xfrm>
            <a:off x="822960" y="4846320"/>
            <a:ext cx="6400800" cy="731520"/>
          </a:xfrm>
          <a:prstGeom prst="rect">
            <a:avLst/>
          </a:prstGeom>
          <a:noFill/>
          <a:ln/>
        </p:spPr>
        <p:txBody>
          <a:bodyPr wrap="square" lIns="0" tIns="0" rIns="0" bIns="0" rtlCol="0" anchor="t"/>
          <a:lstStyle/>
          <a:p>
            <a:pPr indent="0" marL="0">
              <a:lnSpc>
                <a:spcPts val="2100"/>
              </a:lnSpc>
              <a:buNone/>
            </a:pPr>
            <a:r>
              <a:rPr lang="en-US" sz="1400" dirty="0">
                <a:solidFill>
                  <a:srgbClr val="5B6472"/>
                </a:solidFill>
                <a:latin typeface="Meiryo UI" pitchFamily="34" charset="0"/>
                <a:ea typeface="Meiryo UI" pitchFamily="34" charset="-122"/>
                <a:cs typeface="Meiryo UI" pitchFamily="34" charset="-120"/>
              </a:rPr>
              <a:t>放課後等デイサービス　管理者 兼 エリアマネージャー</a:t>
            </a:r>
            <a:endParaRPr lang="en-US" sz="1400" dirty="0"/>
          </a:p>
          <a:p>
            <a:pPr indent="0" marL="0">
              <a:lnSpc>
                <a:spcPts val="2100"/>
              </a:lnSpc>
              <a:buNone/>
            </a:pPr>
            <a:r>
              <a:rPr lang="en-US" sz="1400" dirty="0">
                <a:solidFill>
                  <a:srgbClr val="5B6472"/>
                </a:solidFill>
                <a:latin typeface="Meiryo UI" pitchFamily="34" charset="0"/>
                <a:ea typeface="Meiryo UI" pitchFamily="34" charset="-122"/>
                <a:cs typeface="Meiryo UI" pitchFamily="34" charset="-120"/>
              </a:rPr>
              <a:t>夢門塾ゆうゆう西条</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118872" cy="118872"/>
          </a:xfrm>
          <a:prstGeom prst="ellipse">
            <a:avLst/>
          </a:prstGeom>
          <a:solidFill>
            <a:srgbClr val="E8505B"/>
          </a:solidFill>
          <a:ln w="6350">
            <a:solidFill>
              <a:srgbClr val="E8505B"/>
            </a:solidFill>
            <a:prstDash val="solid"/>
          </a:ln>
        </p:spPr>
      </p:sp>
      <p:sp>
        <p:nvSpPr>
          <p:cNvPr id="3" name="Shape 1"/>
          <p:cNvSpPr/>
          <p:nvPr/>
        </p:nvSpPr>
        <p:spPr>
          <a:xfrm>
            <a:off x="740664" y="457200"/>
            <a:ext cx="118872" cy="118872"/>
          </a:xfrm>
          <a:prstGeom prst="ellipse">
            <a:avLst/>
          </a:prstGeom>
          <a:solidFill>
            <a:srgbClr val="F39C33"/>
          </a:solidFill>
          <a:ln w="6350">
            <a:solidFill>
              <a:srgbClr val="F39C33"/>
            </a:solidFill>
            <a:prstDash val="solid"/>
          </a:ln>
        </p:spPr>
      </p:sp>
      <p:sp>
        <p:nvSpPr>
          <p:cNvPr id="4" name="Shape 2"/>
          <p:cNvSpPr/>
          <p:nvPr/>
        </p:nvSpPr>
        <p:spPr>
          <a:xfrm>
            <a:off x="932688" y="457200"/>
            <a:ext cx="118872" cy="118872"/>
          </a:xfrm>
          <a:prstGeom prst="ellipse">
            <a:avLst/>
          </a:prstGeom>
          <a:solidFill>
            <a:srgbClr val="F2C230"/>
          </a:solidFill>
          <a:ln w="6350">
            <a:solidFill>
              <a:srgbClr val="F2C230"/>
            </a:solidFill>
            <a:prstDash val="solid"/>
          </a:ln>
        </p:spPr>
      </p:sp>
      <p:sp>
        <p:nvSpPr>
          <p:cNvPr id="5" name="Shape 3"/>
          <p:cNvSpPr/>
          <p:nvPr/>
        </p:nvSpPr>
        <p:spPr>
          <a:xfrm>
            <a:off x="1124712" y="457200"/>
            <a:ext cx="118872" cy="118872"/>
          </a:xfrm>
          <a:prstGeom prst="ellipse">
            <a:avLst/>
          </a:prstGeom>
          <a:solidFill>
            <a:srgbClr val="5DBB63"/>
          </a:solidFill>
          <a:ln w="6350">
            <a:solidFill>
              <a:srgbClr val="5DBB63"/>
            </a:solidFill>
            <a:prstDash val="solid"/>
          </a:ln>
        </p:spPr>
      </p:sp>
      <p:sp>
        <p:nvSpPr>
          <p:cNvPr id="6" name="Shape 4"/>
          <p:cNvSpPr/>
          <p:nvPr/>
        </p:nvSpPr>
        <p:spPr>
          <a:xfrm>
            <a:off x="1316736" y="457200"/>
            <a:ext cx="118872" cy="118872"/>
          </a:xfrm>
          <a:prstGeom prst="ellipse">
            <a:avLst/>
          </a:prstGeom>
          <a:solidFill>
            <a:srgbClr val="3FA7D6"/>
          </a:solidFill>
          <a:ln w="6350">
            <a:solidFill>
              <a:srgbClr val="3FA7D6"/>
            </a:solidFill>
            <a:prstDash val="solid"/>
          </a:ln>
        </p:spPr>
      </p:sp>
      <p:sp>
        <p:nvSpPr>
          <p:cNvPr id="7" name="Shape 5"/>
          <p:cNvSpPr/>
          <p:nvPr/>
        </p:nvSpPr>
        <p:spPr>
          <a:xfrm>
            <a:off x="1508760" y="457200"/>
            <a:ext cx="118872" cy="118872"/>
          </a:xfrm>
          <a:prstGeom prst="ellipse">
            <a:avLst/>
          </a:prstGeom>
          <a:solidFill>
            <a:srgbClr val="4A6FC7"/>
          </a:solidFill>
          <a:ln w="6350">
            <a:solidFill>
              <a:srgbClr val="4A6FC7"/>
            </a:solidFill>
            <a:prstDash val="solid"/>
          </a:ln>
        </p:spPr>
      </p:sp>
      <p:sp>
        <p:nvSpPr>
          <p:cNvPr id="8" name="Shape 6"/>
          <p:cNvSpPr/>
          <p:nvPr/>
        </p:nvSpPr>
        <p:spPr>
          <a:xfrm>
            <a:off x="1700784" y="457200"/>
            <a:ext cx="118872" cy="118872"/>
          </a:xfrm>
          <a:prstGeom prst="ellipse">
            <a:avLst/>
          </a:prstGeom>
          <a:solidFill>
            <a:srgbClr val="9A6BC4"/>
          </a:solidFill>
          <a:ln w="6350">
            <a:solidFill>
              <a:srgbClr val="9A6BC4"/>
            </a:solidFill>
            <a:prstDash val="solid"/>
          </a:ln>
        </p:spPr>
      </p:sp>
      <p:sp>
        <p:nvSpPr>
          <p:cNvPr id="9" name="Text 7"/>
          <p:cNvSpPr txBox="1"/>
          <p:nvPr/>
        </p:nvSpPr>
        <p:spPr>
          <a:xfrm>
            <a:off x="548640" y="676656"/>
            <a:ext cx="10424160" cy="640080"/>
          </a:xfrm>
          <a:prstGeom prst="rect">
            <a:avLst/>
          </a:prstGeom>
          <a:noFill/>
          <a:ln/>
        </p:spPr>
        <p:txBody>
          <a:bodyPr wrap="square" lIns="0" tIns="0" rIns="0" bIns="0" rtlCol="0" anchor="t"/>
          <a:lstStyle/>
          <a:p>
            <a:pPr indent="0" marL="0">
              <a:lnSpc>
                <a:spcPts val="3900"/>
              </a:lnSpc>
              <a:buNone/>
            </a:pPr>
            <a:r>
              <a:rPr lang="en-US" sz="3000" b="1" dirty="0">
                <a:solidFill>
                  <a:srgbClr val="2E3440"/>
                </a:solidFill>
                <a:latin typeface="Meiryo UI" pitchFamily="34" charset="0"/>
                <a:ea typeface="Meiryo UI" pitchFamily="34" charset="-122"/>
                <a:cs typeface="Meiryo UI" pitchFamily="34" charset="-120"/>
              </a:rPr>
              <a:t>これまでの歩み</a:t>
            </a:r>
            <a:endParaRPr lang="en-US" sz="3000" dirty="0"/>
          </a:p>
        </p:txBody>
      </p:sp>
      <p:sp>
        <p:nvSpPr>
          <p:cNvPr id="10" name="Text 8"/>
          <p:cNvSpPr txBox="1"/>
          <p:nvPr/>
        </p:nvSpPr>
        <p:spPr>
          <a:xfrm>
            <a:off x="11094415" y="6382512"/>
            <a:ext cx="548640" cy="274320"/>
          </a:xfrm>
          <a:prstGeom prst="rect">
            <a:avLst/>
          </a:prstGeom>
          <a:noFill/>
          <a:ln/>
        </p:spPr>
        <p:txBody>
          <a:bodyPr wrap="square" lIns="0" tIns="0" rIns="0" bIns="0" rtlCol="0" anchor="t"/>
          <a:lstStyle/>
          <a:p>
            <a:pPr algn="r" indent="0" marL="0">
              <a:lnSpc>
                <a:spcPts val="1430"/>
              </a:lnSpc>
              <a:buNone/>
            </a:pPr>
            <a:r>
              <a:rPr lang="en-US" sz="1100" dirty="0">
                <a:solidFill>
                  <a:srgbClr val="5B6472"/>
                </a:solidFill>
                <a:latin typeface="Meiryo UI" pitchFamily="34" charset="0"/>
                <a:ea typeface="Meiryo UI" pitchFamily="34" charset="-122"/>
                <a:cs typeface="Meiryo UI" pitchFamily="34" charset="-120"/>
              </a:rPr>
              <a:t>2</a:t>
            </a:r>
            <a:endParaRPr lang="en-US" sz="1100" dirty="0"/>
          </a:p>
        </p:txBody>
      </p:sp>
      <p:sp>
        <p:nvSpPr>
          <p:cNvPr id="11" name="Shape 9"/>
          <p:cNvSpPr/>
          <p:nvPr/>
        </p:nvSpPr>
        <p:spPr>
          <a:xfrm>
            <a:off x="548640" y="2971800"/>
            <a:ext cx="11094415" cy="0"/>
          </a:xfrm>
          <a:prstGeom prst="line">
            <a:avLst/>
          </a:prstGeom>
          <a:noFill/>
          <a:ln w="25400">
            <a:solidFill>
              <a:srgbClr val="D5DAE3"/>
            </a:solidFill>
            <a:prstDash val="solid"/>
          </a:ln>
        </p:spPr>
      </p:sp>
      <p:sp>
        <p:nvSpPr>
          <p:cNvPr id="12" name="Text 10"/>
          <p:cNvSpPr txBox="1"/>
          <p:nvPr/>
        </p:nvSpPr>
        <p:spPr>
          <a:xfrm>
            <a:off x="548640" y="1783080"/>
            <a:ext cx="3474720" cy="292608"/>
          </a:xfrm>
          <a:prstGeom prst="rect">
            <a:avLst/>
          </a:prstGeom>
          <a:noFill/>
          <a:ln/>
        </p:spPr>
        <p:txBody>
          <a:bodyPr wrap="square" lIns="0" tIns="0" rIns="0" bIns="0" rtlCol="0" anchor="t"/>
          <a:lstStyle/>
          <a:p>
            <a:pPr indent="0" marL="0">
              <a:lnSpc>
                <a:spcPts val="1690"/>
              </a:lnSpc>
              <a:buNone/>
            </a:pPr>
            <a:r>
              <a:rPr lang="en-US" sz="1300" dirty="0">
                <a:solidFill>
                  <a:srgbClr val="5B6472"/>
                </a:solidFill>
                <a:latin typeface="Meiryo UI" pitchFamily="34" charset="0"/>
                <a:ea typeface="Meiryo UI" pitchFamily="34" charset="-122"/>
                <a:cs typeface="Meiryo UI" pitchFamily="34" charset="-120"/>
              </a:rPr>
              <a:t>入社</a:t>
            </a:r>
            <a:endParaRPr lang="en-US" sz="1300" dirty="0"/>
          </a:p>
        </p:txBody>
      </p:sp>
      <p:sp>
        <p:nvSpPr>
          <p:cNvPr id="13" name="Text 11"/>
          <p:cNvSpPr txBox="1"/>
          <p:nvPr/>
        </p:nvSpPr>
        <p:spPr>
          <a:xfrm>
            <a:off x="548640" y="2075688"/>
            <a:ext cx="3474720" cy="502920"/>
          </a:xfrm>
          <a:prstGeom prst="rect">
            <a:avLst/>
          </a:prstGeom>
          <a:noFill/>
          <a:ln/>
        </p:spPr>
        <p:txBody>
          <a:bodyPr wrap="square" lIns="0" tIns="0" rIns="0" bIns="0" rtlCol="0" anchor="t"/>
          <a:lstStyle/>
          <a:p>
            <a:pPr indent="0" marL="0">
              <a:lnSpc>
                <a:spcPts val="2860"/>
              </a:lnSpc>
              <a:buNone/>
            </a:pPr>
            <a:r>
              <a:rPr lang="en-US" sz="2600" b="1" dirty="0">
                <a:solidFill>
                  <a:srgbClr val="C73B4A"/>
                </a:solidFill>
                <a:latin typeface="Meiryo UI" pitchFamily="34" charset="0"/>
                <a:ea typeface="Meiryo UI" pitchFamily="34" charset="-122"/>
                <a:cs typeface="Meiryo UI" pitchFamily="34" charset="-120"/>
              </a:rPr>
              <a:t>2019.10.28</a:t>
            </a:r>
            <a:endParaRPr lang="en-US" sz="2600" dirty="0"/>
          </a:p>
        </p:txBody>
      </p:sp>
      <p:sp>
        <p:nvSpPr>
          <p:cNvPr id="14" name="Shape 12"/>
          <p:cNvSpPr/>
          <p:nvPr/>
        </p:nvSpPr>
        <p:spPr>
          <a:xfrm>
            <a:off x="731520" y="2807208"/>
            <a:ext cx="329184" cy="329184"/>
          </a:xfrm>
          <a:prstGeom prst="ellipse">
            <a:avLst/>
          </a:prstGeom>
          <a:solidFill>
            <a:srgbClr val="E8505B"/>
          </a:solidFill>
          <a:ln w="38100">
            <a:solidFill>
              <a:srgbClr val="FFFFFF"/>
            </a:solidFill>
            <a:prstDash val="solid"/>
          </a:ln>
        </p:spPr>
      </p:sp>
      <p:sp>
        <p:nvSpPr>
          <p:cNvPr id="15" name="Shape 13"/>
          <p:cNvSpPr/>
          <p:nvPr/>
        </p:nvSpPr>
        <p:spPr>
          <a:xfrm>
            <a:off x="548640" y="3337560"/>
            <a:ext cx="3474720" cy="2286000"/>
          </a:xfrm>
          <a:prstGeom prst="roundRect">
            <a:avLst>
              <a:gd name="adj" fmla="val 5600"/>
            </a:avLst>
          </a:prstGeom>
          <a:solidFill>
            <a:srgbClr val="F3F5F9"/>
          </a:solidFill>
          <a:ln w="6350">
            <a:solidFill>
              <a:srgbClr val="F3F5F9"/>
            </a:solidFill>
            <a:prstDash val="solid"/>
          </a:ln>
        </p:spPr>
      </p:sp>
      <p:sp>
        <p:nvSpPr>
          <p:cNvPr id="16" name="Text 14"/>
          <p:cNvSpPr txBox="1"/>
          <p:nvPr/>
        </p:nvSpPr>
        <p:spPr>
          <a:xfrm>
            <a:off x="822960" y="3584448"/>
            <a:ext cx="2926080" cy="822960"/>
          </a:xfrm>
          <a:prstGeom prst="rect">
            <a:avLst/>
          </a:prstGeom>
          <a:noFill/>
          <a:ln/>
        </p:spPr>
        <p:txBody>
          <a:bodyPr wrap="square" lIns="0" tIns="0" rIns="0" bIns="0" rtlCol="0" anchor="t"/>
          <a:lstStyle/>
          <a:p>
            <a:pPr indent="0" marL="0">
              <a:lnSpc>
                <a:spcPts val="2340"/>
              </a:lnSpc>
              <a:buNone/>
            </a:pPr>
            <a:r>
              <a:rPr lang="en-US" sz="1800" b="1" dirty="0">
                <a:solidFill>
                  <a:srgbClr val="2E3440"/>
                </a:solidFill>
                <a:latin typeface="Meiryo UI" pitchFamily="34" charset="0"/>
                <a:ea typeface="Meiryo UI" pitchFamily="34" charset="-122"/>
                <a:cs typeface="Meiryo UI" pitchFamily="34" charset="-120"/>
              </a:rPr>
              <a:t>夢門塾ゆうゆう</a:t>
            </a:r>
            <a:endParaRPr lang="en-US" sz="1800" dirty="0"/>
          </a:p>
          <a:p>
            <a:pPr indent="0" marL="0">
              <a:lnSpc>
                <a:spcPts val="2340"/>
              </a:lnSpc>
              <a:buNone/>
            </a:pPr>
            <a:r>
              <a:rPr lang="en-US" sz="1800" b="1" dirty="0">
                <a:solidFill>
                  <a:srgbClr val="2E3440"/>
                </a:solidFill>
                <a:latin typeface="Meiryo UI" pitchFamily="34" charset="0"/>
                <a:ea typeface="Meiryo UI" pitchFamily="34" charset="-122"/>
                <a:cs typeface="Meiryo UI" pitchFamily="34" charset="-120"/>
              </a:rPr>
              <a:t>奈良津1組</a:t>
            </a:r>
            <a:endParaRPr lang="en-US" sz="1800" dirty="0"/>
          </a:p>
        </p:txBody>
      </p:sp>
      <p:sp>
        <p:nvSpPr>
          <p:cNvPr id="17" name="Text 15"/>
          <p:cNvSpPr txBox="1"/>
          <p:nvPr/>
        </p:nvSpPr>
        <p:spPr>
          <a:xfrm>
            <a:off x="822960" y="4553712"/>
            <a:ext cx="2926080" cy="1097280"/>
          </a:xfrm>
          <a:prstGeom prst="rect">
            <a:avLst/>
          </a:prstGeom>
          <a:noFill/>
          <a:ln/>
        </p:spPr>
        <p:txBody>
          <a:bodyPr wrap="square" lIns="0" tIns="0" rIns="0" bIns="0" rtlCol="0" anchor="t"/>
          <a:lstStyle/>
          <a:p>
            <a:pPr indent="0" marL="0">
              <a:lnSpc>
                <a:spcPts val="2030"/>
              </a:lnSpc>
              <a:buNone/>
            </a:pPr>
            <a:r>
              <a:rPr lang="en-US" sz="1400" dirty="0">
                <a:solidFill>
                  <a:srgbClr val="5B6472"/>
                </a:solidFill>
                <a:latin typeface="Meiryo UI" pitchFamily="34" charset="0"/>
                <a:ea typeface="Meiryo UI" pitchFamily="34" charset="-122"/>
                <a:cs typeface="Meiryo UI" pitchFamily="34" charset="-120"/>
              </a:rPr>
              <a:t>放課後等デイサービスの</a:t>
            </a:r>
            <a:endParaRPr lang="en-US" sz="1400" dirty="0"/>
          </a:p>
          <a:p>
            <a:pPr indent="0" marL="0">
              <a:lnSpc>
                <a:spcPts val="2030"/>
              </a:lnSpc>
              <a:buNone/>
            </a:pPr>
            <a:r>
              <a:rPr lang="en-US" sz="1400" dirty="0">
                <a:solidFill>
                  <a:srgbClr val="5B6472"/>
                </a:solidFill>
                <a:latin typeface="Meiryo UI" pitchFamily="34" charset="0"/>
                <a:ea typeface="Meiryo UI" pitchFamily="34" charset="-122"/>
                <a:cs typeface="Meiryo UI" pitchFamily="34" charset="-120"/>
              </a:rPr>
              <a:t>現場からスタート</a:t>
            </a:r>
            <a:endParaRPr lang="en-US" sz="1400" dirty="0"/>
          </a:p>
        </p:txBody>
      </p:sp>
      <p:sp>
        <p:nvSpPr>
          <p:cNvPr id="18" name="Text 16"/>
          <p:cNvSpPr txBox="1"/>
          <p:nvPr/>
        </p:nvSpPr>
        <p:spPr>
          <a:xfrm>
            <a:off x="4358488" y="1783080"/>
            <a:ext cx="3474720" cy="292608"/>
          </a:xfrm>
          <a:prstGeom prst="rect">
            <a:avLst/>
          </a:prstGeom>
          <a:noFill/>
          <a:ln/>
        </p:spPr>
        <p:txBody>
          <a:bodyPr wrap="square" lIns="0" tIns="0" rIns="0" bIns="0" rtlCol="0" anchor="t"/>
          <a:lstStyle/>
          <a:p>
            <a:pPr indent="0" marL="0">
              <a:lnSpc>
                <a:spcPts val="1690"/>
              </a:lnSpc>
              <a:buNone/>
            </a:pPr>
            <a:r>
              <a:rPr lang="en-US" sz="1300" dirty="0">
                <a:solidFill>
                  <a:srgbClr val="5B6472"/>
                </a:solidFill>
                <a:latin typeface="Meiryo UI" pitchFamily="34" charset="0"/>
                <a:ea typeface="Meiryo UI" pitchFamily="34" charset="-122"/>
                <a:cs typeface="Meiryo UI" pitchFamily="34" charset="-120"/>
              </a:rPr>
              <a:t>異動</a:t>
            </a:r>
            <a:endParaRPr lang="en-US" sz="1300" dirty="0"/>
          </a:p>
        </p:txBody>
      </p:sp>
      <p:sp>
        <p:nvSpPr>
          <p:cNvPr id="19" name="Text 17"/>
          <p:cNvSpPr txBox="1"/>
          <p:nvPr/>
        </p:nvSpPr>
        <p:spPr>
          <a:xfrm>
            <a:off x="4358488" y="2075688"/>
            <a:ext cx="3474720" cy="502920"/>
          </a:xfrm>
          <a:prstGeom prst="rect">
            <a:avLst/>
          </a:prstGeom>
          <a:noFill/>
          <a:ln/>
        </p:spPr>
        <p:txBody>
          <a:bodyPr wrap="square" lIns="0" tIns="0" rIns="0" bIns="0" rtlCol="0" anchor="t"/>
          <a:lstStyle/>
          <a:p>
            <a:pPr indent="0" marL="0">
              <a:lnSpc>
                <a:spcPts val="2860"/>
              </a:lnSpc>
              <a:buNone/>
            </a:pPr>
            <a:r>
              <a:rPr lang="en-US" sz="2600" b="1" dirty="0">
                <a:solidFill>
                  <a:srgbClr val="2F7F3A"/>
                </a:solidFill>
                <a:latin typeface="Meiryo UI" pitchFamily="34" charset="0"/>
                <a:ea typeface="Meiryo UI" pitchFamily="34" charset="-122"/>
                <a:cs typeface="Meiryo UI" pitchFamily="34" charset="-120"/>
              </a:rPr>
              <a:t>2024.4.1</a:t>
            </a:r>
            <a:endParaRPr lang="en-US" sz="2600" dirty="0"/>
          </a:p>
        </p:txBody>
      </p:sp>
      <p:sp>
        <p:nvSpPr>
          <p:cNvPr id="20" name="Shape 18"/>
          <p:cNvSpPr/>
          <p:nvPr/>
        </p:nvSpPr>
        <p:spPr>
          <a:xfrm>
            <a:off x="4541368" y="2807208"/>
            <a:ext cx="329184" cy="329184"/>
          </a:xfrm>
          <a:prstGeom prst="ellipse">
            <a:avLst/>
          </a:prstGeom>
          <a:solidFill>
            <a:srgbClr val="5DBB63"/>
          </a:solidFill>
          <a:ln w="38100">
            <a:solidFill>
              <a:srgbClr val="FFFFFF"/>
            </a:solidFill>
            <a:prstDash val="solid"/>
          </a:ln>
        </p:spPr>
      </p:sp>
      <p:sp>
        <p:nvSpPr>
          <p:cNvPr id="21" name="Shape 19"/>
          <p:cNvSpPr/>
          <p:nvPr/>
        </p:nvSpPr>
        <p:spPr>
          <a:xfrm>
            <a:off x="4358488" y="3337560"/>
            <a:ext cx="3474720" cy="2286000"/>
          </a:xfrm>
          <a:prstGeom prst="roundRect">
            <a:avLst>
              <a:gd name="adj" fmla="val 5600"/>
            </a:avLst>
          </a:prstGeom>
          <a:solidFill>
            <a:srgbClr val="F3F5F9"/>
          </a:solidFill>
          <a:ln w="6350">
            <a:solidFill>
              <a:srgbClr val="F3F5F9"/>
            </a:solidFill>
            <a:prstDash val="solid"/>
          </a:ln>
        </p:spPr>
      </p:sp>
      <p:sp>
        <p:nvSpPr>
          <p:cNvPr id="22" name="Text 20"/>
          <p:cNvSpPr txBox="1"/>
          <p:nvPr/>
        </p:nvSpPr>
        <p:spPr>
          <a:xfrm>
            <a:off x="4632808" y="3584448"/>
            <a:ext cx="2926080" cy="822960"/>
          </a:xfrm>
          <a:prstGeom prst="rect">
            <a:avLst/>
          </a:prstGeom>
          <a:noFill/>
          <a:ln/>
        </p:spPr>
        <p:txBody>
          <a:bodyPr wrap="square" lIns="0" tIns="0" rIns="0" bIns="0" rtlCol="0" anchor="t"/>
          <a:lstStyle/>
          <a:p>
            <a:pPr indent="0" marL="0">
              <a:lnSpc>
                <a:spcPts val="2340"/>
              </a:lnSpc>
              <a:buNone/>
            </a:pPr>
            <a:r>
              <a:rPr lang="en-US" sz="1800" b="1" dirty="0">
                <a:solidFill>
                  <a:srgbClr val="2E3440"/>
                </a:solidFill>
                <a:latin typeface="Meiryo UI" pitchFamily="34" charset="0"/>
                <a:ea typeface="Meiryo UI" pitchFamily="34" charset="-122"/>
                <a:cs typeface="Meiryo UI" pitchFamily="34" charset="-120"/>
              </a:rPr>
              <a:t>愛媛県今治市</a:t>
            </a:r>
            <a:endParaRPr lang="en-US" sz="1800" dirty="0"/>
          </a:p>
          <a:p>
            <a:pPr indent="0" marL="0">
              <a:lnSpc>
                <a:spcPts val="2340"/>
              </a:lnSpc>
              <a:buNone/>
            </a:pPr>
            <a:r>
              <a:rPr lang="en-US" sz="1800" b="1" dirty="0">
                <a:solidFill>
                  <a:srgbClr val="2E3440"/>
                </a:solidFill>
                <a:latin typeface="Meiryo UI" pitchFamily="34" charset="0"/>
                <a:ea typeface="Meiryo UI" pitchFamily="34" charset="-122"/>
                <a:cs typeface="Meiryo UI" pitchFamily="34" charset="-120"/>
              </a:rPr>
              <a:t>夢門塾ゆうゆう日吉</a:t>
            </a:r>
            <a:endParaRPr lang="en-US" sz="1800" dirty="0"/>
          </a:p>
        </p:txBody>
      </p:sp>
      <p:sp>
        <p:nvSpPr>
          <p:cNvPr id="23" name="Text 21"/>
          <p:cNvSpPr txBox="1"/>
          <p:nvPr/>
        </p:nvSpPr>
        <p:spPr>
          <a:xfrm>
            <a:off x="4632808" y="4553712"/>
            <a:ext cx="2926080" cy="1097280"/>
          </a:xfrm>
          <a:prstGeom prst="rect">
            <a:avLst/>
          </a:prstGeom>
          <a:noFill/>
          <a:ln/>
        </p:spPr>
        <p:txBody>
          <a:bodyPr wrap="square" lIns="0" tIns="0" rIns="0" bIns="0" rtlCol="0" anchor="t"/>
          <a:lstStyle/>
          <a:p>
            <a:pPr indent="0" marL="0">
              <a:lnSpc>
                <a:spcPts val="2030"/>
              </a:lnSpc>
              <a:buNone/>
            </a:pPr>
            <a:r>
              <a:rPr lang="en-US" sz="1400" dirty="0">
                <a:solidFill>
                  <a:srgbClr val="5B6472"/>
                </a:solidFill>
                <a:latin typeface="Meiryo UI" pitchFamily="34" charset="0"/>
                <a:ea typeface="Meiryo UI" pitchFamily="34" charset="-122"/>
                <a:cs typeface="Meiryo UI" pitchFamily="34" charset="-120"/>
              </a:rPr>
              <a:t>困難も経験しながら、愛媛で</a:t>
            </a:r>
            <a:endParaRPr lang="en-US" sz="1400" dirty="0"/>
          </a:p>
          <a:p>
            <a:pPr indent="0" marL="0">
              <a:lnSpc>
                <a:spcPts val="2030"/>
              </a:lnSpc>
              <a:buNone/>
            </a:pPr>
            <a:r>
              <a:rPr lang="en-US" sz="1400" dirty="0">
                <a:solidFill>
                  <a:srgbClr val="5B6472"/>
                </a:solidFill>
                <a:latin typeface="Meiryo UI" pitchFamily="34" charset="0"/>
                <a:ea typeface="Meiryo UI" pitchFamily="34" charset="-122"/>
                <a:cs typeface="Meiryo UI" pitchFamily="34" charset="-120"/>
              </a:rPr>
              <a:t>利用者の居場所づくりに向き合う</a:t>
            </a:r>
            <a:endParaRPr lang="en-US" sz="1400" dirty="0"/>
          </a:p>
        </p:txBody>
      </p:sp>
      <p:sp>
        <p:nvSpPr>
          <p:cNvPr id="24" name="Text 22"/>
          <p:cNvSpPr txBox="1"/>
          <p:nvPr/>
        </p:nvSpPr>
        <p:spPr>
          <a:xfrm>
            <a:off x="8168335" y="1783080"/>
            <a:ext cx="3474720" cy="292608"/>
          </a:xfrm>
          <a:prstGeom prst="rect">
            <a:avLst/>
          </a:prstGeom>
          <a:noFill/>
          <a:ln/>
        </p:spPr>
        <p:txBody>
          <a:bodyPr wrap="square" lIns="0" tIns="0" rIns="0" bIns="0" rtlCol="0" anchor="t"/>
          <a:lstStyle/>
          <a:p>
            <a:pPr indent="0" marL="0">
              <a:lnSpc>
                <a:spcPts val="1690"/>
              </a:lnSpc>
              <a:buNone/>
            </a:pPr>
            <a:r>
              <a:rPr lang="en-US" sz="1300" dirty="0">
                <a:solidFill>
                  <a:srgbClr val="5B6472"/>
                </a:solidFill>
                <a:latin typeface="Meiryo UI" pitchFamily="34" charset="0"/>
                <a:ea typeface="Meiryo UI" pitchFamily="34" charset="-122"/>
                <a:cs typeface="Meiryo UI" pitchFamily="34" charset="-120"/>
              </a:rPr>
              <a:t>異動</a:t>
            </a:r>
            <a:endParaRPr lang="en-US" sz="1300" dirty="0"/>
          </a:p>
        </p:txBody>
      </p:sp>
      <p:sp>
        <p:nvSpPr>
          <p:cNvPr id="25" name="Text 23"/>
          <p:cNvSpPr txBox="1"/>
          <p:nvPr/>
        </p:nvSpPr>
        <p:spPr>
          <a:xfrm>
            <a:off x="8168335" y="2075688"/>
            <a:ext cx="3474720" cy="502920"/>
          </a:xfrm>
          <a:prstGeom prst="rect">
            <a:avLst/>
          </a:prstGeom>
          <a:noFill/>
          <a:ln/>
        </p:spPr>
        <p:txBody>
          <a:bodyPr wrap="square" lIns="0" tIns="0" rIns="0" bIns="0" rtlCol="0" anchor="t"/>
          <a:lstStyle/>
          <a:p>
            <a:pPr indent="0" marL="0">
              <a:lnSpc>
                <a:spcPts val="2860"/>
              </a:lnSpc>
              <a:buNone/>
            </a:pPr>
            <a:r>
              <a:rPr lang="en-US" sz="2600" b="1" dirty="0">
                <a:solidFill>
                  <a:srgbClr val="3A5BB8"/>
                </a:solidFill>
                <a:latin typeface="Meiryo UI" pitchFamily="34" charset="0"/>
                <a:ea typeface="Meiryo UI" pitchFamily="34" charset="-122"/>
                <a:cs typeface="Meiryo UI" pitchFamily="34" charset="-120"/>
              </a:rPr>
              <a:t>2026.9.1</a:t>
            </a:r>
            <a:endParaRPr lang="en-US" sz="2600" dirty="0"/>
          </a:p>
        </p:txBody>
      </p:sp>
      <p:sp>
        <p:nvSpPr>
          <p:cNvPr id="26" name="Shape 24"/>
          <p:cNvSpPr/>
          <p:nvPr/>
        </p:nvSpPr>
        <p:spPr>
          <a:xfrm>
            <a:off x="8351215" y="2807208"/>
            <a:ext cx="329184" cy="329184"/>
          </a:xfrm>
          <a:prstGeom prst="ellipse">
            <a:avLst/>
          </a:prstGeom>
          <a:solidFill>
            <a:srgbClr val="4A6FC7"/>
          </a:solidFill>
          <a:ln w="38100">
            <a:solidFill>
              <a:srgbClr val="FFFFFF"/>
            </a:solidFill>
            <a:prstDash val="solid"/>
          </a:ln>
        </p:spPr>
      </p:sp>
      <p:sp>
        <p:nvSpPr>
          <p:cNvPr id="27" name="Shape 25"/>
          <p:cNvSpPr/>
          <p:nvPr/>
        </p:nvSpPr>
        <p:spPr>
          <a:xfrm>
            <a:off x="8168335" y="3337560"/>
            <a:ext cx="3474720" cy="2286000"/>
          </a:xfrm>
          <a:prstGeom prst="roundRect">
            <a:avLst>
              <a:gd name="adj" fmla="val 5600"/>
            </a:avLst>
          </a:prstGeom>
          <a:solidFill>
            <a:srgbClr val="F3F5F9"/>
          </a:solidFill>
          <a:ln w="6350">
            <a:solidFill>
              <a:srgbClr val="F3F5F9"/>
            </a:solidFill>
            <a:prstDash val="solid"/>
          </a:ln>
        </p:spPr>
      </p:sp>
      <p:sp>
        <p:nvSpPr>
          <p:cNvPr id="28" name="Text 26"/>
          <p:cNvSpPr txBox="1"/>
          <p:nvPr/>
        </p:nvSpPr>
        <p:spPr>
          <a:xfrm>
            <a:off x="8442655" y="3584448"/>
            <a:ext cx="2926080" cy="822960"/>
          </a:xfrm>
          <a:prstGeom prst="rect">
            <a:avLst/>
          </a:prstGeom>
          <a:noFill/>
          <a:ln/>
        </p:spPr>
        <p:txBody>
          <a:bodyPr wrap="square" lIns="0" tIns="0" rIns="0" bIns="0" rtlCol="0" anchor="t"/>
          <a:lstStyle/>
          <a:p>
            <a:pPr indent="0" marL="0">
              <a:lnSpc>
                <a:spcPts val="2340"/>
              </a:lnSpc>
              <a:buNone/>
            </a:pPr>
            <a:r>
              <a:rPr lang="en-US" sz="1800" b="1" dirty="0">
                <a:solidFill>
                  <a:srgbClr val="2E3440"/>
                </a:solidFill>
                <a:latin typeface="Meiryo UI" pitchFamily="34" charset="0"/>
                <a:ea typeface="Meiryo UI" pitchFamily="34" charset="-122"/>
                <a:cs typeface="Meiryo UI" pitchFamily="34" charset="-120"/>
              </a:rPr>
              <a:t>愛媛県西条市</a:t>
            </a:r>
            <a:endParaRPr lang="en-US" sz="1800" dirty="0"/>
          </a:p>
          <a:p>
            <a:pPr indent="0" marL="0">
              <a:lnSpc>
                <a:spcPts val="2340"/>
              </a:lnSpc>
              <a:buNone/>
            </a:pPr>
            <a:r>
              <a:rPr lang="en-US" sz="1800" b="1" dirty="0">
                <a:solidFill>
                  <a:srgbClr val="2E3440"/>
                </a:solidFill>
                <a:latin typeface="Meiryo UI" pitchFamily="34" charset="0"/>
                <a:ea typeface="Meiryo UI" pitchFamily="34" charset="-122"/>
                <a:cs typeface="Meiryo UI" pitchFamily="34" charset="-120"/>
              </a:rPr>
              <a:t>夢門塾ゆうゆう西条</a:t>
            </a:r>
            <a:endParaRPr lang="en-US" sz="1800" dirty="0"/>
          </a:p>
        </p:txBody>
      </p:sp>
      <p:sp>
        <p:nvSpPr>
          <p:cNvPr id="29" name="Text 27"/>
          <p:cNvSpPr txBox="1"/>
          <p:nvPr/>
        </p:nvSpPr>
        <p:spPr>
          <a:xfrm>
            <a:off x="8442655" y="4553712"/>
            <a:ext cx="2926080" cy="1097280"/>
          </a:xfrm>
          <a:prstGeom prst="rect">
            <a:avLst/>
          </a:prstGeom>
          <a:noFill/>
          <a:ln/>
        </p:spPr>
        <p:txBody>
          <a:bodyPr wrap="square" lIns="0" tIns="0" rIns="0" bIns="0" rtlCol="0" anchor="t"/>
          <a:lstStyle/>
          <a:p>
            <a:pPr indent="0" marL="0">
              <a:lnSpc>
                <a:spcPts val="2030"/>
              </a:lnSpc>
              <a:buNone/>
            </a:pPr>
            <a:r>
              <a:rPr lang="en-US" sz="1400" dirty="0">
                <a:solidFill>
                  <a:srgbClr val="5B6472"/>
                </a:solidFill>
                <a:latin typeface="Meiryo UI" pitchFamily="34" charset="0"/>
                <a:ea typeface="Meiryo UI" pitchFamily="34" charset="-122"/>
                <a:cs typeface="Meiryo UI" pitchFamily="34" charset="-120"/>
              </a:rPr>
              <a:t>管理者 兼 エリアマネージャー</a:t>
            </a:r>
            <a:endParaRPr lang="en-US" sz="1400" dirty="0"/>
          </a:p>
          <a:p>
            <a:pPr indent="0" marL="0">
              <a:lnSpc>
                <a:spcPts val="2030"/>
              </a:lnSpc>
              <a:buNone/>
            </a:pPr>
            <a:r>
              <a:rPr lang="en-US" sz="1400" dirty="0">
                <a:solidFill>
                  <a:srgbClr val="5B6472"/>
                </a:solidFill>
                <a:latin typeface="Meiryo UI" pitchFamily="34" charset="0"/>
                <a:ea typeface="Meiryo UI" pitchFamily="34" charset="-122"/>
                <a:cs typeface="Meiryo UI" pitchFamily="34" charset="-120"/>
              </a:rPr>
              <a:t>として愛媛エリアを担う</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118872" cy="118872"/>
          </a:xfrm>
          <a:prstGeom prst="ellipse">
            <a:avLst/>
          </a:prstGeom>
          <a:solidFill>
            <a:srgbClr val="E8505B"/>
          </a:solidFill>
          <a:ln w="6350">
            <a:solidFill>
              <a:srgbClr val="E8505B"/>
            </a:solidFill>
            <a:prstDash val="solid"/>
          </a:ln>
        </p:spPr>
      </p:sp>
      <p:sp>
        <p:nvSpPr>
          <p:cNvPr id="3" name="Shape 1"/>
          <p:cNvSpPr/>
          <p:nvPr/>
        </p:nvSpPr>
        <p:spPr>
          <a:xfrm>
            <a:off x="740664" y="457200"/>
            <a:ext cx="118872" cy="118872"/>
          </a:xfrm>
          <a:prstGeom prst="ellipse">
            <a:avLst/>
          </a:prstGeom>
          <a:solidFill>
            <a:srgbClr val="F39C33"/>
          </a:solidFill>
          <a:ln w="6350">
            <a:solidFill>
              <a:srgbClr val="F39C33"/>
            </a:solidFill>
            <a:prstDash val="solid"/>
          </a:ln>
        </p:spPr>
      </p:sp>
      <p:sp>
        <p:nvSpPr>
          <p:cNvPr id="4" name="Shape 2"/>
          <p:cNvSpPr/>
          <p:nvPr/>
        </p:nvSpPr>
        <p:spPr>
          <a:xfrm>
            <a:off x="932688" y="457200"/>
            <a:ext cx="118872" cy="118872"/>
          </a:xfrm>
          <a:prstGeom prst="ellipse">
            <a:avLst/>
          </a:prstGeom>
          <a:solidFill>
            <a:srgbClr val="F2C230"/>
          </a:solidFill>
          <a:ln w="6350">
            <a:solidFill>
              <a:srgbClr val="F2C230"/>
            </a:solidFill>
            <a:prstDash val="solid"/>
          </a:ln>
        </p:spPr>
      </p:sp>
      <p:sp>
        <p:nvSpPr>
          <p:cNvPr id="5" name="Shape 3"/>
          <p:cNvSpPr/>
          <p:nvPr/>
        </p:nvSpPr>
        <p:spPr>
          <a:xfrm>
            <a:off x="1124712" y="457200"/>
            <a:ext cx="118872" cy="118872"/>
          </a:xfrm>
          <a:prstGeom prst="ellipse">
            <a:avLst/>
          </a:prstGeom>
          <a:solidFill>
            <a:srgbClr val="5DBB63"/>
          </a:solidFill>
          <a:ln w="6350">
            <a:solidFill>
              <a:srgbClr val="5DBB63"/>
            </a:solidFill>
            <a:prstDash val="solid"/>
          </a:ln>
        </p:spPr>
      </p:sp>
      <p:sp>
        <p:nvSpPr>
          <p:cNvPr id="6" name="Shape 4"/>
          <p:cNvSpPr/>
          <p:nvPr/>
        </p:nvSpPr>
        <p:spPr>
          <a:xfrm>
            <a:off x="1316736" y="457200"/>
            <a:ext cx="118872" cy="118872"/>
          </a:xfrm>
          <a:prstGeom prst="ellipse">
            <a:avLst/>
          </a:prstGeom>
          <a:solidFill>
            <a:srgbClr val="3FA7D6"/>
          </a:solidFill>
          <a:ln w="6350">
            <a:solidFill>
              <a:srgbClr val="3FA7D6"/>
            </a:solidFill>
            <a:prstDash val="solid"/>
          </a:ln>
        </p:spPr>
      </p:sp>
      <p:sp>
        <p:nvSpPr>
          <p:cNvPr id="7" name="Shape 5"/>
          <p:cNvSpPr/>
          <p:nvPr/>
        </p:nvSpPr>
        <p:spPr>
          <a:xfrm>
            <a:off x="1508760" y="457200"/>
            <a:ext cx="118872" cy="118872"/>
          </a:xfrm>
          <a:prstGeom prst="ellipse">
            <a:avLst/>
          </a:prstGeom>
          <a:solidFill>
            <a:srgbClr val="4A6FC7"/>
          </a:solidFill>
          <a:ln w="6350">
            <a:solidFill>
              <a:srgbClr val="4A6FC7"/>
            </a:solidFill>
            <a:prstDash val="solid"/>
          </a:ln>
        </p:spPr>
      </p:sp>
      <p:sp>
        <p:nvSpPr>
          <p:cNvPr id="8" name="Shape 6"/>
          <p:cNvSpPr/>
          <p:nvPr/>
        </p:nvSpPr>
        <p:spPr>
          <a:xfrm>
            <a:off x="1700784" y="457200"/>
            <a:ext cx="118872" cy="118872"/>
          </a:xfrm>
          <a:prstGeom prst="ellipse">
            <a:avLst/>
          </a:prstGeom>
          <a:solidFill>
            <a:srgbClr val="9A6BC4"/>
          </a:solidFill>
          <a:ln w="6350">
            <a:solidFill>
              <a:srgbClr val="9A6BC4"/>
            </a:solidFill>
            <a:prstDash val="solid"/>
          </a:ln>
        </p:spPr>
      </p:sp>
      <p:sp>
        <p:nvSpPr>
          <p:cNvPr id="9" name="Text 7"/>
          <p:cNvSpPr txBox="1"/>
          <p:nvPr/>
        </p:nvSpPr>
        <p:spPr>
          <a:xfrm>
            <a:off x="548640" y="676656"/>
            <a:ext cx="10424160" cy="640080"/>
          </a:xfrm>
          <a:prstGeom prst="rect">
            <a:avLst/>
          </a:prstGeom>
          <a:noFill/>
          <a:ln/>
        </p:spPr>
        <p:txBody>
          <a:bodyPr wrap="square" lIns="0" tIns="0" rIns="0" bIns="0" rtlCol="0" anchor="t"/>
          <a:lstStyle/>
          <a:p>
            <a:pPr indent="0" marL="0">
              <a:lnSpc>
                <a:spcPts val="3900"/>
              </a:lnSpc>
              <a:buNone/>
            </a:pPr>
            <a:r>
              <a:rPr lang="en-US" sz="3000" b="1" dirty="0">
                <a:solidFill>
                  <a:srgbClr val="2E3440"/>
                </a:solidFill>
                <a:latin typeface="Meiryo UI" pitchFamily="34" charset="0"/>
                <a:ea typeface="Meiryo UI" pitchFamily="34" charset="-122"/>
                <a:cs typeface="Meiryo UI" pitchFamily="34" charset="-120"/>
              </a:rPr>
              <a:t>きっかけ ①　保護者の声</a:t>
            </a:r>
            <a:endParaRPr lang="en-US" sz="3000" dirty="0"/>
          </a:p>
        </p:txBody>
      </p:sp>
      <p:sp>
        <p:nvSpPr>
          <p:cNvPr id="10" name="Text 8"/>
          <p:cNvSpPr txBox="1"/>
          <p:nvPr/>
        </p:nvSpPr>
        <p:spPr>
          <a:xfrm>
            <a:off x="11094415" y="6382512"/>
            <a:ext cx="548640" cy="274320"/>
          </a:xfrm>
          <a:prstGeom prst="rect">
            <a:avLst/>
          </a:prstGeom>
          <a:noFill/>
          <a:ln/>
        </p:spPr>
        <p:txBody>
          <a:bodyPr wrap="square" lIns="0" tIns="0" rIns="0" bIns="0" rtlCol="0" anchor="t"/>
          <a:lstStyle/>
          <a:p>
            <a:pPr algn="r" indent="0" marL="0">
              <a:lnSpc>
                <a:spcPts val="1430"/>
              </a:lnSpc>
              <a:buNone/>
            </a:pPr>
            <a:r>
              <a:rPr lang="en-US" sz="1100" dirty="0">
                <a:solidFill>
                  <a:srgbClr val="5B6472"/>
                </a:solidFill>
                <a:latin typeface="Meiryo UI" pitchFamily="34" charset="0"/>
                <a:ea typeface="Meiryo UI" pitchFamily="34" charset="-122"/>
                <a:cs typeface="Meiryo UI" pitchFamily="34" charset="-120"/>
              </a:rPr>
              <a:t>3</a:t>
            </a:r>
            <a:endParaRPr lang="en-US" sz="1100" dirty="0"/>
          </a:p>
        </p:txBody>
      </p:sp>
      <p:sp>
        <p:nvSpPr>
          <p:cNvPr id="11" name="Text 9"/>
          <p:cNvSpPr txBox="1"/>
          <p:nvPr/>
        </p:nvSpPr>
        <p:spPr>
          <a:xfrm>
            <a:off x="548640" y="1572768"/>
            <a:ext cx="11094415" cy="777240"/>
          </a:xfrm>
          <a:prstGeom prst="rect">
            <a:avLst/>
          </a:prstGeom>
          <a:noFill/>
          <a:ln/>
        </p:spPr>
        <p:txBody>
          <a:bodyPr wrap="square" lIns="0" tIns="0" rIns="0" bIns="0" rtlCol="0" anchor="t"/>
          <a:lstStyle/>
          <a:p>
            <a:pPr indent="0" marL="0">
              <a:lnSpc>
                <a:spcPts val="2180"/>
              </a:lnSpc>
              <a:buNone/>
            </a:pPr>
            <a:r>
              <a:rPr lang="en-US" sz="1500" dirty="0">
                <a:solidFill>
                  <a:srgbClr val="5B6472"/>
                </a:solidFill>
                <a:latin typeface="Meiryo UI" pitchFamily="34" charset="0"/>
                <a:ea typeface="Meiryo UI" pitchFamily="34" charset="-122"/>
                <a:cs typeface="Meiryo UI" pitchFamily="34" charset="-120"/>
              </a:rPr>
              <a:t>異動先ではさまざまな困難もあった。それでも愛媛の地にもキャレオス・夢門塾はあり、</a:t>
            </a:r>
            <a:endParaRPr lang="en-US" sz="1500" dirty="0"/>
          </a:p>
          <a:p>
            <a:pPr indent="0" marL="0">
              <a:lnSpc>
                <a:spcPts val="2180"/>
              </a:lnSpc>
              <a:buNone/>
            </a:pPr>
            <a:r>
              <a:rPr lang="en-US" sz="1500" dirty="0">
                <a:solidFill>
                  <a:srgbClr val="5B6472"/>
                </a:solidFill>
                <a:latin typeface="Meiryo UI" pitchFamily="34" charset="0"/>
                <a:ea typeface="Meiryo UI" pitchFamily="34" charset="-122"/>
                <a:cs typeface="Meiryo UI" pitchFamily="34" charset="-120"/>
              </a:rPr>
              <a:t>利用者の「居場所」として確立していた。</a:t>
            </a:r>
            <a:endParaRPr lang="en-US" sz="1500" dirty="0"/>
          </a:p>
        </p:txBody>
      </p:sp>
      <p:sp>
        <p:nvSpPr>
          <p:cNvPr id="12" name="Shape 10"/>
          <p:cNvSpPr/>
          <p:nvPr/>
        </p:nvSpPr>
        <p:spPr>
          <a:xfrm>
            <a:off x="548640" y="2514600"/>
            <a:ext cx="5396332" cy="2103120"/>
          </a:xfrm>
          <a:prstGeom prst="roundRect">
            <a:avLst>
              <a:gd name="adj" fmla="val 6087"/>
            </a:avLst>
          </a:prstGeom>
          <a:solidFill>
            <a:srgbClr val="F3F5F9"/>
          </a:solidFill>
          <a:ln w="6350">
            <a:solidFill>
              <a:srgbClr val="F3F5F9"/>
            </a:solidFill>
            <a:prstDash val="solid"/>
          </a:ln>
        </p:spPr>
      </p:sp>
      <p:sp>
        <p:nvSpPr>
          <p:cNvPr id="13" name="Text 11"/>
          <p:cNvSpPr txBox="1"/>
          <p:nvPr/>
        </p:nvSpPr>
        <p:spPr>
          <a:xfrm>
            <a:off x="822960" y="2578608"/>
            <a:ext cx="914400" cy="731520"/>
          </a:xfrm>
          <a:prstGeom prst="rect">
            <a:avLst/>
          </a:prstGeom>
          <a:noFill/>
          <a:ln/>
        </p:spPr>
        <p:txBody>
          <a:bodyPr wrap="square" lIns="0" tIns="0" rIns="0" bIns="0" rtlCol="0" anchor="t"/>
          <a:lstStyle/>
          <a:p>
            <a:pPr indent="0" marL="0">
              <a:lnSpc>
                <a:spcPts val="6000"/>
              </a:lnSpc>
              <a:buNone/>
            </a:pPr>
            <a:r>
              <a:rPr lang="en-US" sz="6000" b="1" dirty="0">
                <a:solidFill>
                  <a:srgbClr val="E8505B"/>
                </a:solidFill>
                <a:latin typeface="Meiryo UI" pitchFamily="34" charset="0"/>
                <a:ea typeface="Meiryo UI" pitchFamily="34" charset="-122"/>
                <a:cs typeface="Meiryo UI" pitchFamily="34" charset="-120"/>
              </a:rPr>
              <a:t>“</a:t>
            </a:r>
            <a:endParaRPr lang="en-US" sz="6000" dirty="0"/>
          </a:p>
        </p:txBody>
      </p:sp>
      <p:sp>
        <p:nvSpPr>
          <p:cNvPr id="14" name="Text 12"/>
          <p:cNvSpPr txBox="1"/>
          <p:nvPr/>
        </p:nvSpPr>
        <p:spPr>
          <a:xfrm>
            <a:off x="960120" y="3246120"/>
            <a:ext cx="4664812" cy="1143000"/>
          </a:xfrm>
          <a:prstGeom prst="rect">
            <a:avLst/>
          </a:prstGeom>
          <a:noFill/>
          <a:ln/>
        </p:spPr>
        <p:txBody>
          <a:bodyPr wrap="square" lIns="0" tIns="0" rIns="0" bIns="0" rtlCol="0" anchor="t"/>
          <a:lstStyle/>
          <a:p>
            <a:pPr indent="0" marL="0">
              <a:lnSpc>
                <a:spcPts val="2940"/>
              </a:lnSpc>
              <a:buNone/>
            </a:pPr>
            <a:r>
              <a:rPr lang="en-US" sz="2100" b="1" dirty="0">
                <a:solidFill>
                  <a:srgbClr val="2E3440"/>
                </a:solidFill>
                <a:latin typeface="Meiryo UI" pitchFamily="34" charset="0"/>
                <a:ea typeface="Meiryo UI" pitchFamily="34" charset="-122"/>
                <a:cs typeface="Meiryo UI" pitchFamily="34" charset="-120"/>
              </a:rPr>
              <a:t>「ゆうゆうを卒業したあとが</a:t>
            </a:r>
            <a:endParaRPr lang="en-US" sz="2100" dirty="0"/>
          </a:p>
          <a:p>
            <a:pPr indent="0" marL="0">
              <a:lnSpc>
                <a:spcPts val="2940"/>
              </a:lnSpc>
              <a:buNone/>
            </a:pPr>
            <a:r>
              <a:rPr lang="en-US" sz="2100" b="1" dirty="0">
                <a:solidFill>
                  <a:srgbClr val="2E3440"/>
                </a:solidFill>
                <a:latin typeface="Meiryo UI" pitchFamily="34" charset="0"/>
                <a:ea typeface="Meiryo UI" pitchFamily="34" charset="-122"/>
                <a:cs typeface="Meiryo UI" pitchFamily="34" charset="-120"/>
              </a:rPr>
              <a:t>とても不安」</a:t>
            </a:r>
            <a:endParaRPr lang="en-US" sz="2100" dirty="0"/>
          </a:p>
        </p:txBody>
      </p:sp>
      <p:sp>
        <p:nvSpPr>
          <p:cNvPr id="15" name="Shape 13"/>
          <p:cNvSpPr/>
          <p:nvPr/>
        </p:nvSpPr>
        <p:spPr>
          <a:xfrm>
            <a:off x="6246724" y="2514600"/>
            <a:ext cx="5396332" cy="2103120"/>
          </a:xfrm>
          <a:prstGeom prst="roundRect">
            <a:avLst>
              <a:gd name="adj" fmla="val 6087"/>
            </a:avLst>
          </a:prstGeom>
          <a:solidFill>
            <a:srgbClr val="F3F5F9"/>
          </a:solidFill>
          <a:ln w="6350">
            <a:solidFill>
              <a:srgbClr val="F3F5F9"/>
            </a:solidFill>
            <a:prstDash val="solid"/>
          </a:ln>
        </p:spPr>
      </p:sp>
      <p:sp>
        <p:nvSpPr>
          <p:cNvPr id="16" name="Text 14"/>
          <p:cNvSpPr txBox="1"/>
          <p:nvPr/>
        </p:nvSpPr>
        <p:spPr>
          <a:xfrm>
            <a:off x="6521044" y="2578608"/>
            <a:ext cx="914400" cy="731520"/>
          </a:xfrm>
          <a:prstGeom prst="rect">
            <a:avLst/>
          </a:prstGeom>
          <a:noFill/>
          <a:ln/>
        </p:spPr>
        <p:txBody>
          <a:bodyPr wrap="square" lIns="0" tIns="0" rIns="0" bIns="0" rtlCol="0" anchor="t"/>
          <a:lstStyle/>
          <a:p>
            <a:pPr indent="0" marL="0">
              <a:lnSpc>
                <a:spcPts val="6000"/>
              </a:lnSpc>
              <a:buNone/>
            </a:pPr>
            <a:r>
              <a:rPr lang="en-US" sz="6000" b="1" dirty="0">
                <a:solidFill>
                  <a:srgbClr val="3FA7D6"/>
                </a:solidFill>
                <a:latin typeface="Meiryo UI" pitchFamily="34" charset="0"/>
                <a:ea typeface="Meiryo UI" pitchFamily="34" charset="-122"/>
                <a:cs typeface="Meiryo UI" pitchFamily="34" charset="-120"/>
              </a:rPr>
              <a:t>“</a:t>
            </a:r>
            <a:endParaRPr lang="en-US" sz="6000" dirty="0"/>
          </a:p>
        </p:txBody>
      </p:sp>
      <p:sp>
        <p:nvSpPr>
          <p:cNvPr id="17" name="Text 15"/>
          <p:cNvSpPr txBox="1"/>
          <p:nvPr/>
        </p:nvSpPr>
        <p:spPr>
          <a:xfrm>
            <a:off x="6658204" y="3246120"/>
            <a:ext cx="4664812" cy="1143000"/>
          </a:xfrm>
          <a:prstGeom prst="rect">
            <a:avLst/>
          </a:prstGeom>
          <a:noFill/>
          <a:ln/>
        </p:spPr>
        <p:txBody>
          <a:bodyPr wrap="square" lIns="0" tIns="0" rIns="0" bIns="0" rtlCol="0" anchor="t"/>
          <a:lstStyle/>
          <a:p>
            <a:pPr indent="0" marL="0">
              <a:lnSpc>
                <a:spcPts val="2940"/>
              </a:lnSpc>
              <a:buNone/>
            </a:pPr>
            <a:r>
              <a:rPr lang="en-US" sz="2100" b="1" dirty="0">
                <a:solidFill>
                  <a:srgbClr val="2E3440"/>
                </a:solidFill>
                <a:latin typeface="Meiryo UI" pitchFamily="34" charset="0"/>
                <a:ea typeface="Meiryo UI" pitchFamily="34" charset="-122"/>
                <a:cs typeface="Meiryo UI" pitchFamily="34" charset="-120"/>
              </a:rPr>
              <a:t>「愛媛にキャレオスの就労が</a:t>
            </a:r>
            <a:endParaRPr lang="en-US" sz="2100" dirty="0"/>
          </a:p>
          <a:p>
            <a:pPr indent="0" marL="0">
              <a:lnSpc>
                <a:spcPts val="2940"/>
              </a:lnSpc>
              <a:buNone/>
            </a:pPr>
            <a:r>
              <a:rPr lang="en-US" sz="2100" b="1" dirty="0">
                <a:solidFill>
                  <a:srgbClr val="2E3440"/>
                </a:solidFill>
                <a:latin typeface="Meiryo UI" pitchFamily="34" charset="0"/>
                <a:ea typeface="Meiryo UI" pitchFamily="34" charset="-122"/>
                <a:cs typeface="Meiryo UI" pitchFamily="34" charset="-120"/>
              </a:rPr>
              <a:t>あったらとっても安心する」</a:t>
            </a:r>
            <a:endParaRPr lang="en-US" sz="2100" dirty="0"/>
          </a:p>
        </p:txBody>
      </p:sp>
      <p:sp>
        <p:nvSpPr>
          <p:cNvPr id="18" name="Text 16"/>
          <p:cNvSpPr txBox="1"/>
          <p:nvPr/>
        </p:nvSpPr>
        <p:spPr>
          <a:xfrm>
            <a:off x="548640" y="4709160"/>
            <a:ext cx="11094415" cy="320040"/>
          </a:xfrm>
          <a:prstGeom prst="rect">
            <a:avLst/>
          </a:prstGeom>
          <a:noFill/>
          <a:ln/>
        </p:spPr>
        <p:txBody>
          <a:bodyPr wrap="square" lIns="0" tIns="0" rIns="0" bIns="0" rtlCol="0" anchor="t"/>
          <a:lstStyle/>
          <a:p>
            <a:pPr algn="r" indent="0" marL="0">
              <a:lnSpc>
                <a:spcPts val="1560"/>
              </a:lnSpc>
              <a:buNone/>
            </a:pPr>
            <a:r>
              <a:rPr lang="en-US" sz="1200" dirty="0">
                <a:solidFill>
                  <a:srgbClr val="5B6472"/>
                </a:solidFill>
                <a:latin typeface="Meiryo UI" pitchFamily="34" charset="0"/>
                <a:ea typeface="Meiryo UI" pitchFamily="34" charset="-122"/>
                <a:cs typeface="Meiryo UI" pitchFamily="34" charset="-120"/>
              </a:rPr>
              <a:t>― 高校生になる利用者の保護者より</a:t>
            </a:r>
            <a:endParaRPr lang="en-US" sz="1200" dirty="0"/>
          </a:p>
        </p:txBody>
      </p:sp>
      <p:sp>
        <p:nvSpPr>
          <p:cNvPr id="19" name="Text 17"/>
          <p:cNvSpPr txBox="1"/>
          <p:nvPr/>
        </p:nvSpPr>
        <p:spPr>
          <a:xfrm>
            <a:off x="548640" y="5230368"/>
            <a:ext cx="11094415" cy="548640"/>
          </a:xfrm>
          <a:prstGeom prst="rect">
            <a:avLst/>
          </a:prstGeom>
          <a:noFill/>
          <a:ln/>
        </p:spPr>
        <p:txBody>
          <a:bodyPr wrap="square" lIns="0" tIns="0" rIns="0" bIns="0" rtlCol="0" anchor="ctr"/>
          <a:lstStyle/>
          <a:p>
            <a:pPr indent="0" marL="0">
              <a:lnSpc>
                <a:spcPts val="2600"/>
              </a:lnSpc>
              <a:buNone/>
            </a:pPr>
            <a:r>
              <a:rPr lang="en-US" sz="2000" b="1" dirty="0">
                <a:solidFill>
                  <a:srgbClr val="3A5BB8"/>
                </a:solidFill>
                <a:latin typeface="Meiryo UI" pitchFamily="34" charset="0"/>
                <a:ea typeface="Meiryo UI" pitchFamily="34" charset="-122"/>
                <a:cs typeface="Meiryo UI" pitchFamily="34" charset="-120"/>
              </a:rPr>
              <a:t>嬉しい、けれど胸の痛いことば。卒業後の「次の居場所」を愛媛に。</a:t>
            </a:r>
            <a:endParaRPr lang="en-US" sz="2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118872" cy="118872"/>
          </a:xfrm>
          <a:prstGeom prst="ellipse">
            <a:avLst/>
          </a:prstGeom>
          <a:solidFill>
            <a:srgbClr val="E8505B"/>
          </a:solidFill>
          <a:ln w="6350">
            <a:solidFill>
              <a:srgbClr val="E8505B"/>
            </a:solidFill>
            <a:prstDash val="solid"/>
          </a:ln>
        </p:spPr>
      </p:sp>
      <p:sp>
        <p:nvSpPr>
          <p:cNvPr id="3" name="Shape 1"/>
          <p:cNvSpPr/>
          <p:nvPr/>
        </p:nvSpPr>
        <p:spPr>
          <a:xfrm>
            <a:off x="740664" y="457200"/>
            <a:ext cx="118872" cy="118872"/>
          </a:xfrm>
          <a:prstGeom prst="ellipse">
            <a:avLst/>
          </a:prstGeom>
          <a:solidFill>
            <a:srgbClr val="F39C33"/>
          </a:solidFill>
          <a:ln w="6350">
            <a:solidFill>
              <a:srgbClr val="F39C33"/>
            </a:solidFill>
            <a:prstDash val="solid"/>
          </a:ln>
        </p:spPr>
      </p:sp>
      <p:sp>
        <p:nvSpPr>
          <p:cNvPr id="4" name="Shape 2"/>
          <p:cNvSpPr/>
          <p:nvPr/>
        </p:nvSpPr>
        <p:spPr>
          <a:xfrm>
            <a:off x="932688" y="457200"/>
            <a:ext cx="118872" cy="118872"/>
          </a:xfrm>
          <a:prstGeom prst="ellipse">
            <a:avLst/>
          </a:prstGeom>
          <a:solidFill>
            <a:srgbClr val="F2C230"/>
          </a:solidFill>
          <a:ln w="6350">
            <a:solidFill>
              <a:srgbClr val="F2C230"/>
            </a:solidFill>
            <a:prstDash val="solid"/>
          </a:ln>
        </p:spPr>
      </p:sp>
      <p:sp>
        <p:nvSpPr>
          <p:cNvPr id="5" name="Shape 3"/>
          <p:cNvSpPr/>
          <p:nvPr/>
        </p:nvSpPr>
        <p:spPr>
          <a:xfrm>
            <a:off x="1124712" y="457200"/>
            <a:ext cx="118872" cy="118872"/>
          </a:xfrm>
          <a:prstGeom prst="ellipse">
            <a:avLst/>
          </a:prstGeom>
          <a:solidFill>
            <a:srgbClr val="5DBB63"/>
          </a:solidFill>
          <a:ln w="6350">
            <a:solidFill>
              <a:srgbClr val="5DBB63"/>
            </a:solidFill>
            <a:prstDash val="solid"/>
          </a:ln>
        </p:spPr>
      </p:sp>
      <p:sp>
        <p:nvSpPr>
          <p:cNvPr id="6" name="Shape 4"/>
          <p:cNvSpPr/>
          <p:nvPr/>
        </p:nvSpPr>
        <p:spPr>
          <a:xfrm>
            <a:off x="1316736" y="457200"/>
            <a:ext cx="118872" cy="118872"/>
          </a:xfrm>
          <a:prstGeom prst="ellipse">
            <a:avLst/>
          </a:prstGeom>
          <a:solidFill>
            <a:srgbClr val="3FA7D6"/>
          </a:solidFill>
          <a:ln w="6350">
            <a:solidFill>
              <a:srgbClr val="3FA7D6"/>
            </a:solidFill>
            <a:prstDash val="solid"/>
          </a:ln>
        </p:spPr>
      </p:sp>
      <p:sp>
        <p:nvSpPr>
          <p:cNvPr id="7" name="Shape 5"/>
          <p:cNvSpPr/>
          <p:nvPr/>
        </p:nvSpPr>
        <p:spPr>
          <a:xfrm>
            <a:off x="1508760" y="457200"/>
            <a:ext cx="118872" cy="118872"/>
          </a:xfrm>
          <a:prstGeom prst="ellipse">
            <a:avLst/>
          </a:prstGeom>
          <a:solidFill>
            <a:srgbClr val="4A6FC7"/>
          </a:solidFill>
          <a:ln w="6350">
            <a:solidFill>
              <a:srgbClr val="4A6FC7"/>
            </a:solidFill>
            <a:prstDash val="solid"/>
          </a:ln>
        </p:spPr>
      </p:sp>
      <p:sp>
        <p:nvSpPr>
          <p:cNvPr id="8" name="Shape 6"/>
          <p:cNvSpPr/>
          <p:nvPr/>
        </p:nvSpPr>
        <p:spPr>
          <a:xfrm>
            <a:off x="1700784" y="457200"/>
            <a:ext cx="118872" cy="118872"/>
          </a:xfrm>
          <a:prstGeom prst="ellipse">
            <a:avLst/>
          </a:prstGeom>
          <a:solidFill>
            <a:srgbClr val="9A6BC4"/>
          </a:solidFill>
          <a:ln w="6350">
            <a:solidFill>
              <a:srgbClr val="9A6BC4"/>
            </a:solidFill>
            <a:prstDash val="solid"/>
          </a:ln>
        </p:spPr>
      </p:sp>
      <p:sp>
        <p:nvSpPr>
          <p:cNvPr id="9" name="Text 7"/>
          <p:cNvSpPr txBox="1"/>
          <p:nvPr/>
        </p:nvSpPr>
        <p:spPr>
          <a:xfrm>
            <a:off x="548640" y="676656"/>
            <a:ext cx="10424160" cy="640080"/>
          </a:xfrm>
          <a:prstGeom prst="rect">
            <a:avLst/>
          </a:prstGeom>
          <a:noFill/>
          <a:ln/>
        </p:spPr>
        <p:txBody>
          <a:bodyPr wrap="square" lIns="0" tIns="0" rIns="0" bIns="0" rtlCol="0" anchor="t"/>
          <a:lstStyle/>
          <a:p>
            <a:pPr indent="0" marL="0">
              <a:lnSpc>
                <a:spcPts val="3900"/>
              </a:lnSpc>
              <a:buNone/>
            </a:pPr>
            <a:r>
              <a:rPr lang="en-US" sz="3000" b="1" dirty="0">
                <a:solidFill>
                  <a:srgbClr val="2E3440"/>
                </a:solidFill>
                <a:latin typeface="Meiryo UI" pitchFamily="34" charset="0"/>
                <a:ea typeface="Meiryo UI" pitchFamily="34" charset="-122"/>
                <a:cs typeface="Meiryo UI" pitchFamily="34" charset="-120"/>
              </a:rPr>
              <a:t>きっかけ ②　サービス支給量の決定基準の制定</a:t>
            </a:r>
            <a:endParaRPr lang="en-US" sz="3000" dirty="0"/>
          </a:p>
        </p:txBody>
      </p:sp>
      <p:sp>
        <p:nvSpPr>
          <p:cNvPr id="10" name="Text 8"/>
          <p:cNvSpPr txBox="1"/>
          <p:nvPr/>
        </p:nvSpPr>
        <p:spPr>
          <a:xfrm>
            <a:off x="11094415" y="6382512"/>
            <a:ext cx="548640" cy="274320"/>
          </a:xfrm>
          <a:prstGeom prst="rect">
            <a:avLst/>
          </a:prstGeom>
          <a:noFill/>
          <a:ln/>
        </p:spPr>
        <p:txBody>
          <a:bodyPr wrap="square" lIns="0" tIns="0" rIns="0" bIns="0" rtlCol="0" anchor="t"/>
          <a:lstStyle/>
          <a:p>
            <a:pPr algn="r" indent="0" marL="0">
              <a:lnSpc>
                <a:spcPts val="1430"/>
              </a:lnSpc>
              <a:buNone/>
            </a:pPr>
            <a:r>
              <a:rPr lang="en-US" sz="1100" dirty="0">
                <a:solidFill>
                  <a:srgbClr val="5B6472"/>
                </a:solidFill>
                <a:latin typeface="Meiryo UI" pitchFamily="34" charset="0"/>
                <a:ea typeface="Meiryo UI" pitchFamily="34" charset="-122"/>
                <a:cs typeface="Meiryo UI" pitchFamily="34" charset="-120"/>
              </a:rPr>
              <a:t>4</a:t>
            </a:r>
            <a:endParaRPr lang="en-US" sz="1100" dirty="0"/>
          </a:p>
        </p:txBody>
      </p:sp>
      <p:sp>
        <p:nvSpPr>
          <p:cNvPr id="11" name="Shape 9"/>
          <p:cNvSpPr/>
          <p:nvPr/>
        </p:nvSpPr>
        <p:spPr>
          <a:xfrm>
            <a:off x="548640" y="1645920"/>
            <a:ext cx="3474720" cy="3246120"/>
          </a:xfrm>
          <a:prstGeom prst="roundRect">
            <a:avLst>
              <a:gd name="adj" fmla="val 3944"/>
            </a:avLst>
          </a:prstGeom>
          <a:solidFill>
            <a:srgbClr val="F3F5F9"/>
          </a:solidFill>
          <a:ln w="6350">
            <a:solidFill>
              <a:srgbClr val="F3F5F9"/>
            </a:solidFill>
            <a:prstDash val="solid"/>
          </a:ln>
        </p:spPr>
      </p:sp>
      <p:sp>
        <p:nvSpPr>
          <p:cNvPr id="12" name="Shape 10"/>
          <p:cNvSpPr/>
          <p:nvPr/>
        </p:nvSpPr>
        <p:spPr>
          <a:xfrm>
            <a:off x="822960" y="1920240"/>
            <a:ext cx="502920" cy="502920"/>
          </a:xfrm>
          <a:prstGeom prst="ellipse">
            <a:avLst/>
          </a:prstGeom>
          <a:solidFill>
            <a:srgbClr val="F39C33"/>
          </a:solidFill>
          <a:ln w="6350">
            <a:solidFill>
              <a:srgbClr val="F39C33"/>
            </a:solidFill>
            <a:prstDash val="solid"/>
          </a:ln>
        </p:spPr>
      </p:sp>
      <p:sp>
        <p:nvSpPr>
          <p:cNvPr id="13" name="Text 11"/>
          <p:cNvSpPr txBox="1"/>
          <p:nvPr/>
        </p:nvSpPr>
        <p:spPr>
          <a:xfrm>
            <a:off x="822960" y="1920240"/>
            <a:ext cx="502920" cy="502920"/>
          </a:xfrm>
          <a:prstGeom prst="rect">
            <a:avLst/>
          </a:prstGeom>
          <a:noFill/>
          <a:ln/>
        </p:spPr>
        <p:txBody>
          <a:bodyPr wrap="square" lIns="0" tIns="0" rIns="0" bIns="0" rtlCol="0" anchor="ctr"/>
          <a:lstStyle/>
          <a:p>
            <a:pPr algn="ctr" indent="0" marL="0">
              <a:lnSpc>
                <a:spcPts val="1700"/>
              </a:lnSpc>
              <a:buNone/>
            </a:pPr>
            <a:r>
              <a:rPr lang="en-US" sz="1700" b="1" dirty="0">
                <a:solidFill>
                  <a:srgbClr val="2E3440"/>
                </a:solidFill>
                <a:latin typeface="Meiryo UI" pitchFamily="34" charset="0"/>
                <a:ea typeface="Meiryo UI" pitchFamily="34" charset="-122"/>
                <a:cs typeface="Meiryo UI" pitchFamily="34" charset="-120"/>
              </a:rPr>
              <a:t>1</a:t>
            </a:r>
            <a:endParaRPr lang="en-US" sz="1700" dirty="0"/>
          </a:p>
        </p:txBody>
      </p:sp>
      <p:sp>
        <p:nvSpPr>
          <p:cNvPr id="14" name="Text 12"/>
          <p:cNvSpPr txBox="1"/>
          <p:nvPr/>
        </p:nvSpPr>
        <p:spPr>
          <a:xfrm>
            <a:off x="1481328" y="1920240"/>
            <a:ext cx="2377440" cy="502920"/>
          </a:xfrm>
          <a:prstGeom prst="rect">
            <a:avLst/>
          </a:prstGeom>
          <a:noFill/>
          <a:ln/>
        </p:spPr>
        <p:txBody>
          <a:bodyPr wrap="square" lIns="0" tIns="0" rIns="0" bIns="0" rtlCol="0" anchor="ctr"/>
          <a:lstStyle/>
          <a:p>
            <a:pPr indent="0" marL="0">
              <a:lnSpc>
                <a:spcPts val="2090"/>
              </a:lnSpc>
              <a:buNone/>
            </a:pPr>
            <a:r>
              <a:rPr lang="en-US" sz="1900" b="1" dirty="0">
                <a:solidFill>
                  <a:srgbClr val="2E3440"/>
                </a:solidFill>
                <a:latin typeface="Meiryo UI" pitchFamily="34" charset="0"/>
                <a:ea typeface="Meiryo UI" pitchFamily="34" charset="-122"/>
                <a:cs typeface="Meiryo UI" pitchFamily="34" charset="-120"/>
              </a:rPr>
              <a:t>制度の変化</a:t>
            </a:r>
            <a:endParaRPr lang="en-US" sz="1900" dirty="0"/>
          </a:p>
        </p:txBody>
      </p:sp>
      <p:sp>
        <p:nvSpPr>
          <p:cNvPr id="15" name="Text 13"/>
          <p:cNvSpPr txBox="1"/>
          <p:nvPr/>
        </p:nvSpPr>
        <p:spPr>
          <a:xfrm>
            <a:off x="822960" y="2651760"/>
            <a:ext cx="2926080" cy="2057400"/>
          </a:xfrm>
          <a:prstGeom prst="rect">
            <a:avLst/>
          </a:prstGeom>
          <a:noFill/>
          <a:ln/>
        </p:spPr>
        <p:txBody>
          <a:bodyPr wrap="square" lIns="0" tIns="0" rIns="0" bIns="0" rtlCol="0" anchor="t"/>
          <a:lstStyle/>
          <a:p>
            <a:pPr indent="0" marL="0">
              <a:lnSpc>
                <a:spcPts val="2100"/>
              </a:lnSpc>
              <a:buNone/>
            </a:pPr>
            <a:r>
              <a:rPr lang="en-US" sz="1400" dirty="0">
                <a:solidFill>
                  <a:srgbClr val="2E3440"/>
                </a:solidFill>
                <a:latin typeface="Meiryo UI" pitchFamily="34" charset="0"/>
                <a:ea typeface="Meiryo UI" pitchFamily="34" charset="-122"/>
                <a:cs typeface="Meiryo UI" pitchFamily="34" charset="-120"/>
              </a:rPr>
              <a:t>受給者証の支給日数の上限が、</a:t>
            </a:r>
            <a:endParaRPr lang="en-US" sz="1400" dirty="0"/>
          </a:p>
          <a:p>
            <a:pPr indent="0" marL="0">
              <a:lnSpc>
                <a:spcPts val="2100"/>
              </a:lnSpc>
              <a:buNone/>
            </a:pPr>
            <a:r>
              <a:rPr lang="en-US" sz="1400" dirty="0">
                <a:solidFill>
                  <a:srgbClr val="2E3440"/>
                </a:solidFill>
                <a:latin typeface="Meiryo UI" pitchFamily="34" charset="0"/>
                <a:ea typeface="Meiryo UI" pitchFamily="34" charset="-122"/>
                <a:cs typeface="Meiryo UI" pitchFamily="34" charset="-120"/>
              </a:rPr>
              <a:t>手帳や個別サポートの有無で</a:t>
            </a:r>
            <a:endParaRPr lang="en-US" sz="1400" dirty="0"/>
          </a:p>
          <a:p>
            <a:pPr indent="0" marL="0">
              <a:lnSpc>
                <a:spcPts val="2100"/>
              </a:lnSpc>
              <a:buNone/>
            </a:pPr>
            <a:r>
              <a:rPr lang="en-US" sz="1400" dirty="0">
                <a:solidFill>
                  <a:srgbClr val="2E3440"/>
                </a:solidFill>
                <a:latin typeface="Meiryo UI" pitchFamily="34" charset="0"/>
                <a:ea typeface="Meiryo UI" pitchFamily="34" charset="-122"/>
                <a:cs typeface="Meiryo UI" pitchFamily="34" charset="-120"/>
              </a:rPr>
              <a:t>決まるように。</a:t>
            </a:r>
            <a:endParaRPr lang="en-US" sz="1400" dirty="0"/>
          </a:p>
        </p:txBody>
      </p:sp>
      <p:sp>
        <p:nvSpPr>
          <p:cNvPr id="16" name="Shape 14"/>
          <p:cNvSpPr/>
          <p:nvPr/>
        </p:nvSpPr>
        <p:spPr>
          <a:xfrm>
            <a:off x="4108628" y="3104388"/>
            <a:ext cx="164592" cy="329184"/>
          </a:xfrm>
          <a:prstGeom prst="chevron">
            <a:avLst/>
          </a:prstGeom>
          <a:solidFill>
            <a:srgbClr val="C9CFDA"/>
          </a:solidFill>
          <a:ln w="6350">
            <a:solidFill>
              <a:srgbClr val="C9CFDA"/>
            </a:solidFill>
            <a:prstDash val="solid"/>
          </a:ln>
        </p:spPr>
      </p:sp>
      <p:sp>
        <p:nvSpPr>
          <p:cNvPr id="17" name="Shape 15"/>
          <p:cNvSpPr/>
          <p:nvPr/>
        </p:nvSpPr>
        <p:spPr>
          <a:xfrm>
            <a:off x="4358488" y="1645920"/>
            <a:ext cx="3474720" cy="3246120"/>
          </a:xfrm>
          <a:prstGeom prst="roundRect">
            <a:avLst>
              <a:gd name="adj" fmla="val 3944"/>
            </a:avLst>
          </a:prstGeom>
          <a:solidFill>
            <a:srgbClr val="F3F5F9"/>
          </a:solidFill>
          <a:ln w="6350">
            <a:solidFill>
              <a:srgbClr val="F3F5F9"/>
            </a:solidFill>
            <a:prstDash val="solid"/>
          </a:ln>
        </p:spPr>
      </p:sp>
      <p:sp>
        <p:nvSpPr>
          <p:cNvPr id="18" name="Shape 16"/>
          <p:cNvSpPr/>
          <p:nvPr/>
        </p:nvSpPr>
        <p:spPr>
          <a:xfrm>
            <a:off x="4632808" y="1920240"/>
            <a:ext cx="502920" cy="502920"/>
          </a:xfrm>
          <a:prstGeom prst="ellipse">
            <a:avLst/>
          </a:prstGeom>
          <a:solidFill>
            <a:srgbClr val="E8505B"/>
          </a:solidFill>
          <a:ln w="6350">
            <a:solidFill>
              <a:srgbClr val="E8505B"/>
            </a:solidFill>
            <a:prstDash val="solid"/>
          </a:ln>
        </p:spPr>
      </p:sp>
      <p:sp>
        <p:nvSpPr>
          <p:cNvPr id="19" name="Text 17"/>
          <p:cNvSpPr txBox="1"/>
          <p:nvPr/>
        </p:nvSpPr>
        <p:spPr>
          <a:xfrm>
            <a:off x="4632808" y="1920240"/>
            <a:ext cx="502920" cy="502920"/>
          </a:xfrm>
          <a:prstGeom prst="rect">
            <a:avLst/>
          </a:prstGeom>
          <a:noFill/>
          <a:ln/>
        </p:spPr>
        <p:txBody>
          <a:bodyPr wrap="square" lIns="0" tIns="0" rIns="0" bIns="0" rtlCol="0" anchor="ctr"/>
          <a:lstStyle/>
          <a:p>
            <a:pPr algn="ctr" indent="0" marL="0">
              <a:lnSpc>
                <a:spcPts val="1700"/>
              </a:lnSpc>
              <a:buNone/>
            </a:pPr>
            <a:r>
              <a:rPr lang="en-US" sz="1700" b="1" dirty="0">
                <a:solidFill>
                  <a:srgbClr val="FFFFFF"/>
                </a:solidFill>
                <a:latin typeface="Meiryo UI" pitchFamily="34" charset="0"/>
                <a:ea typeface="Meiryo UI" pitchFamily="34" charset="-122"/>
                <a:cs typeface="Meiryo UI" pitchFamily="34" charset="-120"/>
              </a:rPr>
              <a:t>2</a:t>
            </a:r>
            <a:endParaRPr lang="en-US" sz="1700" dirty="0"/>
          </a:p>
        </p:txBody>
      </p:sp>
      <p:sp>
        <p:nvSpPr>
          <p:cNvPr id="20" name="Text 18"/>
          <p:cNvSpPr txBox="1"/>
          <p:nvPr/>
        </p:nvSpPr>
        <p:spPr>
          <a:xfrm>
            <a:off x="5291176" y="1920240"/>
            <a:ext cx="2377440" cy="502920"/>
          </a:xfrm>
          <a:prstGeom prst="rect">
            <a:avLst/>
          </a:prstGeom>
          <a:noFill/>
          <a:ln/>
        </p:spPr>
        <p:txBody>
          <a:bodyPr wrap="square" lIns="0" tIns="0" rIns="0" bIns="0" rtlCol="0" anchor="ctr"/>
          <a:lstStyle/>
          <a:p>
            <a:pPr indent="0" marL="0">
              <a:lnSpc>
                <a:spcPts val="2090"/>
              </a:lnSpc>
              <a:buNone/>
            </a:pPr>
            <a:r>
              <a:rPr lang="en-US" sz="1900" b="1" dirty="0">
                <a:solidFill>
                  <a:srgbClr val="2E3440"/>
                </a:solidFill>
                <a:latin typeface="Meiryo UI" pitchFamily="34" charset="0"/>
                <a:ea typeface="Meiryo UI" pitchFamily="34" charset="-122"/>
                <a:cs typeface="Meiryo UI" pitchFamily="34" charset="-120"/>
              </a:rPr>
              <a:t>現場の不安</a:t>
            </a:r>
            <a:endParaRPr lang="en-US" sz="1900" dirty="0"/>
          </a:p>
        </p:txBody>
      </p:sp>
      <p:sp>
        <p:nvSpPr>
          <p:cNvPr id="21" name="Text 19"/>
          <p:cNvSpPr txBox="1"/>
          <p:nvPr/>
        </p:nvSpPr>
        <p:spPr>
          <a:xfrm>
            <a:off x="4632808" y="2651760"/>
            <a:ext cx="2926080" cy="2057400"/>
          </a:xfrm>
          <a:prstGeom prst="rect">
            <a:avLst/>
          </a:prstGeom>
          <a:noFill/>
          <a:ln/>
        </p:spPr>
        <p:txBody>
          <a:bodyPr wrap="square" lIns="0" tIns="0" rIns="0" bIns="0" rtlCol="0" anchor="t"/>
          <a:lstStyle/>
          <a:p>
            <a:pPr indent="0" marL="0">
              <a:lnSpc>
                <a:spcPts val="2100"/>
              </a:lnSpc>
              <a:buNone/>
            </a:pPr>
            <a:r>
              <a:rPr lang="en-US" sz="1400" dirty="0">
                <a:solidFill>
                  <a:srgbClr val="2E3440"/>
                </a:solidFill>
                <a:latin typeface="Meiryo UI" pitchFamily="34" charset="0"/>
                <a:ea typeface="Meiryo UI" pitchFamily="34" charset="-122"/>
                <a:cs typeface="Meiryo UI" pitchFamily="34" charset="-120"/>
              </a:rPr>
              <a:t>・支給日数が減り、お留守番が</a:t>
            </a:r>
            <a:endParaRPr lang="en-US" sz="1400" dirty="0"/>
          </a:p>
          <a:p>
            <a:pPr indent="0" marL="0">
              <a:lnSpc>
                <a:spcPts val="2100"/>
              </a:lnSpc>
              <a:buNone/>
            </a:pPr>
            <a:r>
              <a:rPr lang="en-US" sz="1400" dirty="0">
                <a:solidFill>
                  <a:srgbClr val="2E3440"/>
                </a:solidFill>
                <a:latin typeface="Meiryo UI" pitchFamily="34" charset="0"/>
                <a:ea typeface="Meiryo UI" pitchFamily="34" charset="-122"/>
                <a:cs typeface="Meiryo UI" pitchFamily="34" charset="-120"/>
              </a:rPr>
              <a:t>　できるか不安</a:t>
            </a:r>
            <a:endParaRPr lang="en-US" sz="1400" dirty="0"/>
          </a:p>
          <a:p>
            <a:pPr indent="0" marL="0">
              <a:lnSpc>
                <a:spcPts val="2100"/>
              </a:lnSpc>
              <a:buNone/>
            </a:pPr>
            <a:r>
              <a:rPr lang="en-US" sz="1400" dirty="0">
                <a:solidFill>
                  <a:srgbClr val="2E3440"/>
                </a:solidFill>
                <a:latin typeface="Meiryo UI" pitchFamily="34" charset="0"/>
                <a:ea typeface="Meiryo UI" pitchFamily="34" charset="-122"/>
                <a:cs typeface="Meiryo UI" pitchFamily="34" charset="-120"/>
              </a:rPr>
              <a:t>・次の行き場がすぐに見つからない</a:t>
            </a:r>
            <a:endParaRPr lang="en-US" sz="1400" dirty="0"/>
          </a:p>
          <a:p>
            <a:pPr indent="0" marL="0">
              <a:lnSpc>
                <a:spcPts val="2100"/>
              </a:lnSpc>
              <a:buNone/>
            </a:pPr>
            <a:r>
              <a:rPr lang="en-US" sz="1400" dirty="0">
                <a:solidFill>
                  <a:srgbClr val="2E3440"/>
                </a:solidFill>
                <a:latin typeface="Meiryo UI" pitchFamily="34" charset="0"/>
                <a:ea typeface="Meiryo UI" pitchFamily="34" charset="-122"/>
                <a:cs typeface="Meiryo UI" pitchFamily="34" charset="-120"/>
              </a:rPr>
              <a:t>・放デイ利用中を理由に、</a:t>
            </a:r>
            <a:endParaRPr lang="en-US" sz="1400" dirty="0"/>
          </a:p>
          <a:p>
            <a:pPr indent="0" marL="0">
              <a:lnSpc>
                <a:spcPts val="2100"/>
              </a:lnSpc>
              <a:buNone/>
            </a:pPr>
            <a:r>
              <a:rPr lang="en-US" sz="1400" dirty="0">
                <a:solidFill>
                  <a:srgbClr val="2E3440"/>
                </a:solidFill>
                <a:latin typeface="Meiryo UI" pitchFamily="34" charset="0"/>
                <a:ea typeface="Meiryo UI" pitchFamily="34" charset="-122"/>
                <a:cs typeface="Meiryo UI" pitchFamily="34" charset="-120"/>
              </a:rPr>
              <a:t>　児童クラブを断られた</a:t>
            </a:r>
            <a:endParaRPr lang="en-US" sz="1400" dirty="0"/>
          </a:p>
        </p:txBody>
      </p:sp>
      <p:sp>
        <p:nvSpPr>
          <p:cNvPr id="22" name="Shape 20"/>
          <p:cNvSpPr/>
          <p:nvPr/>
        </p:nvSpPr>
        <p:spPr>
          <a:xfrm>
            <a:off x="7918475" y="3104388"/>
            <a:ext cx="164592" cy="329184"/>
          </a:xfrm>
          <a:prstGeom prst="chevron">
            <a:avLst/>
          </a:prstGeom>
          <a:solidFill>
            <a:srgbClr val="C9CFDA"/>
          </a:solidFill>
          <a:ln w="6350">
            <a:solidFill>
              <a:srgbClr val="C9CFDA"/>
            </a:solidFill>
            <a:prstDash val="solid"/>
          </a:ln>
        </p:spPr>
      </p:sp>
      <p:sp>
        <p:nvSpPr>
          <p:cNvPr id="23" name="Shape 21"/>
          <p:cNvSpPr/>
          <p:nvPr/>
        </p:nvSpPr>
        <p:spPr>
          <a:xfrm>
            <a:off x="8168335" y="1645920"/>
            <a:ext cx="3474720" cy="3246120"/>
          </a:xfrm>
          <a:prstGeom prst="roundRect">
            <a:avLst>
              <a:gd name="adj" fmla="val 3944"/>
            </a:avLst>
          </a:prstGeom>
          <a:solidFill>
            <a:srgbClr val="F3F5F9"/>
          </a:solidFill>
          <a:ln w="6350">
            <a:solidFill>
              <a:srgbClr val="F3F5F9"/>
            </a:solidFill>
            <a:prstDash val="solid"/>
          </a:ln>
        </p:spPr>
      </p:sp>
      <p:sp>
        <p:nvSpPr>
          <p:cNvPr id="24" name="Shape 22"/>
          <p:cNvSpPr/>
          <p:nvPr/>
        </p:nvSpPr>
        <p:spPr>
          <a:xfrm>
            <a:off x="8442655" y="1920240"/>
            <a:ext cx="502920" cy="502920"/>
          </a:xfrm>
          <a:prstGeom prst="ellipse">
            <a:avLst/>
          </a:prstGeom>
          <a:solidFill>
            <a:srgbClr val="5DBB63"/>
          </a:solidFill>
          <a:ln w="6350">
            <a:solidFill>
              <a:srgbClr val="5DBB63"/>
            </a:solidFill>
            <a:prstDash val="solid"/>
          </a:ln>
        </p:spPr>
      </p:sp>
      <p:sp>
        <p:nvSpPr>
          <p:cNvPr id="25" name="Text 23"/>
          <p:cNvSpPr txBox="1"/>
          <p:nvPr/>
        </p:nvSpPr>
        <p:spPr>
          <a:xfrm>
            <a:off x="8442655" y="1920240"/>
            <a:ext cx="502920" cy="502920"/>
          </a:xfrm>
          <a:prstGeom prst="rect">
            <a:avLst/>
          </a:prstGeom>
          <a:noFill/>
          <a:ln/>
        </p:spPr>
        <p:txBody>
          <a:bodyPr wrap="square" lIns="0" tIns="0" rIns="0" bIns="0" rtlCol="0" anchor="ctr"/>
          <a:lstStyle/>
          <a:p>
            <a:pPr algn="ctr" indent="0" marL="0">
              <a:lnSpc>
                <a:spcPts val="1700"/>
              </a:lnSpc>
              <a:buNone/>
            </a:pPr>
            <a:r>
              <a:rPr lang="en-US" sz="1700" b="1" dirty="0">
                <a:solidFill>
                  <a:srgbClr val="2E3440"/>
                </a:solidFill>
                <a:latin typeface="Meiryo UI" pitchFamily="34" charset="0"/>
                <a:ea typeface="Meiryo UI" pitchFamily="34" charset="-122"/>
                <a:cs typeface="Meiryo UI" pitchFamily="34" charset="-120"/>
              </a:rPr>
              <a:t>3</a:t>
            </a:r>
            <a:endParaRPr lang="en-US" sz="1700" dirty="0"/>
          </a:p>
        </p:txBody>
      </p:sp>
      <p:sp>
        <p:nvSpPr>
          <p:cNvPr id="26" name="Text 24"/>
          <p:cNvSpPr txBox="1"/>
          <p:nvPr/>
        </p:nvSpPr>
        <p:spPr>
          <a:xfrm>
            <a:off x="9101023" y="1920240"/>
            <a:ext cx="2377440" cy="502920"/>
          </a:xfrm>
          <a:prstGeom prst="rect">
            <a:avLst/>
          </a:prstGeom>
          <a:noFill/>
          <a:ln/>
        </p:spPr>
        <p:txBody>
          <a:bodyPr wrap="square" lIns="0" tIns="0" rIns="0" bIns="0" rtlCol="0" anchor="ctr"/>
          <a:lstStyle/>
          <a:p>
            <a:pPr indent="0" marL="0">
              <a:lnSpc>
                <a:spcPts val="2090"/>
              </a:lnSpc>
              <a:buNone/>
            </a:pPr>
            <a:r>
              <a:rPr lang="en-US" sz="1900" b="1" dirty="0">
                <a:solidFill>
                  <a:srgbClr val="2E3440"/>
                </a:solidFill>
                <a:latin typeface="Meiryo UI" pitchFamily="34" charset="0"/>
                <a:ea typeface="Meiryo UI" pitchFamily="34" charset="-122"/>
                <a:cs typeface="Meiryo UI" pitchFamily="34" charset="-120"/>
              </a:rPr>
              <a:t>参入の機会</a:t>
            </a:r>
            <a:endParaRPr lang="en-US" sz="1900" dirty="0"/>
          </a:p>
        </p:txBody>
      </p:sp>
      <p:sp>
        <p:nvSpPr>
          <p:cNvPr id="27" name="Text 25"/>
          <p:cNvSpPr txBox="1"/>
          <p:nvPr/>
        </p:nvSpPr>
        <p:spPr>
          <a:xfrm>
            <a:off x="8442655" y="2651760"/>
            <a:ext cx="2926080" cy="2057400"/>
          </a:xfrm>
          <a:prstGeom prst="rect">
            <a:avLst/>
          </a:prstGeom>
          <a:noFill/>
          <a:ln/>
        </p:spPr>
        <p:txBody>
          <a:bodyPr wrap="square" lIns="0" tIns="0" rIns="0" bIns="0" rtlCol="0" anchor="t"/>
          <a:lstStyle/>
          <a:p>
            <a:pPr indent="0" marL="0">
              <a:lnSpc>
                <a:spcPts val="2100"/>
              </a:lnSpc>
              <a:buNone/>
            </a:pPr>
            <a:r>
              <a:rPr lang="en-US" sz="1400" dirty="0">
                <a:solidFill>
                  <a:srgbClr val="2E3440"/>
                </a:solidFill>
                <a:latin typeface="Meiryo UI" pitchFamily="34" charset="0"/>
                <a:ea typeface="Meiryo UI" pitchFamily="34" charset="-122"/>
                <a:cs typeface="Meiryo UI" pitchFamily="34" charset="-120"/>
              </a:rPr>
              <a:t>キャレオスには放課後</a:t>
            </a:r>
            <a:endParaRPr lang="en-US" sz="1400" dirty="0"/>
          </a:p>
          <a:p>
            <a:pPr indent="0" marL="0">
              <a:lnSpc>
                <a:spcPts val="2100"/>
              </a:lnSpc>
              <a:buNone/>
            </a:pPr>
            <a:r>
              <a:rPr lang="en-US" sz="1400" dirty="0">
                <a:solidFill>
                  <a:srgbClr val="2E3440"/>
                </a:solidFill>
                <a:latin typeface="Meiryo UI" pitchFamily="34" charset="0"/>
                <a:ea typeface="Meiryo UI" pitchFamily="34" charset="-122"/>
                <a:cs typeface="Meiryo UI" pitchFamily="34" charset="-120"/>
              </a:rPr>
              <a:t>児童クラブの委託事業がある。</a:t>
            </a:r>
            <a:endParaRPr lang="en-US" sz="1400" dirty="0"/>
          </a:p>
          <a:p>
            <a:pPr indent="0" marL="0">
              <a:lnSpc>
                <a:spcPts val="2100"/>
              </a:lnSpc>
              <a:buNone/>
            </a:pPr>
            <a:r>
              <a:rPr lang="en-US" sz="1400" dirty="0">
                <a:solidFill>
                  <a:srgbClr val="2E3440"/>
                </a:solidFill>
                <a:latin typeface="Meiryo UI" pitchFamily="34" charset="0"/>
                <a:ea typeface="Meiryo UI" pitchFamily="34" charset="-122"/>
                <a:cs typeface="Meiryo UI" pitchFamily="34" charset="-120"/>
              </a:rPr>
              <a:t>愛媛でも受け皿になれないか。</a:t>
            </a:r>
            <a:endParaRPr lang="en-US" sz="1400" dirty="0"/>
          </a:p>
        </p:txBody>
      </p:sp>
      <p:sp>
        <p:nvSpPr>
          <p:cNvPr id="28" name="Text 26"/>
          <p:cNvSpPr txBox="1"/>
          <p:nvPr/>
        </p:nvSpPr>
        <p:spPr>
          <a:xfrm>
            <a:off x="548640" y="5230368"/>
            <a:ext cx="11094415" cy="548640"/>
          </a:xfrm>
          <a:prstGeom prst="rect">
            <a:avLst/>
          </a:prstGeom>
          <a:noFill/>
          <a:ln/>
        </p:spPr>
        <p:txBody>
          <a:bodyPr wrap="square" lIns="0" tIns="0" rIns="0" bIns="0" rtlCol="0" anchor="ctr"/>
          <a:lstStyle/>
          <a:p>
            <a:pPr indent="0" marL="0">
              <a:lnSpc>
                <a:spcPts val="2600"/>
              </a:lnSpc>
              <a:buNone/>
            </a:pPr>
            <a:r>
              <a:rPr lang="en-US" sz="2000" b="1" dirty="0">
                <a:solidFill>
                  <a:srgbClr val="3A5BB8"/>
                </a:solidFill>
                <a:latin typeface="Meiryo UI" pitchFamily="34" charset="0"/>
                <a:ea typeface="Meiryo UI" pitchFamily="34" charset="-122"/>
                <a:cs typeface="Meiryo UI" pitchFamily="34" charset="-120"/>
              </a:rPr>
              <a:t>放デイだけでは支えきれない。地域の「放課後の受け皿」にキャレオスが。</a:t>
            </a:r>
            <a:endParaRPr lang="en-US" sz="2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118872" cy="118872"/>
          </a:xfrm>
          <a:prstGeom prst="ellipse">
            <a:avLst/>
          </a:prstGeom>
          <a:solidFill>
            <a:srgbClr val="E8505B"/>
          </a:solidFill>
          <a:ln w="6350">
            <a:solidFill>
              <a:srgbClr val="E8505B"/>
            </a:solidFill>
            <a:prstDash val="solid"/>
          </a:ln>
        </p:spPr>
      </p:sp>
      <p:sp>
        <p:nvSpPr>
          <p:cNvPr id="3" name="Shape 1"/>
          <p:cNvSpPr/>
          <p:nvPr/>
        </p:nvSpPr>
        <p:spPr>
          <a:xfrm>
            <a:off x="740664" y="457200"/>
            <a:ext cx="118872" cy="118872"/>
          </a:xfrm>
          <a:prstGeom prst="ellipse">
            <a:avLst/>
          </a:prstGeom>
          <a:solidFill>
            <a:srgbClr val="F39C33"/>
          </a:solidFill>
          <a:ln w="6350">
            <a:solidFill>
              <a:srgbClr val="F39C33"/>
            </a:solidFill>
            <a:prstDash val="solid"/>
          </a:ln>
        </p:spPr>
      </p:sp>
      <p:sp>
        <p:nvSpPr>
          <p:cNvPr id="4" name="Shape 2"/>
          <p:cNvSpPr/>
          <p:nvPr/>
        </p:nvSpPr>
        <p:spPr>
          <a:xfrm>
            <a:off x="932688" y="457200"/>
            <a:ext cx="118872" cy="118872"/>
          </a:xfrm>
          <a:prstGeom prst="ellipse">
            <a:avLst/>
          </a:prstGeom>
          <a:solidFill>
            <a:srgbClr val="F2C230"/>
          </a:solidFill>
          <a:ln w="6350">
            <a:solidFill>
              <a:srgbClr val="F2C230"/>
            </a:solidFill>
            <a:prstDash val="solid"/>
          </a:ln>
        </p:spPr>
      </p:sp>
      <p:sp>
        <p:nvSpPr>
          <p:cNvPr id="5" name="Shape 3"/>
          <p:cNvSpPr/>
          <p:nvPr/>
        </p:nvSpPr>
        <p:spPr>
          <a:xfrm>
            <a:off x="1124712" y="457200"/>
            <a:ext cx="118872" cy="118872"/>
          </a:xfrm>
          <a:prstGeom prst="ellipse">
            <a:avLst/>
          </a:prstGeom>
          <a:solidFill>
            <a:srgbClr val="5DBB63"/>
          </a:solidFill>
          <a:ln w="6350">
            <a:solidFill>
              <a:srgbClr val="5DBB63"/>
            </a:solidFill>
            <a:prstDash val="solid"/>
          </a:ln>
        </p:spPr>
      </p:sp>
      <p:sp>
        <p:nvSpPr>
          <p:cNvPr id="6" name="Shape 4"/>
          <p:cNvSpPr/>
          <p:nvPr/>
        </p:nvSpPr>
        <p:spPr>
          <a:xfrm>
            <a:off x="1316736" y="457200"/>
            <a:ext cx="118872" cy="118872"/>
          </a:xfrm>
          <a:prstGeom prst="ellipse">
            <a:avLst/>
          </a:prstGeom>
          <a:solidFill>
            <a:srgbClr val="3FA7D6"/>
          </a:solidFill>
          <a:ln w="6350">
            <a:solidFill>
              <a:srgbClr val="3FA7D6"/>
            </a:solidFill>
            <a:prstDash val="solid"/>
          </a:ln>
        </p:spPr>
      </p:sp>
      <p:sp>
        <p:nvSpPr>
          <p:cNvPr id="7" name="Shape 5"/>
          <p:cNvSpPr/>
          <p:nvPr/>
        </p:nvSpPr>
        <p:spPr>
          <a:xfrm>
            <a:off x="1508760" y="457200"/>
            <a:ext cx="118872" cy="118872"/>
          </a:xfrm>
          <a:prstGeom prst="ellipse">
            <a:avLst/>
          </a:prstGeom>
          <a:solidFill>
            <a:srgbClr val="4A6FC7"/>
          </a:solidFill>
          <a:ln w="6350">
            <a:solidFill>
              <a:srgbClr val="4A6FC7"/>
            </a:solidFill>
            <a:prstDash val="solid"/>
          </a:ln>
        </p:spPr>
      </p:sp>
      <p:sp>
        <p:nvSpPr>
          <p:cNvPr id="8" name="Shape 6"/>
          <p:cNvSpPr/>
          <p:nvPr/>
        </p:nvSpPr>
        <p:spPr>
          <a:xfrm>
            <a:off x="1700784" y="457200"/>
            <a:ext cx="118872" cy="118872"/>
          </a:xfrm>
          <a:prstGeom prst="ellipse">
            <a:avLst/>
          </a:prstGeom>
          <a:solidFill>
            <a:srgbClr val="9A6BC4"/>
          </a:solidFill>
          <a:ln w="6350">
            <a:solidFill>
              <a:srgbClr val="9A6BC4"/>
            </a:solidFill>
            <a:prstDash val="solid"/>
          </a:ln>
        </p:spPr>
      </p:sp>
      <p:sp>
        <p:nvSpPr>
          <p:cNvPr id="9" name="Text 7"/>
          <p:cNvSpPr txBox="1"/>
          <p:nvPr/>
        </p:nvSpPr>
        <p:spPr>
          <a:xfrm>
            <a:off x="548640" y="676656"/>
            <a:ext cx="10424160" cy="640080"/>
          </a:xfrm>
          <a:prstGeom prst="rect">
            <a:avLst/>
          </a:prstGeom>
          <a:noFill/>
          <a:ln/>
        </p:spPr>
        <p:txBody>
          <a:bodyPr wrap="square" lIns="0" tIns="0" rIns="0" bIns="0" rtlCol="0" anchor="t"/>
          <a:lstStyle/>
          <a:p>
            <a:pPr indent="0" marL="0">
              <a:lnSpc>
                <a:spcPts val="3900"/>
              </a:lnSpc>
              <a:buNone/>
            </a:pPr>
            <a:r>
              <a:rPr lang="en-US" sz="3000" b="1" dirty="0">
                <a:solidFill>
                  <a:srgbClr val="2E3440"/>
                </a:solidFill>
                <a:latin typeface="Meiryo UI" pitchFamily="34" charset="0"/>
                <a:ea typeface="Meiryo UI" pitchFamily="34" charset="-122"/>
                <a:cs typeface="Meiryo UI" pitchFamily="34" charset="-120"/>
              </a:rPr>
              <a:t>きっかけ ③　愛媛でナンバーワンになるために</a:t>
            </a:r>
            <a:endParaRPr lang="en-US" sz="3000" dirty="0"/>
          </a:p>
        </p:txBody>
      </p:sp>
      <p:sp>
        <p:nvSpPr>
          <p:cNvPr id="10" name="Text 8"/>
          <p:cNvSpPr txBox="1"/>
          <p:nvPr/>
        </p:nvSpPr>
        <p:spPr>
          <a:xfrm>
            <a:off x="11094415" y="6382512"/>
            <a:ext cx="548640" cy="274320"/>
          </a:xfrm>
          <a:prstGeom prst="rect">
            <a:avLst/>
          </a:prstGeom>
          <a:noFill/>
          <a:ln/>
        </p:spPr>
        <p:txBody>
          <a:bodyPr wrap="square" lIns="0" tIns="0" rIns="0" bIns="0" rtlCol="0" anchor="t"/>
          <a:lstStyle/>
          <a:p>
            <a:pPr algn="r" indent="0" marL="0">
              <a:lnSpc>
                <a:spcPts val="1430"/>
              </a:lnSpc>
              <a:buNone/>
            </a:pPr>
            <a:r>
              <a:rPr lang="en-US" sz="1100" dirty="0">
                <a:solidFill>
                  <a:srgbClr val="5B6472"/>
                </a:solidFill>
                <a:latin typeface="Meiryo UI" pitchFamily="34" charset="0"/>
                <a:ea typeface="Meiryo UI" pitchFamily="34" charset="-122"/>
                <a:cs typeface="Meiryo UI" pitchFamily="34" charset="-120"/>
              </a:rPr>
              <a:t>5</a:t>
            </a:r>
            <a:endParaRPr lang="en-US" sz="1100" dirty="0"/>
          </a:p>
        </p:txBody>
      </p:sp>
      <p:sp>
        <p:nvSpPr>
          <p:cNvPr id="11" name="Shape 9"/>
          <p:cNvSpPr/>
          <p:nvPr/>
        </p:nvSpPr>
        <p:spPr>
          <a:xfrm>
            <a:off x="548640" y="1645920"/>
            <a:ext cx="5394960" cy="3977640"/>
          </a:xfrm>
          <a:prstGeom prst="roundRect">
            <a:avLst>
              <a:gd name="adj" fmla="val 3218"/>
            </a:avLst>
          </a:prstGeom>
          <a:solidFill>
            <a:srgbClr val="F3F5F9"/>
          </a:solidFill>
          <a:ln w="6350">
            <a:solidFill>
              <a:srgbClr val="F3F5F9"/>
            </a:solidFill>
            <a:prstDash val="solid"/>
          </a:ln>
        </p:spPr>
      </p:sp>
      <p:sp>
        <p:nvSpPr>
          <p:cNvPr id="12" name="Text 10"/>
          <p:cNvSpPr txBox="1"/>
          <p:nvPr/>
        </p:nvSpPr>
        <p:spPr>
          <a:xfrm>
            <a:off x="868680" y="1920240"/>
            <a:ext cx="4754880" cy="411480"/>
          </a:xfrm>
          <a:prstGeom prst="rect">
            <a:avLst/>
          </a:prstGeom>
          <a:noFill/>
          <a:ln/>
        </p:spPr>
        <p:txBody>
          <a:bodyPr wrap="square" lIns="0" tIns="0" rIns="0" bIns="0" rtlCol="0" anchor="ctr"/>
          <a:lstStyle/>
          <a:p>
            <a:pPr indent="0" marL="0">
              <a:lnSpc>
                <a:spcPts val="2080"/>
              </a:lnSpc>
              <a:buNone/>
            </a:pPr>
            <a:r>
              <a:rPr lang="en-US" sz="1600" b="1" dirty="0">
                <a:solidFill>
                  <a:srgbClr val="2E3440"/>
                </a:solidFill>
                <a:latin typeface="Meiryo UI" pitchFamily="34" charset="0"/>
                <a:ea typeface="Meiryo UI" pitchFamily="34" charset="-122"/>
                <a:cs typeface="Meiryo UI" pitchFamily="34" charset="-120"/>
              </a:rPr>
              <a:t>愛媛の福祉を支える地域大手（例：来島会）</a:t>
            </a:r>
            <a:endParaRPr lang="en-US" sz="1600" dirty="0"/>
          </a:p>
        </p:txBody>
      </p:sp>
      <p:sp>
        <p:nvSpPr>
          <p:cNvPr id="13" name="Shape 11"/>
          <p:cNvSpPr/>
          <p:nvPr/>
        </p:nvSpPr>
        <p:spPr>
          <a:xfrm>
            <a:off x="868680" y="2560320"/>
            <a:ext cx="2240280" cy="548640"/>
          </a:xfrm>
          <a:prstGeom prst="roundRect">
            <a:avLst>
              <a:gd name="adj" fmla="val 50000"/>
            </a:avLst>
          </a:prstGeom>
          <a:solidFill>
            <a:srgbClr val="FFFFFF"/>
          </a:solidFill>
          <a:ln w="22225">
            <a:solidFill>
              <a:srgbClr val="F2C230"/>
            </a:solidFill>
            <a:prstDash val="solid"/>
          </a:ln>
        </p:spPr>
      </p:sp>
      <p:sp>
        <p:nvSpPr>
          <p:cNvPr id="14" name="Text 12"/>
          <p:cNvSpPr txBox="1"/>
          <p:nvPr/>
        </p:nvSpPr>
        <p:spPr>
          <a:xfrm>
            <a:off x="868680" y="2560320"/>
            <a:ext cx="2240280" cy="548640"/>
          </a:xfrm>
          <a:prstGeom prst="rect">
            <a:avLst/>
          </a:prstGeom>
          <a:noFill/>
          <a:ln/>
        </p:spPr>
        <p:txBody>
          <a:bodyPr wrap="square" lIns="0" tIns="0" rIns="0" bIns="0" rtlCol="0" anchor="ctr"/>
          <a:lstStyle/>
          <a:p>
            <a:pPr algn="ctr" indent="0" marL="0">
              <a:lnSpc>
                <a:spcPts val="1500"/>
              </a:lnSpc>
              <a:buNone/>
            </a:pPr>
            <a:r>
              <a:rPr lang="en-US" sz="1500" dirty="0">
                <a:solidFill>
                  <a:srgbClr val="2E3440"/>
                </a:solidFill>
                <a:latin typeface="Meiryo UI" pitchFamily="34" charset="0"/>
                <a:ea typeface="Meiryo UI" pitchFamily="34" charset="-122"/>
                <a:cs typeface="Meiryo UI" pitchFamily="34" charset="-120"/>
              </a:rPr>
              <a:t>児童発達支援</a:t>
            </a:r>
            <a:endParaRPr lang="en-US" sz="1500" dirty="0"/>
          </a:p>
        </p:txBody>
      </p:sp>
      <p:sp>
        <p:nvSpPr>
          <p:cNvPr id="15" name="Shape 13"/>
          <p:cNvSpPr/>
          <p:nvPr/>
        </p:nvSpPr>
        <p:spPr>
          <a:xfrm>
            <a:off x="3291840" y="2560320"/>
            <a:ext cx="2240280" cy="548640"/>
          </a:xfrm>
          <a:prstGeom prst="roundRect">
            <a:avLst>
              <a:gd name="adj" fmla="val 50000"/>
            </a:avLst>
          </a:prstGeom>
          <a:solidFill>
            <a:srgbClr val="FFFFFF"/>
          </a:solidFill>
          <a:ln w="22225">
            <a:solidFill>
              <a:srgbClr val="5DBB63"/>
            </a:solidFill>
            <a:prstDash val="solid"/>
          </a:ln>
        </p:spPr>
      </p:sp>
      <p:sp>
        <p:nvSpPr>
          <p:cNvPr id="16" name="Text 14"/>
          <p:cNvSpPr txBox="1"/>
          <p:nvPr/>
        </p:nvSpPr>
        <p:spPr>
          <a:xfrm>
            <a:off x="3291840" y="2560320"/>
            <a:ext cx="2240280" cy="548640"/>
          </a:xfrm>
          <a:prstGeom prst="rect">
            <a:avLst/>
          </a:prstGeom>
          <a:noFill/>
          <a:ln/>
        </p:spPr>
        <p:txBody>
          <a:bodyPr wrap="square" lIns="0" tIns="0" rIns="0" bIns="0" rtlCol="0" anchor="ctr"/>
          <a:lstStyle/>
          <a:p>
            <a:pPr algn="ctr" indent="0" marL="0">
              <a:lnSpc>
                <a:spcPts val="1500"/>
              </a:lnSpc>
              <a:buNone/>
            </a:pPr>
            <a:r>
              <a:rPr lang="en-US" sz="1500" dirty="0">
                <a:solidFill>
                  <a:srgbClr val="2E3440"/>
                </a:solidFill>
                <a:latin typeface="Meiryo UI" pitchFamily="34" charset="0"/>
                <a:ea typeface="Meiryo UI" pitchFamily="34" charset="-122"/>
                <a:cs typeface="Meiryo UI" pitchFamily="34" charset="-120"/>
              </a:rPr>
              <a:t>就労継続支援</a:t>
            </a:r>
            <a:endParaRPr lang="en-US" sz="1500" dirty="0"/>
          </a:p>
        </p:txBody>
      </p:sp>
      <p:sp>
        <p:nvSpPr>
          <p:cNvPr id="17" name="Shape 15"/>
          <p:cNvSpPr/>
          <p:nvPr/>
        </p:nvSpPr>
        <p:spPr>
          <a:xfrm>
            <a:off x="868680" y="3310128"/>
            <a:ext cx="2240280" cy="548640"/>
          </a:xfrm>
          <a:prstGeom prst="roundRect">
            <a:avLst>
              <a:gd name="adj" fmla="val 50000"/>
            </a:avLst>
          </a:prstGeom>
          <a:solidFill>
            <a:srgbClr val="FFFFFF"/>
          </a:solidFill>
          <a:ln w="22225">
            <a:solidFill>
              <a:srgbClr val="3FA7D6"/>
            </a:solidFill>
            <a:prstDash val="solid"/>
          </a:ln>
        </p:spPr>
      </p:sp>
      <p:sp>
        <p:nvSpPr>
          <p:cNvPr id="18" name="Text 16"/>
          <p:cNvSpPr txBox="1"/>
          <p:nvPr/>
        </p:nvSpPr>
        <p:spPr>
          <a:xfrm>
            <a:off x="868680" y="3310128"/>
            <a:ext cx="2240280" cy="548640"/>
          </a:xfrm>
          <a:prstGeom prst="rect">
            <a:avLst/>
          </a:prstGeom>
          <a:noFill/>
          <a:ln/>
        </p:spPr>
        <p:txBody>
          <a:bodyPr wrap="square" lIns="0" tIns="0" rIns="0" bIns="0" rtlCol="0" anchor="ctr"/>
          <a:lstStyle/>
          <a:p>
            <a:pPr algn="ctr" indent="0" marL="0">
              <a:lnSpc>
                <a:spcPts val="1500"/>
              </a:lnSpc>
              <a:buNone/>
            </a:pPr>
            <a:r>
              <a:rPr lang="en-US" sz="1500" dirty="0">
                <a:solidFill>
                  <a:srgbClr val="2E3440"/>
                </a:solidFill>
                <a:latin typeface="Meiryo UI" pitchFamily="34" charset="0"/>
                <a:ea typeface="Meiryo UI" pitchFamily="34" charset="-122"/>
                <a:cs typeface="Meiryo UI" pitchFamily="34" charset="-120"/>
              </a:rPr>
              <a:t>相談支援</a:t>
            </a:r>
            <a:endParaRPr lang="en-US" sz="1500" dirty="0"/>
          </a:p>
        </p:txBody>
      </p:sp>
      <p:sp>
        <p:nvSpPr>
          <p:cNvPr id="19" name="Shape 17"/>
          <p:cNvSpPr/>
          <p:nvPr/>
        </p:nvSpPr>
        <p:spPr>
          <a:xfrm>
            <a:off x="3291840" y="3310128"/>
            <a:ext cx="2240280" cy="548640"/>
          </a:xfrm>
          <a:prstGeom prst="roundRect">
            <a:avLst>
              <a:gd name="adj" fmla="val 50000"/>
            </a:avLst>
          </a:prstGeom>
          <a:solidFill>
            <a:srgbClr val="FFFFFF"/>
          </a:solidFill>
          <a:ln w="22225">
            <a:solidFill>
              <a:srgbClr val="4A6FC7"/>
            </a:solidFill>
            <a:prstDash val="solid"/>
          </a:ln>
        </p:spPr>
      </p:sp>
      <p:sp>
        <p:nvSpPr>
          <p:cNvPr id="20" name="Text 18"/>
          <p:cNvSpPr txBox="1"/>
          <p:nvPr/>
        </p:nvSpPr>
        <p:spPr>
          <a:xfrm>
            <a:off x="3291840" y="3310128"/>
            <a:ext cx="2240280" cy="548640"/>
          </a:xfrm>
          <a:prstGeom prst="rect">
            <a:avLst/>
          </a:prstGeom>
          <a:noFill/>
          <a:ln/>
        </p:spPr>
        <p:txBody>
          <a:bodyPr wrap="square" lIns="0" tIns="0" rIns="0" bIns="0" rtlCol="0" anchor="ctr"/>
          <a:lstStyle/>
          <a:p>
            <a:pPr algn="ctr" indent="0" marL="0">
              <a:lnSpc>
                <a:spcPts val="1500"/>
              </a:lnSpc>
              <a:buNone/>
            </a:pPr>
            <a:r>
              <a:rPr lang="en-US" sz="1500" dirty="0">
                <a:solidFill>
                  <a:srgbClr val="2E3440"/>
                </a:solidFill>
                <a:latin typeface="Meiryo UI" pitchFamily="34" charset="0"/>
                <a:ea typeface="Meiryo UI" pitchFamily="34" charset="-122"/>
                <a:cs typeface="Meiryo UI" pitchFamily="34" charset="-120"/>
              </a:rPr>
              <a:t>グループホーム</a:t>
            </a:r>
            <a:endParaRPr lang="en-US" sz="1500" dirty="0"/>
          </a:p>
        </p:txBody>
      </p:sp>
      <p:sp>
        <p:nvSpPr>
          <p:cNvPr id="21" name="Shape 19"/>
          <p:cNvSpPr/>
          <p:nvPr/>
        </p:nvSpPr>
        <p:spPr>
          <a:xfrm>
            <a:off x="868680" y="4059936"/>
            <a:ext cx="2240280" cy="548640"/>
          </a:xfrm>
          <a:prstGeom prst="roundRect">
            <a:avLst>
              <a:gd name="adj" fmla="val 50000"/>
            </a:avLst>
          </a:prstGeom>
          <a:solidFill>
            <a:srgbClr val="FFFFFF"/>
          </a:solidFill>
          <a:ln w="22225">
            <a:solidFill>
              <a:srgbClr val="9A6BC4"/>
            </a:solidFill>
            <a:prstDash val="solid"/>
          </a:ln>
        </p:spPr>
      </p:sp>
      <p:sp>
        <p:nvSpPr>
          <p:cNvPr id="22" name="Text 20"/>
          <p:cNvSpPr txBox="1"/>
          <p:nvPr/>
        </p:nvSpPr>
        <p:spPr>
          <a:xfrm>
            <a:off x="868680" y="4059936"/>
            <a:ext cx="2240280" cy="548640"/>
          </a:xfrm>
          <a:prstGeom prst="rect">
            <a:avLst/>
          </a:prstGeom>
          <a:noFill/>
          <a:ln/>
        </p:spPr>
        <p:txBody>
          <a:bodyPr wrap="square" lIns="0" tIns="0" rIns="0" bIns="0" rtlCol="0" anchor="ctr"/>
          <a:lstStyle/>
          <a:p>
            <a:pPr algn="ctr" indent="0" marL="0">
              <a:lnSpc>
                <a:spcPts val="1500"/>
              </a:lnSpc>
              <a:buNone/>
            </a:pPr>
            <a:r>
              <a:rPr lang="en-US" sz="1500" dirty="0">
                <a:solidFill>
                  <a:srgbClr val="2E3440"/>
                </a:solidFill>
                <a:latin typeface="Meiryo UI" pitchFamily="34" charset="0"/>
                <a:ea typeface="Meiryo UI" pitchFamily="34" charset="-122"/>
                <a:cs typeface="Meiryo UI" pitchFamily="34" charset="-120"/>
              </a:rPr>
              <a:t>介護</a:t>
            </a:r>
            <a:endParaRPr lang="en-US" sz="1500" dirty="0"/>
          </a:p>
        </p:txBody>
      </p:sp>
      <p:sp>
        <p:nvSpPr>
          <p:cNvPr id="23" name="Text 21"/>
          <p:cNvSpPr txBox="1"/>
          <p:nvPr/>
        </p:nvSpPr>
        <p:spPr>
          <a:xfrm>
            <a:off x="868680" y="4919472"/>
            <a:ext cx="4754880" cy="320040"/>
          </a:xfrm>
          <a:prstGeom prst="rect">
            <a:avLst/>
          </a:prstGeom>
          <a:noFill/>
          <a:ln/>
        </p:spPr>
        <p:txBody>
          <a:bodyPr wrap="square" lIns="0" tIns="0" rIns="0" bIns="0" rtlCol="0" anchor="t"/>
          <a:lstStyle/>
          <a:p>
            <a:pPr indent="0" marL="0">
              <a:lnSpc>
                <a:spcPts val="1690"/>
              </a:lnSpc>
              <a:buNone/>
            </a:pPr>
            <a:r>
              <a:rPr lang="en-US" sz="1300" dirty="0">
                <a:solidFill>
                  <a:srgbClr val="5B6472"/>
                </a:solidFill>
                <a:latin typeface="Meiryo UI" pitchFamily="34" charset="0"/>
                <a:ea typeface="Meiryo UI" pitchFamily="34" charset="-122"/>
                <a:cs typeface="Meiryo UI" pitchFamily="34" charset="-120"/>
              </a:rPr>
              <a:t>ライフステージを通して多数展開</a:t>
            </a:r>
            <a:endParaRPr lang="en-US" sz="1300" dirty="0"/>
          </a:p>
        </p:txBody>
      </p:sp>
      <p:sp>
        <p:nvSpPr>
          <p:cNvPr id="24" name="Text 22"/>
          <p:cNvSpPr txBox="1"/>
          <p:nvPr/>
        </p:nvSpPr>
        <p:spPr>
          <a:xfrm>
            <a:off x="6309360" y="1691640"/>
            <a:ext cx="5333695" cy="411480"/>
          </a:xfrm>
          <a:prstGeom prst="rect">
            <a:avLst/>
          </a:prstGeom>
          <a:noFill/>
          <a:ln/>
        </p:spPr>
        <p:txBody>
          <a:bodyPr wrap="square" lIns="0" tIns="0" rIns="0" bIns="0" rtlCol="0" anchor="ctr"/>
          <a:lstStyle/>
          <a:p>
            <a:pPr indent="0" marL="0">
              <a:lnSpc>
                <a:spcPts val="2470"/>
              </a:lnSpc>
              <a:buNone/>
            </a:pPr>
            <a:r>
              <a:rPr lang="en-US" sz="1900" b="1" dirty="0">
                <a:solidFill>
                  <a:srgbClr val="2E3440"/>
                </a:solidFill>
                <a:latin typeface="Meiryo UI" pitchFamily="34" charset="0"/>
                <a:ea typeface="Meiryo UI" pitchFamily="34" charset="-122"/>
                <a:cs typeface="Meiryo UI" pitchFamily="34" charset="-120"/>
              </a:rPr>
              <a:t>10年後・20年後を見据えると</a:t>
            </a:r>
            <a:endParaRPr lang="en-US" sz="1900" dirty="0"/>
          </a:p>
        </p:txBody>
      </p:sp>
      <p:sp>
        <p:nvSpPr>
          <p:cNvPr id="25" name="Shape 23"/>
          <p:cNvSpPr/>
          <p:nvPr/>
        </p:nvSpPr>
        <p:spPr>
          <a:xfrm>
            <a:off x="6309360" y="2496312"/>
            <a:ext cx="237744" cy="237744"/>
          </a:xfrm>
          <a:prstGeom prst="ellipse">
            <a:avLst/>
          </a:prstGeom>
          <a:solidFill>
            <a:srgbClr val="E8505B"/>
          </a:solidFill>
          <a:ln w="6350">
            <a:solidFill>
              <a:srgbClr val="E8505B"/>
            </a:solidFill>
            <a:prstDash val="solid"/>
          </a:ln>
        </p:spPr>
      </p:sp>
      <p:sp>
        <p:nvSpPr>
          <p:cNvPr id="26" name="Text 24"/>
          <p:cNvSpPr txBox="1"/>
          <p:nvPr/>
        </p:nvSpPr>
        <p:spPr>
          <a:xfrm>
            <a:off x="6720840" y="2377440"/>
            <a:ext cx="4922215" cy="475488"/>
          </a:xfrm>
          <a:prstGeom prst="rect">
            <a:avLst/>
          </a:prstGeom>
          <a:noFill/>
          <a:ln/>
        </p:spPr>
        <p:txBody>
          <a:bodyPr wrap="square" lIns="0" tIns="0" rIns="0" bIns="0" rtlCol="0" anchor="ctr"/>
          <a:lstStyle/>
          <a:p>
            <a:pPr indent="0" marL="0">
              <a:lnSpc>
                <a:spcPts val="1920"/>
              </a:lnSpc>
              <a:buNone/>
            </a:pPr>
            <a:r>
              <a:rPr lang="en-US" sz="1600" dirty="0">
                <a:solidFill>
                  <a:srgbClr val="2E3440"/>
                </a:solidFill>
                <a:latin typeface="Meiryo UI" pitchFamily="34" charset="0"/>
                <a:ea typeface="Meiryo UI" pitchFamily="34" charset="-122"/>
                <a:cs typeface="Meiryo UI" pitchFamily="34" charset="-120"/>
              </a:rPr>
              <a:t>総量規制のはじまり</a:t>
            </a:r>
            <a:endParaRPr lang="en-US" sz="1600" dirty="0"/>
          </a:p>
        </p:txBody>
      </p:sp>
      <p:sp>
        <p:nvSpPr>
          <p:cNvPr id="27" name="Shape 25"/>
          <p:cNvSpPr/>
          <p:nvPr/>
        </p:nvSpPr>
        <p:spPr>
          <a:xfrm>
            <a:off x="6309360" y="3209544"/>
            <a:ext cx="237744" cy="237744"/>
          </a:xfrm>
          <a:prstGeom prst="ellipse">
            <a:avLst/>
          </a:prstGeom>
          <a:solidFill>
            <a:srgbClr val="F39C33"/>
          </a:solidFill>
          <a:ln w="6350">
            <a:solidFill>
              <a:srgbClr val="F39C33"/>
            </a:solidFill>
            <a:prstDash val="solid"/>
          </a:ln>
        </p:spPr>
      </p:sp>
      <p:sp>
        <p:nvSpPr>
          <p:cNvPr id="28" name="Text 26"/>
          <p:cNvSpPr txBox="1"/>
          <p:nvPr/>
        </p:nvSpPr>
        <p:spPr>
          <a:xfrm>
            <a:off x="6720840" y="3090672"/>
            <a:ext cx="4922215" cy="475488"/>
          </a:xfrm>
          <a:prstGeom prst="rect">
            <a:avLst/>
          </a:prstGeom>
          <a:noFill/>
          <a:ln/>
        </p:spPr>
        <p:txBody>
          <a:bodyPr wrap="square" lIns="0" tIns="0" rIns="0" bIns="0" rtlCol="0" anchor="ctr"/>
          <a:lstStyle/>
          <a:p>
            <a:pPr indent="0" marL="0">
              <a:lnSpc>
                <a:spcPts val="1920"/>
              </a:lnSpc>
              <a:buNone/>
            </a:pPr>
            <a:r>
              <a:rPr lang="en-US" sz="1600" dirty="0">
                <a:solidFill>
                  <a:srgbClr val="2E3440"/>
                </a:solidFill>
                <a:latin typeface="Meiryo UI" pitchFamily="34" charset="0"/>
                <a:ea typeface="Meiryo UI" pitchFamily="34" charset="-122"/>
                <a:cs typeface="Meiryo UI" pitchFamily="34" charset="-120"/>
              </a:rPr>
              <a:t>人口減少</a:t>
            </a:r>
            <a:endParaRPr lang="en-US" sz="1600" dirty="0"/>
          </a:p>
        </p:txBody>
      </p:sp>
      <p:sp>
        <p:nvSpPr>
          <p:cNvPr id="29" name="Shape 27"/>
          <p:cNvSpPr/>
          <p:nvPr/>
        </p:nvSpPr>
        <p:spPr>
          <a:xfrm>
            <a:off x="6309360" y="3922776"/>
            <a:ext cx="237744" cy="237744"/>
          </a:xfrm>
          <a:prstGeom prst="ellipse">
            <a:avLst/>
          </a:prstGeom>
          <a:solidFill>
            <a:srgbClr val="5DBB63"/>
          </a:solidFill>
          <a:ln w="6350">
            <a:solidFill>
              <a:srgbClr val="5DBB63"/>
            </a:solidFill>
            <a:prstDash val="solid"/>
          </a:ln>
        </p:spPr>
      </p:sp>
      <p:sp>
        <p:nvSpPr>
          <p:cNvPr id="30" name="Text 28"/>
          <p:cNvSpPr txBox="1"/>
          <p:nvPr/>
        </p:nvSpPr>
        <p:spPr>
          <a:xfrm>
            <a:off x="6720840" y="3803904"/>
            <a:ext cx="4922215" cy="475488"/>
          </a:xfrm>
          <a:prstGeom prst="rect">
            <a:avLst/>
          </a:prstGeom>
          <a:noFill/>
          <a:ln/>
        </p:spPr>
        <p:txBody>
          <a:bodyPr wrap="square" lIns="0" tIns="0" rIns="0" bIns="0" rtlCol="0" anchor="ctr"/>
          <a:lstStyle/>
          <a:p>
            <a:pPr indent="0" marL="0">
              <a:lnSpc>
                <a:spcPts val="1920"/>
              </a:lnSpc>
              <a:buNone/>
            </a:pPr>
            <a:r>
              <a:rPr lang="en-US" sz="1600" dirty="0">
                <a:solidFill>
                  <a:srgbClr val="2E3440"/>
                </a:solidFill>
                <a:latin typeface="Meiryo UI" pitchFamily="34" charset="0"/>
                <a:ea typeface="Meiryo UI" pitchFamily="34" charset="-122"/>
                <a:cs typeface="Meiryo UI" pitchFamily="34" charset="-120"/>
              </a:rPr>
              <a:t>「選ばれ続ける」ための、地域に根差した福祉</a:t>
            </a:r>
            <a:endParaRPr lang="en-US" sz="1600" dirty="0"/>
          </a:p>
        </p:txBody>
      </p:sp>
      <p:sp>
        <p:nvSpPr>
          <p:cNvPr id="31" name="Text 29"/>
          <p:cNvSpPr txBox="1"/>
          <p:nvPr/>
        </p:nvSpPr>
        <p:spPr>
          <a:xfrm>
            <a:off x="6309360" y="4526280"/>
            <a:ext cx="5333695" cy="1097280"/>
          </a:xfrm>
          <a:prstGeom prst="rect">
            <a:avLst/>
          </a:prstGeom>
          <a:noFill/>
          <a:ln/>
        </p:spPr>
        <p:txBody>
          <a:bodyPr wrap="square" lIns="0" tIns="0" rIns="0" bIns="0" rtlCol="0" anchor="ctr"/>
          <a:lstStyle/>
          <a:p>
            <a:pPr indent="0" marL="0">
              <a:lnSpc>
                <a:spcPts val="3110"/>
              </a:lnSpc>
              <a:buNone/>
            </a:pPr>
            <a:r>
              <a:rPr lang="en-US" sz="2300" b="1" dirty="0">
                <a:solidFill>
                  <a:srgbClr val="3A5BB8"/>
                </a:solidFill>
                <a:latin typeface="Meiryo UI" pitchFamily="34" charset="0"/>
                <a:ea typeface="Meiryo UI" pitchFamily="34" charset="-122"/>
                <a:cs typeface="Meiryo UI" pitchFamily="34" charset="-120"/>
              </a:rPr>
              <a:t>同等、それ以上の</a:t>
            </a:r>
            <a:endParaRPr lang="en-US" sz="2300" dirty="0"/>
          </a:p>
          <a:p>
            <a:pPr indent="0" marL="0">
              <a:lnSpc>
                <a:spcPts val="3110"/>
              </a:lnSpc>
              <a:buNone/>
            </a:pPr>
            <a:r>
              <a:rPr lang="en-US" sz="2300" b="1" dirty="0">
                <a:solidFill>
                  <a:srgbClr val="3A5BB8"/>
                </a:solidFill>
                <a:latin typeface="Meiryo UI" pitchFamily="34" charset="0"/>
                <a:ea typeface="Meiryo UI" pitchFamily="34" charset="-122"/>
                <a:cs typeface="Meiryo UI" pitchFamily="34" charset="-120"/>
              </a:rPr>
              <a:t>トータルサポートが必要。</a:t>
            </a:r>
            <a:endParaRPr lang="en-US" sz="2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118872" cy="118872"/>
          </a:xfrm>
          <a:prstGeom prst="ellipse">
            <a:avLst/>
          </a:prstGeom>
          <a:solidFill>
            <a:srgbClr val="E8505B"/>
          </a:solidFill>
          <a:ln w="6350">
            <a:solidFill>
              <a:srgbClr val="E8505B"/>
            </a:solidFill>
            <a:prstDash val="solid"/>
          </a:ln>
        </p:spPr>
      </p:sp>
      <p:sp>
        <p:nvSpPr>
          <p:cNvPr id="3" name="Shape 1"/>
          <p:cNvSpPr/>
          <p:nvPr/>
        </p:nvSpPr>
        <p:spPr>
          <a:xfrm>
            <a:off x="740664" y="457200"/>
            <a:ext cx="118872" cy="118872"/>
          </a:xfrm>
          <a:prstGeom prst="ellipse">
            <a:avLst/>
          </a:prstGeom>
          <a:solidFill>
            <a:srgbClr val="F39C33"/>
          </a:solidFill>
          <a:ln w="6350">
            <a:solidFill>
              <a:srgbClr val="F39C33"/>
            </a:solidFill>
            <a:prstDash val="solid"/>
          </a:ln>
        </p:spPr>
      </p:sp>
      <p:sp>
        <p:nvSpPr>
          <p:cNvPr id="4" name="Shape 2"/>
          <p:cNvSpPr/>
          <p:nvPr/>
        </p:nvSpPr>
        <p:spPr>
          <a:xfrm>
            <a:off x="932688" y="457200"/>
            <a:ext cx="118872" cy="118872"/>
          </a:xfrm>
          <a:prstGeom prst="ellipse">
            <a:avLst/>
          </a:prstGeom>
          <a:solidFill>
            <a:srgbClr val="F2C230"/>
          </a:solidFill>
          <a:ln w="6350">
            <a:solidFill>
              <a:srgbClr val="F2C230"/>
            </a:solidFill>
            <a:prstDash val="solid"/>
          </a:ln>
        </p:spPr>
      </p:sp>
      <p:sp>
        <p:nvSpPr>
          <p:cNvPr id="5" name="Shape 3"/>
          <p:cNvSpPr/>
          <p:nvPr/>
        </p:nvSpPr>
        <p:spPr>
          <a:xfrm>
            <a:off x="1124712" y="457200"/>
            <a:ext cx="118872" cy="118872"/>
          </a:xfrm>
          <a:prstGeom prst="ellipse">
            <a:avLst/>
          </a:prstGeom>
          <a:solidFill>
            <a:srgbClr val="5DBB63"/>
          </a:solidFill>
          <a:ln w="6350">
            <a:solidFill>
              <a:srgbClr val="5DBB63"/>
            </a:solidFill>
            <a:prstDash val="solid"/>
          </a:ln>
        </p:spPr>
      </p:sp>
      <p:sp>
        <p:nvSpPr>
          <p:cNvPr id="6" name="Shape 4"/>
          <p:cNvSpPr/>
          <p:nvPr/>
        </p:nvSpPr>
        <p:spPr>
          <a:xfrm>
            <a:off x="1316736" y="457200"/>
            <a:ext cx="118872" cy="118872"/>
          </a:xfrm>
          <a:prstGeom prst="ellipse">
            <a:avLst/>
          </a:prstGeom>
          <a:solidFill>
            <a:srgbClr val="3FA7D6"/>
          </a:solidFill>
          <a:ln w="6350">
            <a:solidFill>
              <a:srgbClr val="3FA7D6"/>
            </a:solidFill>
            <a:prstDash val="solid"/>
          </a:ln>
        </p:spPr>
      </p:sp>
      <p:sp>
        <p:nvSpPr>
          <p:cNvPr id="7" name="Shape 5"/>
          <p:cNvSpPr/>
          <p:nvPr/>
        </p:nvSpPr>
        <p:spPr>
          <a:xfrm>
            <a:off x="1508760" y="457200"/>
            <a:ext cx="118872" cy="118872"/>
          </a:xfrm>
          <a:prstGeom prst="ellipse">
            <a:avLst/>
          </a:prstGeom>
          <a:solidFill>
            <a:srgbClr val="4A6FC7"/>
          </a:solidFill>
          <a:ln w="6350">
            <a:solidFill>
              <a:srgbClr val="4A6FC7"/>
            </a:solidFill>
            <a:prstDash val="solid"/>
          </a:ln>
        </p:spPr>
      </p:sp>
      <p:sp>
        <p:nvSpPr>
          <p:cNvPr id="8" name="Shape 6"/>
          <p:cNvSpPr/>
          <p:nvPr/>
        </p:nvSpPr>
        <p:spPr>
          <a:xfrm>
            <a:off x="1700784" y="457200"/>
            <a:ext cx="118872" cy="118872"/>
          </a:xfrm>
          <a:prstGeom prst="ellipse">
            <a:avLst/>
          </a:prstGeom>
          <a:solidFill>
            <a:srgbClr val="9A6BC4"/>
          </a:solidFill>
          <a:ln w="6350">
            <a:solidFill>
              <a:srgbClr val="9A6BC4"/>
            </a:solidFill>
            <a:prstDash val="solid"/>
          </a:ln>
        </p:spPr>
      </p:sp>
      <p:sp>
        <p:nvSpPr>
          <p:cNvPr id="9" name="Text 7"/>
          <p:cNvSpPr txBox="1"/>
          <p:nvPr/>
        </p:nvSpPr>
        <p:spPr>
          <a:xfrm>
            <a:off x="548640" y="676656"/>
            <a:ext cx="10424160" cy="640080"/>
          </a:xfrm>
          <a:prstGeom prst="rect">
            <a:avLst/>
          </a:prstGeom>
          <a:noFill/>
          <a:ln/>
        </p:spPr>
        <p:txBody>
          <a:bodyPr wrap="square" lIns="0" tIns="0" rIns="0" bIns="0" rtlCol="0" anchor="t"/>
          <a:lstStyle/>
          <a:p>
            <a:pPr indent="0" marL="0">
              <a:lnSpc>
                <a:spcPts val="3900"/>
              </a:lnSpc>
              <a:buNone/>
            </a:pPr>
            <a:r>
              <a:rPr lang="en-US" sz="3000" b="1" dirty="0">
                <a:solidFill>
                  <a:srgbClr val="2E3440"/>
                </a:solidFill>
                <a:latin typeface="Meiryo UI" pitchFamily="34" charset="0"/>
                <a:ea typeface="Meiryo UI" pitchFamily="34" charset="-122"/>
                <a:cs typeface="Meiryo UI" pitchFamily="34" charset="-120"/>
              </a:rPr>
              <a:t>クロスボーダーで関わりたい部署</a:t>
            </a:r>
            <a:endParaRPr lang="en-US" sz="3000" dirty="0"/>
          </a:p>
        </p:txBody>
      </p:sp>
      <p:sp>
        <p:nvSpPr>
          <p:cNvPr id="10" name="Text 8"/>
          <p:cNvSpPr txBox="1"/>
          <p:nvPr/>
        </p:nvSpPr>
        <p:spPr>
          <a:xfrm>
            <a:off x="11094415" y="6382512"/>
            <a:ext cx="548640" cy="274320"/>
          </a:xfrm>
          <a:prstGeom prst="rect">
            <a:avLst/>
          </a:prstGeom>
          <a:noFill/>
          <a:ln/>
        </p:spPr>
        <p:txBody>
          <a:bodyPr wrap="square" lIns="0" tIns="0" rIns="0" bIns="0" rtlCol="0" anchor="t"/>
          <a:lstStyle/>
          <a:p>
            <a:pPr algn="r" indent="0" marL="0">
              <a:lnSpc>
                <a:spcPts val="1430"/>
              </a:lnSpc>
              <a:buNone/>
            </a:pPr>
            <a:r>
              <a:rPr lang="en-US" sz="1100" dirty="0">
                <a:solidFill>
                  <a:srgbClr val="5B6472"/>
                </a:solidFill>
                <a:latin typeface="Meiryo UI" pitchFamily="34" charset="0"/>
                <a:ea typeface="Meiryo UI" pitchFamily="34" charset="-122"/>
                <a:cs typeface="Meiryo UI" pitchFamily="34" charset="-120"/>
              </a:rPr>
              <a:t>6</a:t>
            </a:r>
            <a:endParaRPr lang="en-US" sz="1100" dirty="0"/>
          </a:p>
        </p:txBody>
      </p:sp>
      <p:sp>
        <p:nvSpPr>
          <p:cNvPr id="11" name="Text 9"/>
          <p:cNvSpPr txBox="1"/>
          <p:nvPr/>
        </p:nvSpPr>
        <p:spPr>
          <a:xfrm>
            <a:off x="548640" y="1554480"/>
            <a:ext cx="11094415" cy="411480"/>
          </a:xfrm>
          <a:prstGeom prst="rect">
            <a:avLst/>
          </a:prstGeom>
          <a:noFill/>
          <a:ln/>
        </p:spPr>
        <p:txBody>
          <a:bodyPr wrap="square" lIns="0" tIns="0" rIns="0" bIns="0" rtlCol="0" anchor="ctr"/>
          <a:lstStyle/>
          <a:p>
            <a:pPr indent="0" marL="0">
              <a:lnSpc>
                <a:spcPts val="2080"/>
              </a:lnSpc>
              <a:buNone/>
            </a:pPr>
            <a:r>
              <a:rPr lang="en-US" sz="1600" dirty="0">
                <a:solidFill>
                  <a:srgbClr val="5B6472"/>
                </a:solidFill>
                <a:latin typeface="Meiryo UI" pitchFamily="34" charset="0"/>
                <a:ea typeface="Meiryo UI" pitchFamily="34" charset="-122"/>
                <a:cs typeface="Meiryo UI" pitchFamily="34" charset="-120"/>
              </a:rPr>
              <a:t>愛媛などで福祉施設を広げるための「知識」と「動き方」を身につける</a:t>
            </a:r>
            <a:endParaRPr lang="en-US" sz="1600" dirty="0"/>
          </a:p>
        </p:txBody>
      </p:sp>
      <p:sp>
        <p:nvSpPr>
          <p:cNvPr id="12" name="Shape 10"/>
          <p:cNvSpPr/>
          <p:nvPr/>
        </p:nvSpPr>
        <p:spPr>
          <a:xfrm>
            <a:off x="548640" y="2103120"/>
            <a:ext cx="5396332" cy="3108960"/>
          </a:xfrm>
          <a:prstGeom prst="roundRect">
            <a:avLst>
              <a:gd name="adj" fmla="val 4118"/>
            </a:avLst>
          </a:prstGeom>
          <a:solidFill>
            <a:srgbClr val="F3F5F9"/>
          </a:solidFill>
          <a:ln w="6350">
            <a:solidFill>
              <a:srgbClr val="F3F5F9"/>
            </a:solidFill>
            <a:prstDash val="solid"/>
          </a:ln>
        </p:spPr>
      </p:sp>
      <p:sp>
        <p:nvSpPr>
          <p:cNvPr id="13" name="Shape 11"/>
          <p:cNvSpPr/>
          <p:nvPr/>
        </p:nvSpPr>
        <p:spPr>
          <a:xfrm>
            <a:off x="868680" y="2395728"/>
            <a:ext cx="658368" cy="658368"/>
          </a:xfrm>
          <a:prstGeom prst="ellipse">
            <a:avLst/>
          </a:prstGeom>
          <a:solidFill>
            <a:srgbClr val="5DBB63"/>
          </a:solidFill>
          <a:ln w="6350">
            <a:solidFill>
              <a:srgbClr val="5DBB63"/>
            </a:solidFill>
            <a:prstDash val="solid"/>
          </a:ln>
        </p:spPr>
      </p:sp>
      <p:pic>
        <p:nvPicPr>
          <p:cNvPr id="14" name="Image 0" descr="preencoded.png">    </p:cNvPr>
          <p:cNvPicPr>
            <a:picLocks noChangeAspect="1"/>
          </p:cNvPicPr>
          <p:nvPr/>
        </p:nvPicPr>
        <p:blipFill>
          <a:blip r:embed="rId1"/>
          <a:stretch>
            <a:fillRect/>
          </a:stretch>
        </p:blipFill>
        <p:spPr>
          <a:xfrm>
            <a:off x="1026688" y="2553736"/>
            <a:ext cx="342351" cy="342351"/>
          </a:xfrm>
          <a:prstGeom prst="rect">
            <a:avLst/>
          </a:prstGeom>
        </p:spPr>
      </p:pic>
      <p:sp>
        <p:nvSpPr>
          <p:cNvPr id="15" name="Text 12"/>
          <p:cNvSpPr txBox="1"/>
          <p:nvPr/>
        </p:nvSpPr>
        <p:spPr>
          <a:xfrm>
            <a:off x="1737360" y="2377440"/>
            <a:ext cx="4024732" cy="292608"/>
          </a:xfrm>
          <a:prstGeom prst="rect">
            <a:avLst/>
          </a:prstGeom>
          <a:noFill/>
          <a:ln/>
        </p:spPr>
        <p:txBody>
          <a:bodyPr wrap="square" lIns="0" tIns="0" rIns="0" bIns="0" rtlCol="0" anchor="t"/>
          <a:lstStyle/>
          <a:p>
            <a:pPr indent="0" marL="0">
              <a:lnSpc>
                <a:spcPts val="1690"/>
              </a:lnSpc>
              <a:buNone/>
            </a:pPr>
            <a:r>
              <a:rPr lang="en-US" sz="1300" dirty="0">
                <a:solidFill>
                  <a:srgbClr val="5B6472"/>
                </a:solidFill>
                <a:latin typeface="Meiryo UI" pitchFamily="34" charset="0"/>
                <a:ea typeface="Meiryo UI" pitchFamily="34" charset="-122"/>
                <a:cs typeface="Meiryo UI" pitchFamily="34" charset="-120"/>
              </a:rPr>
              <a:t>第三管理部　事業開発課</a:t>
            </a:r>
            <a:endParaRPr lang="en-US" sz="1300" dirty="0"/>
          </a:p>
        </p:txBody>
      </p:sp>
      <p:sp>
        <p:nvSpPr>
          <p:cNvPr id="16" name="Text 13"/>
          <p:cNvSpPr txBox="1"/>
          <p:nvPr/>
        </p:nvSpPr>
        <p:spPr>
          <a:xfrm>
            <a:off x="1737360" y="2670048"/>
            <a:ext cx="4024732" cy="457200"/>
          </a:xfrm>
          <a:prstGeom prst="rect">
            <a:avLst/>
          </a:prstGeom>
          <a:noFill/>
          <a:ln/>
        </p:spPr>
        <p:txBody>
          <a:bodyPr wrap="square" lIns="0" tIns="0" rIns="0" bIns="0" rtlCol="0" anchor="t"/>
          <a:lstStyle/>
          <a:p>
            <a:pPr indent="0" marL="0">
              <a:lnSpc>
                <a:spcPts val="2640"/>
              </a:lnSpc>
              <a:buNone/>
            </a:pPr>
            <a:r>
              <a:rPr lang="en-US" sz="2200" b="1" dirty="0">
                <a:solidFill>
                  <a:srgbClr val="2E3440"/>
                </a:solidFill>
                <a:latin typeface="Meiryo UI" pitchFamily="34" charset="0"/>
                <a:ea typeface="Meiryo UI" pitchFamily="34" charset="-122"/>
                <a:cs typeface="Meiryo UI" pitchFamily="34" charset="-120"/>
              </a:rPr>
              <a:t>地域共創係</a:t>
            </a:r>
            <a:endParaRPr lang="en-US" sz="2200" dirty="0"/>
          </a:p>
        </p:txBody>
      </p:sp>
      <p:sp>
        <p:nvSpPr>
          <p:cNvPr id="17" name="Shape 14"/>
          <p:cNvSpPr/>
          <p:nvPr/>
        </p:nvSpPr>
        <p:spPr>
          <a:xfrm>
            <a:off x="868680" y="3429000"/>
            <a:ext cx="868680" cy="347472"/>
          </a:xfrm>
          <a:prstGeom prst="roundRect">
            <a:avLst>
              <a:gd name="adj" fmla="val 50000"/>
            </a:avLst>
          </a:prstGeom>
          <a:solidFill>
            <a:srgbClr val="2F7F3A"/>
          </a:solidFill>
          <a:ln w="6350">
            <a:solidFill>
              <a:srgbClr val="2F7F3A"/>
            </a:solidFill>
            <a:prstDash val="solid"/>
          </a:ln>
        </p:spPr>
      </p:sp>
      <p:sp>
        <p:nvSpPr>
          <p:cNvPr id="18" name="Text 15"/>
          <p:cNvSpPr txBox="1"/>
          <p:nvPr/>
        </p:nvSpPr>
        <p:spPr>
          <a:xfrm>
            <a:off x="868680" y="3429000"/>
            <a:ext cx="868680" cy="347472"/>
          </a:xfrm>
          <a:prstGeom prst="rect">
            <a:avLst/>
          </a:prstGeom>
          <a:noFill/>
          <a:ln/>
        </p:spPr>
        <p:txBody>
          <a:bodyPr wrap="square" lIns="0" tIns="0" rIns="0" bIns="0" rtlCol="0" anchor="ctr"/>
          <a:lstStyle/>
          <a:p>
            <a:pPr algn="ctr" indent="0" marL="0">
              <a:lnSpc>
                <a:spcPts val="1300"/>
              </a:lnSpc>
              <a:buNone/>
            </a:pPr>
            <a:r>
              <a:rPr lang="en-US" sz="1300" b="1" dirty="0">
                <a:solidFill>
                  <a:srgbClr val="FFFFFF"/>
                </a:solidFill>
                <a:latin typeface="Meiryo UI" pitchFamily="34" charset="0"/>
                <a:ea typeface="Meiryo UI" pitchFamily="34" charset="-122"/>
                <a:cs typeface="Meiryo UI" pitchFamily="34" charset="-120"/>
              </a:rPr>
              <a:t>知識</a:t>
            </a:r>
            <a:endParaRPr lang="en-US" sz="1300" dirty="0"/>
          </a:p>
        </p:txBody>
      </p:sp>
      <p:sp>
        <p:nvSpPr>
          <p:cNvPr id="19" name="Text 16"/>
          <p:cNvSpPr txBox="1"/>
          <p:nvPr/>
        </p:nvSpPr>
        <p:spPr>
          <a:xfrm>
            <a:off x="1892808" y="3410712"/>
            <a:ext cx="3823564" cy="777240"/>
          </a:xfrm>
          <a:prstGeom prst="rect">
            <a:avLst/>
          </a:prstGeom>
          <a:noFill/>
          <a:ln/>
        </p:spPr>
        <p:txBody>
          <a:bodyPr wrap="square" lIns="0" tIns="0" rIns="0" bIns="0" rtlCol="0" anchor="t"/>
          <a:lstStyle/>
          <a:p>
            <a:pPr indent="0" marL="0">
              <a:lnSpc>
                <a:spcPts val="1960"/>
              </a:lnSpc>
              <a:buNone/>
            </a:pPr>
            <a:r>
              <a:rPr lang="en-US" sz="1400" dirty="0">
                <a:solidFill>
                  <a:srgbClr val="2E3440"/>
                </a:solidFill>
                <a:latin typeface="Meiryo UI" pitchFamily="34" charset="0"/>
                <a:ea typeface="Meiryo UI" pitchFamily="34" charset="-122"/>
                <a:cs typeface="Meiryo UI" pitchFamily="34" charset="-120"/>
              </a:rPr>
              <a:t>新規事業の立ち上げ方</a:t>
            </a:r>
            <a:endParaRPr lang="en-US" sz="1400" dirty="0"/>
          </a:p>
          <a:p>
            <a:pPr indent="0" marL="0">
              <a:lnSpc>
                <a:spcPts val="1960"/>
              </a:lnSpc>
              <a:buNone/>
            </a:pPr>
            <a:r>
              <a:rPr lang="en-US" sz="1400" dirty="0">
                <a:solidFill>
                  <a:srgbClr val="2E3440"/>
                </a:solidFill>
                <a:latin typeface="Meiryo UI" pitchFamily="34" charset="0"/>
                <a:ea typeface="Meiryo UI" pitchFamily="34" charset="-122"/>
                <a:cs typeface="Meiryo UI" pitchFamily="34" charset="-120"/>
              </a:rPr>
              <a:t>（市場調査・事業計画・収支・指定申請）</a:t>
            </a:r>
            <a:endParaRPr lang="en-US" sz="1400" dirty="0"/>
          </a:p>
        </p:txBody>
      </p:sp>
      <p:sp>
        <p:nvSpPr>
          <p:cNvPr id="20" name="Shape 17"/>
          <p:cNvSpPr/>
          <p:nvPr/>
        </p:nvSpPr>
        <p:spPr>
          <a:xfrm>
            <a:off x="868680" y="4297680"/>
            <a:ext cx="868680" cy="347472"/>
          </a:xfrm>
          <a:prstGeom prst="roundRect">
            <a:avLst>
              <a:gd name="adj" fmla="val 50000"/>
            </a:avLst>
          </a:prstGeom>
          <a:solidFill>
            <a:srgbClr val="2F7F3A"/>
          </a:solidFill>
          <a:ln w="6350">
            <a:solidFill>
              <a:srgbClr val="2F7F3A"/>
            </a:solidFill>
            <a:prstDash val="solid"/>
          </a:ln>
        </p:spPr>
      </p:sp>
      <p:sp>
        <p:nvSpPr>
          <p:cNvPr id="21" name="Text 18"/>
          <p:cNvSpPr txBox="1"/>
          <p:nvPr/>
        </p:nvSpPr>
        <p:spPr>
          <a:xfrm>
            <a:off x="868680" y="4297680"/>
            <a:ext cx="868680" cy="347472"/>
          </a:xfrm>
          <a:prstGeom prst="rect">
            <a:avLst/>
          </a:prstGeom>
          <a:noFill/>
          <a:ln/>
        </p:spPr>
        <p:txBody>
          <a:bodyPr wrap="square" lIns="0" tIns="0" rIns="0" bIns="0" rtlCol="0" anchor="ctr"/>
          <a:lstStyle/>
          <a:p>
            <a:pPr algn="ctr" indent="0" marL="0">
              <a:lnSpc>
                <a:spcPts val="1300"/>
              </a:lnSpc>
              <a:buNone/>
            </a:pPr>
            <a:r>
              <a:rPr lang="en-US" sz="1300" b="1" dirty="0">
                <a:solidFill>
                  <a:srgbClr val="FFFFFF"/>
                </a:solidFill>
                <a:latin typeface="Meiryo UI" pitchFamily="34" charset="0"/>
                <a:ea typeface="Meiryo UI" pitchFamily="34" charset="-122"/>
                <a:cs typeface="Meiryo UI" pitchFamily="34" charset="-120"/>
              </a:rPr>
              <a:t>動き方</a:t>
            </a:r>
            <a:endParaRPr lang="en-US" sz="1300" dirty="0"/>
          </a:p>
        </p:txBody>
      </p:sp>
      <p:sp>
        <p:nvSpPr>
          <p:cNvPr id="22" name="Text 19"/>
          <p:cNvSpPr txBox="1"/>
          <p:nvPr/>
        </p:nvSpPr>
        <p:spPr>
          <a:xfrm>
            <a:off x="1892808" y="4279392"/>
            <a:ext cx="3823564" cy="777240"/>
          </a:xfrm>
          <a:prstGeom prst="rect">
            <a:avLst/>
          </a:prstGeom>
          <a:noFill/>
          <a:ln/>
        </p:spPr>
        <p:txBody>
          <a:bodyPr wrap="square" lIns="0" tIns="0" rIns="0" bIns="0" rtlCol="0" anchor="t"/>
          <a:lstStyle/>
          <a:p>
            <a:pPr indent="0" marL="0">
              <a:lnSpc>
                <a:spcPts val="1960"/>
              </a:lnSpc>
              <a:buNone/>
            </a:pPr>
            <a:r>
              <a:rPr lang="en-US" sz="1400" dirty="0">
                <a:solidFill>
                  <a:srgbClr val="2E3440"/>
                </a:solidFill>
                <a:latin typeface="Meiryo UI" pitchFamily="34" charset="0"/>
                <a:ea typeface="Meiryo UI" pitchFamily="34" charset="-122"/>
                <a:cs typeface="Meiryo UI" pitchFamily="34" charset="-120"/>
              </a:rPr>
              <a:t>自治体・地域企業・学校と関係を築き、</a:t>
            </a:r>
            <a:endParaRPr lang="en-US" sz="1400" dirty="0"/>
          </a:p>
          <a:p>
            <a:pPr indent="0" marL="0">
              <a:lnSpc>
                <a:spcPts val="1960"/>
              </a:lnSpc>
              <a:buNone/>
            </a:pPr>
            <a:r>
              <a:rPr lang="en-US" sz="1400" dirty="0">
                <a:solidFill>
                  <a:srgbClr val="2E3440"/>
                </a:solidFill>
                <a:latin typeface="Meiryo UI" pitchFamily="34" charset="0"/>
                <a:ea typeface="Meiryo UI" pitchFamily="34" charset="-122"/>
                <a:cs typeface="Meiryo UI" pitchFamily="34" charset="-120"/>
              </a:rPr>
              <a:t>地域に根差した事業をつくる</a:t>
            </a:r>
            <a:endParaRPr lang="en-US" sz="1400" dirty="0"/>
          </a:p>
        </p:txBody>
      </p:sp>
      <p:sp>
        <p:nvSpPr>
          <p:cNvPr id="23" name="Shape 20"/>
          <p:cNvSpPr/>
          <p:nvPr/>
        </p:nvSpPr>
        <p:spPr>
          <a:xfrm>
            <a:off x="6246724" y="2103120"/>
            <a:ext cx="5396332" cy="3108960"/>
          </a:xfrm>
          <a:prstGeom prst="roundRect">
            <a:avLst>
              <a:gd name="adj" fmla="val 4118"/>
            </a:avLst>
          </a:prstGeom>
          <a:solidFill>
            <a:srgbClr val="F3F5F9"/>
          </a:solidFill>
          <a:ln w="6350">
            <a:solidFill>
              <a:srgbClr val="F3F5F9"/>
            </a:solidFill>
            <a:prstDash val="solid"/>
          </a:ln>
        </p:spPr>
      </p:sp>
      <p:sp>
        <p:nvSpPr>
          <p:cNvPr id="24" name="Shape 21"/>
          <p:cNvSpPr/>
          <p:nvPr/>
        </p:nvSpPr>
        <p:spPr>
          <a:xfrm>
            <a:off x="6566764" y="2395728"/>
            <a:ext cx="658368" cy="658368"/>
          </a:xfrm>
          <a:prstGeom prst="ellipse">
            <a:avLst/>
          </a:prstGeom>
          <a:solidFill>
            <a:srgbClr val="3FA7D6"/>
          </a:solidFill>
          <a:ln w="6350">
            <a:solidFill>
              <a:srgbClr val="3FA7D6"/>
            </a:solidFill>
            <a:prstDash val="solid"/>
          </a:ln>
        </p:spPr>
      </p:sp>
      <p:pic>
        <p:nvPicPr>
          <p:cNvPr id="25" name="Image 1" descr="preencoded.png">    </p:cNvPr>
          <p:cNvPicPr>
            <a:picLocks noChangeAspect="1"/>
          </p:cNvPicPr>
          <p:nvPr/>
        </p:nvPicPr>
        <p:blipFill>
          <a:blip r:embed="rId2"/>
          <a:stretch>
            <a:fillRect/>
          </a:stretch>
        </p:blipFill>
        <p:spPr>
          <a:xfrm>
            <a:off x="6724772" y="2553736"/>
            <a:ext cx="342351" cy="342351"/>
          </a:xfrm>
          <a:prstGeom prst="rect">
            <a:avLst/>
          </a:prstGeom>
        </p:spPr>
      </p:pic>
      <p:sp>
        <p:nvSpPr>
          <p:cNvPr id="26" name="Text 22"/>
          <p:cNvSpPr txBox="1"/>
          <p:nvPr/>
        </p:nvSpPr>
        <p:spPr>
          <a:xfrm>
            <a:off x="7435444" y="2377440"/>
            <a:ext cx="4024732" cy="292608"/>
          </a:xfrm>
          <a:prstGeom prst="rect">
            <a:avLst/>
          </a:prstGeom>
          <a:noFill/>
          <a:ln/>
        </p:spPr>
        <p:txBody>
          <a:bodyPr wrap="square" lIns="0" tIns="0" rIns="0" bIns="0" rtlCol="0" anchor="t"/>
          <a:lstStyle/>
          <a:p>
            <a:pPr indent="0" marL="0">
              <a:lnSpc>
                <a:spcPts val="1690"/>
              </a:lnSpc>
              <a:buNone/>
            </a:pPr>
            <a:r>
              <a:rPr lang="en-US" sz="1300" dirty="0">
                <a:solidFill>
                  <a:srgbClr val="5B6472"/>
                </a:solidFill>
                <a:latin typeface="Meiryo UI" pitchFamily="34" charset="0"/>
                <a:ea typeface="Meiryo UI" pitchFamily="34" charset="-122"/>
                <a:cs typeface="Meiryo UI" pitchFamily="34" charset="-120"/>
              </a:rPr>
              <a:t>第三管理部　マーケティング課</a:t>
            </a:r>
            <a:endParaRPr lang="en-US" sz="1300" dirty="0"/>
          </a:p>
        </p:txBody>
      </p:sp>
      <p:sp>
        <p:nvSpPr>
          <p:cNvPr id="27" name="Text 23"/>
          <p:cNvSpPr txBox="1"/>
          <p:nvPr/>
        </p:nvSpPr>
        <p:spPr>
          <a:xfrm>
            <a:off x="7435444" y="2670048"/>
            <a:ext cx="4024732" cy="457200"/>
          </a:xfrm>
          <a:prstGeom prst="rect">
            <a:avLst/>
          </a:prstGeom>
          <a:noFill/>
          <a:ln/>
        </p:spPr>
        <p:txBody>
          <a:bodyPr wrap="square" lIns="0" tIns="0" rIns="0" bIns="0" rtlCol="0" anchor="t"/>
          <a:lstStyle/>
          <a:p>
            <a:pPr indent="0" marL="0">
              <a:lnSpc>
                <a:spcPts val="2640"/>
              </a:lnSpc>
              <a:buNone/>
            </a:pPr>
            <a:r>
              <a:rPr lang="en-US" sz="2200" b="1" dirty="0">
                <a:solidFill>
                  <a:srgbClr val="2E3440"/>
                </a:solidFill>
                <a:latin typeface="Meiryo UI" pitchFamily="34" charset="0"/>
                <a:ea typeface="Meiryo UI" pitchFamily="34" charset="-122"/>
                <a:cs typeface="Meiryo UI" pitchFamily="34" charset="-120"/>
              </a:rPr>
              <a:t>トータルサポート推進係</a:t>
            </a:r>
            <a:endParaRPr lang="en-US" sz="2200" dirty="0"/>
          </a:p>
        </p:txBody>
      </p:sp>
      <p:sp>
        <p:nvSpPr>
          <p:cNvPr id="28" name="Shape 24"/>
          <p:cNvSpPr/>
          <p:nvPr/>
        </p:nvSpPr>
        <p:spPr>
          <a:xfrm>
            <a:off x="6566764" y="3429000"/>
            <a:ext cx="868680" cy="347472"/>
          </a:xfrm>
          <a:prstGeom prst="roundRect">
            <a:avLst>
              <a:gd name="adj" fmla="val 50000"/>
            </a:avLst>
          </a:prstGeom>
          <a:solidFill>
            <a:srgbClr val="1D72A3"/>
          </a:solidFill>
          <a:ln w="6350">
            <a:solidFill>
              <a:srgbClr val="1D72A3"/>
            </a:solidFill>
            <a:prstDash val="solid"/>
          </a:ln>
        </p:spPr>
      </p:sp>
      <p:sp>
        <p:nvSpPr>
          <p:cNvPr id="29" name="Text 25"/>
          <p:cNvSpPr txBox="1"/>
          <p:nvPr/>
        </p:nvSpPr>
        <p:spPr>
          <a:xfrm>
            <a:off x="6566764" y="3429000"/>
            <a:ext cx="868680" cy="347472"/>
          </a:xfrm>
          <a:prstGeom prst="rect">
            <a:avLst/>
          </a:prstGeom>
          <a:noFill/>
          <a:ln/>
        </p:spPr>
        <p:txBody>
          <a:bodyPr wrap="square" lIns="0" tIns="0" rIns="0" bIns="0" rtlCol="0" anchor="ctr"/>
          <a:lstStyle/>
          <a:p>
            <a:pPr algn="ctr" indent="0" marL="0">
              <a:lnSpc>
                <a:spcPts val="1300"/>
              </a:lnSpc>
              <a:buNone/>
            </a:pPr>
            <a:r>
              <a:rPr lang="en-US" sz="1300" b="1" dirty="0">
                <a:solidFill>
                  <a:srgbClr val="FFFFFF"/>
                </a:solidFill>
                <a:latin typeface="Meiryo UI" pitchFamily="34" charset="0"/>
                <a:ea typeface="Meiryo UI" pitchFamily="34" charset="-122"/>
                <a:cs typeface="Meiryo UI" pitchFamily="34" charset="-120"/>
              </a:rPr>
              <a:t>知識</a:t>
            </a:r>
            <a:endParaRPr lang="en-US" sz="1300" dirty="0"/>
          </a:p>
        </p:txBody>
      </p:sp>
      <p:sp>
        <p:nvSpPr>
          <p:cNvPr id="30" name="Text 26"/>
          <p:cNvSpPr txBox="1"/>
          <p:nvPr/>
        </p:nvSpPr>
        <p:spPr>
          <a:xfrm>
            <a:off x="7590892" y="3410712"/>
            <a:ext cx="3823564" cy="777240"/>
          </a:xfrm>
          <a:prstGeom prst="rect">
            <a:avLst/>
          </a:prstGeom>
          <a:noFill/>
          <a:ln/>
        </p:spPr>
        <p:txBody>
          <a:bodyPr wrap="square" lIns="0" tIns="0" rIns="0" bIns="0" rtlCol="0" anchor="t"/>
          <a:lstStyle/>
          <a:p>
            <a:pPr indent="0" marL="0">
              <a:lnSpc>
                <a:spcPts val="1960"/>
              </a:lnSpc>
              <a:buNone/>
            </a:pPr>
            <a:r>
              <a:rPr lang="en-US" sz="1400" dirty="0">
                <a:solidFill>
                  <a:srgbClr val="2E3440"/>
                </a:solidFill>
                <a:latin typeface="Meiryo UI" pitchFamily="34" charset="0"/>
                <a:ea typeface="Meiryo UI" pitchFamily="34" charset="-122"/>
                <a:cs typeface="Meiryo UI" pitchFamily="34" charset="-120"/>
              </a:rPr>
              <a:t>トータルサポートの全体像と、</a:t>
            </a:r>
            <a:endParaRPr lang="en-US" sz="1400" dirty="0"/>
          </a:p>
          <a:p>
            <a:pPr indent="0" marL="0">
              <a:lnSpc>
                <a:spcPts val="1960"/>
              </a:lnSpc>
              <a:buNone/>
            </a:pPr>
            <a:r>
              <a:rPr lang="en-US" sz="1400" dirty="0">
                <a:solidFill>
                  <a:srgbClr val="2E3440"/>
                </a:solidFill>
                <a:latin typeface="Meiryo UI" pitchFamily="34" charset="0"/>
                <a:ea typeface="Meiryo UI" pitchFamily="34" charset="-122"/>
                <a:cs typeface="Meiryo UI" pitchFamily="34" charset="-120"/>
              </a:rPr>
              <a:t>事業部どうしのつなぎ方</a:t>
            </a:r>
            <a:endParaRPr lang="en-US" sz="1400" dirty="0"/>
          </a:p>
        </p:txBody>
      </p:sp>
      <p:sp>
        <p:nvSpPr>
          <p:cNvPr id="31" name="Shape 27"/>
          <p:cNvSpPr/>
          <p:nvPr/>
        </p:nvSpPr>
        <p:spPr>
          <a:xfrm>
            <a:off x="6566764" y="4297680"/>
            <a:ext cx="868680" cy="347472"/>
          </a:xfrm>
          <a:prstGeom prst="roundRect">
            <a:avLst>
              <a:gd name="adj" fmla="val 50000"/>
            </a:avLst>
          </a:prstGeom>
          <a:solidFill>
            <a:srgbClr val="1D72A3"/>
          </a:solidFill>
          <a:ln w="6350">
            <a:solidFill>
              <a:srgbClr val="1D72A3"/>
            </a:solidFill>
            <a:prstDash val="solid"/>
          </a:ln>
        </p:spPr>
      </p:sp>
      <p:sp>
        <p:nvSpPr>
          <p:cNvPr id="32" name="Text 28"/>
          <p:cNvSpPr txBox="1"/>
          <p:nvPr/>
        </p:nvSpPr>
        <p:spPr>
          <a:xfrm>
            <a:off x="6566764" y="4297680"/>
            <a:ext cx="868680" cy="347472"/>
          </a:xfrm>
          <a:prstGeom prst="rect">
            <a:avLst/>
          </a:prstGeom>
          <a:noFill/>
          <a:ln/>
        </p:spPr>
        <p:txBody>
          <a:bodyPr wrap="square" lIns="0" tIns="0" rIns="0" bIns="0" rtlCol="0" anchor="ctr"/>
          <a:lstStyle/>
          <a:p>
            <a:pPr algn="ctr" indent="0" marL="0">
              <a:lnSpc>
                <a:spcPts val="1300"/>
              </a:lnSpc>
              <a:buNone/>
            </a:pPr>
            <a:r>
              <a:rPr lang="en-US" sz="1300" b="1" dirty="0">
                <a:solidFill>
                  <a:srgbClr val="FFFFFF"/>
                </a:solidFill>
                <a:latin typeface="Meiryo UI" pitchFamily="34" charset="0"/>
                <a:ea typeface="Meiryo UI" pitchFamily="34" charset="-122"/>
                <a:cs typeface="Meiryo UI" pitchFamily="34" charset="-120"/>
              </a:rPr>
              <a:t>動き方</a:t>
            </a:r>
            <a:endParaRPr lang="en-US" sz="1300" dirty="0"/>
          </a:p>
        </p:txBody>
      </p:sp>
      <p:sp>
        <p:nvSpPr>
          <p:cNvPr id="33" name="Text 29"/>
          <p:cNvSpPr txBox="1"/>
          <p:nvPr/>
        </p:nvSpPr>
        <p:spPr>
          <a:xfrm>
            <a:off x="7590892" y="4279392"/>
            <a:ext cx="3823564" cy="777240"/>
          </a:xfrm>
          <a:prstGeom prst="rect">
            <a:avLst/>
          </a:prstGeom>
          <a:noFill/>
          <a:ln/>
        </p:spPr>
        <p:txBody>
          <a:bodyPr wrap="square" lIns="0" tIns="0" rIns="0" bIns="0" rtlCol="0" anchor="t"/>
          <a:lstStyle/>
          <a:p>
            <a:pPr indent="0" marL="0">
              <a:lnSpc>
                <a:spcPts val="1960"/>
              </a:lnSpc>
              <a:buNone/>
            </a:pPr>
            <a:r>
              <a:rPr lang="en-US" sz="1400" dirty="0">
                <a:solidFill>
                  <a:srgbClr val="2E3440"/>
                </a:solidFill>
                <a:latin typeface="Meiryo UI" pitchFamily="34" charset="0"/>
                <a:ea typeface="Meiryo UI" pitchFamily="34" charset="-122"/>
                <a:cs typeface="Meiryo UI" pitchFamily="34" charset="-120"/>
              </a:rPr>
              <a:t>利用者・保護者の声から、</a:t>
            </a:r>
            <a:endParaRPr lang="en-US" sz="1400" dirty="0"/>
          </a:p>
          <a:p>
            <a:pPr indent="0" marL="0">
              <a:lnSpc>
                <a:spcPts val="1960"/>
              </a:lnSpc>
              <a:buNone/>
            </a:pPr>
            <a:r>
              <a:rPr lang="en-US" sz="1400" dirty="0">
                <a:solidFill>
                  <a:srgbClr val="2E3440"/>
                </a:solidFill>
                <a:latin typeface="Meiryo UI" pitchFamily="34" charset="0"/>
                <a:ea typeface="Meiryo UI" pitchFamily="34" charset="-122"/>
                <a:cs typeface="Meiryo UI" pitchFamily="34" charset="-120"/>
              </a:rPr>
              <a:t>放デイ→就労へ切れ目なくつなぐ導線づくり</a:t>
            </a:r>
            <a:endParaRPr lang="en-US" sz="1400" dirty="0"/>
          </a:p>
        </p:txBody>
      </p:sp>
      <p:sp>
        <p:nvSpPr>
          <p:cNvPr id="34" name="Text 30"/>
          <p:cNvSpPr txBox="1"/>
          <p:nvPr/>
        </p:nvSpPr>
        <p:spPr>
          <a:xfrm>
            <a:off x="548640" y="5440680"/>
            <a:ext cx="11094415" cy="548640"/>
          </a:xfrm>
          <a:prstGeom prst="rect">
            <a:avLst/>
          </a:prstGeom>
          <a:noFill/>
          <a:ln/>
        </p:spPr>
        <p:txBody>
          <a:bodyPr wrap="square" lIns="0" tIns="0" rIns="0" bIns="0" rtlCol="0" anchor="ctr"/>
          <a:lstStyle/>
          <a:p>
            <a:pPr indent="0" marL="0">
              <a:lnSpc>
                <a:spcPts val="2600"/>
              </a:lnSpc>
              <a:buNone/>
            </a:pPr>
            <a:r>
              <a:rPr lang="en-US" sz="2000" b="1" dirty="0">
                <a:solidFill>
                  <a:srgbClr val="3A5BB8"/>
                </a:solidFill>
                <a:latin typeface="Meiryo UI" pitchFamily="34" charset="0"/>
                <a:ea typeface="Meiryo UI" pitchFamily="34" charset="-122"/>
                <a:cs typeface="Meiryo UI" pitchFamily="34" charset="-120"/>
              </a:rPr>
              <a:t>現場（愛媛）の声 × 本部の知識と動き方 ＝ 自分のボーダーを越える</a:t>
            </a:r>
            <a:endParaRPr lang="en-US" sz="2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118872" cy="118872"/>
          </a:xfrm>
          <a:prstGeom prst="ellipse">
            <a:avLst/>
          </a:prstGeom>
          <a:solidFill>
            <a:srgbClr val="E8505B"/>
          </a:solidFill>
          <a:ln w="6350">
            <a:solidFill>
              <a:srgbClr val="E8505B"/>
            </a:solidFill>
            <a:prstDash val="solid"/>
          </a:ln>
        </p:spPr>
      </p:sp>
      <p:sp>
        <p:nvSpPr>
          <p:cNvPr id="3" name="Shape 1"/>
          <p:cNvSpPr/>
          <p:nvPr/>
        </p:nvSpPr>
        <p:spPr>
          <a:xfrm>
            <a:off x="740664" y="457200"/>
            <a:ext cx="118872" cy="118872"/>
          </a:xfrm>
          <a:prstGeom prst="ellipse">
            <a:avLst/>
          </a:prstGeom>
          <a:solidFill>
            <a:srgbClr val="F39C33"/>
          </a:solidFill>
          <a:ln w="6350">
            <a:solidFill>
              <a:srgbClr val="F39C33"/>
            </a:solidFill>
            <a:prstDash val="solid"/>
          </a:ln>
        </p:spPr>
      </p:sp>
      <p:sp>
        <p:nvSpPr>
          <p:cNvPr id="4" name="Shape 2"/>
          <p:cNvSpPr/>
          <p:nvPr/>
        </p:nvSpPr>
        <p:spPr>
          <a:xfrm>
            <a:off x="932688" y="457200"/>
            <a:ext cx="118872" cy="118872"/>
          </a:xfrm>
          <a:prstGeom prst="ellipse">
            <a:avLst/>
          </a:prstGeom>
          <a:solidFill>
            <a:srgbClr val="F2C230"/>
          </a:solidFill>
          <a:ln w="6350">
            <a:solidFill>
              <a:srgbClr val="F2C230"/>
            </a:solidFill>
            <a:prstDash val="solid"/>
          </a:ln>
        </p:spPr>
      </p:sp>
      <p:sp>
        <p:nvSpPr>
          <p:cNvPr id="5" name="Shape 3"/>
          <p:cNvSpPr/>
          <p:nvPr/>
        </p:nvSpPr>
        <p:spPr>
          <a:xfrm>
            <a:off x="1124712" y="457200"/>
            <a:ext cx="118872" cy="118872"/>
          </a:xfrm>
          <a:prstGeom prst="ellipse">
            <a:avLst/>
          </a:prstGeom>
          <a:solidFill>
            <a:srgbClr val="5DBB63"/>
          </a:solidFill>
          <a:ln w="6350">
            <a:solidFill>
              <a:srgbClr val="5DBB63"/>
            </a:solidFill>
            <a:prstDash val="solid"/>
          </a:ln>
        </p:spPr>
      </p:sp>
      <p:sp>
        <p:nvSpPr>
          <p:cNvPr id="6" name="Shape 4"/>
          <p:cNvSpPr/>
          <p:nvPr/>
        </p:nvSpPr>
        <p:spPr>
          <a:xfrm>
            <a:off x="1316736" y="457200"/>
            <a:ext cx="118872" cy="118872"/>
          </a:xfrm>
          <a:prstGeom prst="ellipse">
            <a:avLst/>
          </a:prstGeom>
          <a:solidFill>
            <a:srgbClr val="3FA7D6"/>
          </a:solidFill>
          <a:ln w="6350">
            <a:solidFill>
              <a:srgbClr val="3FA7D6"/>
            </a:solidFill>
            <a:prstDash val="solid"/>
          </a:ln>
        </p:spPr>
      </p:sp>
      <p:sp>
        <p:nvSpPr>
          <p:cNvPr id="7" name="Shape 5"/>
          <p:cNvSpPr/>
          <p:nvPr/>
        </p:nvSpPr>
        <p:spPr>
          <a:xfrm>
            <a:off x="1508760" y="457200"/>
            <a:ext cx="118872" cy="118872"/>
          </a:xfrm>
          <a:prstGeom prst="ellipse">
            <a:avLst/>
          </a:prstGeom>
          <a:solidFill>
            <a:srgbClr val="4A6FC7"/>
          </a:solidFill>
          <a:ln w="6350">
            <a:solidFill>
              <a:srgbClr val="4A6FC7"/>
            </a:solidFill>
            <a:prstDash val="solid"/>
          </a:ln>
        </p:spPr>
      </p:sp>
      <p:sp>
        <p:nvSpPr>
          <p:cNvPr id="8" name="Shape 6"/>
          <p:cNvSpPr/>
          <p:nvPr/>
        </p:nvSpPr>
        <p:spPr>
          <a:xfrm>
            <a:off x="1700784" y="457200"/>
            <a:ext cx="118872" cy="118872"/>
          </a:xfrm>
          <a:prstGeom prst="ellipse">
            <a:avLst/>
          </a:prstGeom>
          <a:solidFill>
            <a:srgbClr val="9A6BC4"/>
          </a:solidFill>
          <a:ln w="6350">
            <a:solidFill>
              <a:srgbClr val="9A6BC4"/>
            </a:solidFill>
            <a:prstDash val="solid"/>
          </a:ln>
        </p:spPr>
      </p:sp>
      <p:sp>
        <p:nvSpPr>
          <p:cNvPr id="9" name="Text 7"/>
          <p:cNvSpPr txBox="1"/>
          <p:nvPr/>
        </p:nvSpPr>
        <p:spPr>
          <a:xfrm>
            <a:off x="548640" y="676656"/>
            <a:ext cx="10424160" cy="640080"/>
          </a:xfrm>
          <a:prstGeom prst="rect">
            <a:avLst/>
          </a:prstGeom>
          <a:noFill/>
          <a:ln/>
        </p:spPr>
        <p:txBody>
          <a:bodyPr wrap="square" lIns="0" tIns="0" rIns="0" bIns="0" rtlCol="0" anchor="t"/>
          <a:lstStyle/>
          <a:p>
            <a:pPr indent="0" marL="0">
              <a:lnSpc>
                <a:spcPts val="3900"/>
              </a:lnSpc>
              <a:buNone/>
            </a:pPr>
            <a:r>
              <a:rPr lang="en-US" sz="3000" b="1" dirty="0">
                <a:solidFill>
                  <a:srgbClr val="2E3440"/>
                </a:solidFill>
                <a:latin typeface="Meiryo UI" pitchFamily="34" charset="0"/>
                <a:ea typeface="Meiryo UI" pitchFamily="34" charset="-122"/>
                <a:cs typeface="Meiryo UI" pitchFamily="34" charset="-120"/>
              </a:rPr>
              <a:t>まずは、愛媛に就労継続支援B型を</a:t>
            </a:r>
            <a:endParaRPr lang="en-US" sz="3000" dirty="0"/>
          </a:p>
        </p:txBody>
      </p:sp>
      <p:sp>
        <p:nvSpPr>
          <p:cNvPr id="10" name="Text 8"/>
          <p:cNvSpPr txBox="1"/>
          <p:nvPr/>
        </p:nvSpPr>
        <p:spPr>
          <a:xfrm>
            <a:off x="11094415" y="6382512"/>
            <a:ext cx="548640" cy="274320"/>
          </a:xfrm>
          <a:prstGeom prst="rect">
            <a:avLst/>
          </a:prstGeom>
          <a:noFill/>
          <a:ln/>
        </p:spPr>
        <p:txBody>
          <a:bodyPr wrap="square" lIns="0" tIns="0" rIns="0" bIns="0" rtlCol="0" anchor="t"/>
          <a:lstStyle/>
          <a:p>
            <a:pPr algn="r" indent="0" marL="0">
              <a:lnSpc>
                <a:spcPts val="1430"/>
              </a:lnSpc>
              <a:buNone/>
            </a:pPr>
            <a:r>
              <a:rPr lang="en-US" sz="1100" dirty="0">
                <a:solidFill>
                  <a:srgbClr val="5B6472"/>
                </a:solidFill>
                <a:latin typeface="Meiryo UI" pitchFamily="34" charset="0"/>
                <a:ea typeface="Meiryo UI" pitchFamily="34" charset="-122"/>
                <a:cs typeface="Meiryo UI" pitchFamily="34" charset="-120"/>
              </a:rPr>
              <a:t>7</a:t>
            </a:r>
            <a:endParaRPr lang="en-US" sz="1100" dirty="0"/>
          </a:p>
        </p:txBody>
      </p:sp>
      <p:sp>
        <p:nvSpPr>
          <p:cNvPr id="11" name="Shape 9"/>
          <p:cNvSpPr/>
          <p:nvPr/>
        </p:nvSpPr>
        <p:spPr>
          <a:xfrm>
            <a:off x="548640" y="1600200"/>
            <a:ext cx="5806440" cy="4114800"/>
          </a:xfrm>
          <a:prstGeom prst="roundRect">
            <a:avLst>
              <a:gd name="adj" fmla="val 3111"/>
            </a:avLst>
          </a:prstGeom>
          <a:solidFill>
            <a:srgbClr val="F3F5F9"/>
          </a:solidFill>
          <a:ln w="6350">
            <a:solidFill>
              <a:srgbClr val="F3F5F9"/>
            </a:solidFill>
            <a:prstDash val="solid"/>
          </a:ln>
        </p:spPr>
      </p:sp>
      <p:graphicFrame>
        <p:nvGraphicFramePr>
          <p:cNvPr id="12" name="Chart 0" descr=""/>
          <p:cNvGraphicFramePr/>
          <p:nvPr/>
        </p:nvGraphicFramePr>
        <p:xfrm>
          <a:off x="685800" y="1691640"/>
          <a:ext cx="5532120" cy="3931920"/>
        </p:xfrm>
        <a:graphic xmlns:a="http://schemas.openxmlformats.org/drawingml/2006/main">
          <a:graphicData uri="http://schemas.openxmlformats.org/drawingml/2006/chart">
            <c:chart xmlns:c="http://schemas.openxmlformats.org/drawingml/2006/chart" r:id="rId1"/>
          </a:graphicData>
        </a:graphic>
      </p:graphicFrame>
      <p:sp>
        <p:nvSpPr>
          <p:cNvPr id="13" name="Shape 10"/>
          <p:cNvSpPr/>
          <p:nvPr/>
        </p:nvSpPr>
        <p:spPr>
          <a:xfrm>
            <a:off x="6629400" y="1600200"/>
            <a:ext cx="2415388" cy="1371600"/>
          </a:xfrm>
          <a:prstGeom prst="roundRect">
            <a:avLst>
              <a:gd name="adj" fmla="val 9333"/>
            </a:avLst>
          </a:prstGeom>
          <a:solidFill>
            <a:srgbClr val="F3F5F9"/>
          </a:solidFill>
          <a:ln w="6350">
            <a:solidFill>
              <a:srgbClr val="F3F5F9"/>
            </a:solidFill>
            <a:prstDash val="solid"/>
          </a:ln>
        </p:spPr>
      </p:sp>
      <p:sp>
        <p:nvSpPr>
          <p:cNvPr id="14" name="Text 11"/>
          <p:cNvSpPr txBox="1"/>
          <p:nvPr/>
        </p:nvSpPr>
        <p:spPr>
          <a:xfrm>
            <a:off x="6720840" y="1819656"/>
            <a:ext cx="2232508" cy="566928"/>
          </a:xfrm>
          <a:prstGeom prst="rect">
            <a:avLst/>
          </a:prstGeom>
          <a:noFill/>
          <a:ln/>
        </p:spPr>
        <p:txBody>
          <a:bodyPr wrap="square" lIns="0" tIns="0" rIns="0" bIns="0" rtlCol="0" anchor="ctr"/>
          <a:lstStyle/>
          <a:p>
            <a:pPr algn="ctr" indent="0" marL="0">
              <a:lnSpc>
                <a:spcPts val="2400"/>
              </a:lnSpc>
              <a:buNone/>
            </a:pPr>
            <a:r>
              <a:rPr lang="en-US" sz="2400" b="1" dirty="0">
                <a:solidFill>
                  <a:srgbClr val="C73B4A"/>
                </a:solidFill>
                <a:latin typeface="Meiryo UI" pitchFamily="34" charset="0"/>
                <a:ea typeface="Meiryo UI" pitchFamily="34" charset="-122"/>
                <a:cs typeface="Meiryo UI" pitchFamily="34" charset="-120"/>
              </a:rPr>
              <a:t>24,141円</a:t>
            </a:r>
            <a:endParaRPr lang="en-US" sz="2400" dirty="0"/>
          </a:p>
        </p:txBody>
      </p:sp>
      <p:sp>
        <p:nvSpPr>
          <p:cNvPr id="15" name="Text 12"/>
          <p:cNvSpPr txBox="1"/>
          <p:nvPr/>
        </p:nvSpPr>
        <p:spPr>
          <a:xfrm>
            <a:off x="6766560" y="2478024"/>
            <a:ext cx="2141068" cy="420624"/>
          </a:xfrm>
          <a:prstGeom prst="rect">
            <a:avLst/>
          </a:prstGeom>
          <a:noFill/>
          <a:ln/>
        </p:spPr>
        <p:txBody>
          <a:bodyPr wrap="square" lIns="0" tIns="0" rIns="0" bIns="0" rtlCol="0" anchor="t"/>
          <a:lstStyle/>
          <a:p>
            <a:pPr algn="ctr" indent="0" marL="0">
              <a:lnSpc>
                <a:spcPts val="1560"/>
              </a:lnSpc>
              <a:buNone/>
            </a:pPr>
            <a:r>
              <a:rPr lang="en-US" sz="1200" dirty="0">
                <a:solidFill>
                  <a:srgbClr val="5B6472"/>
                </a:solidFill>
                <a:latin typeface="Meiryo UI" pitchFamily="34" charset="0"/>
                <a:ea typeface="Meiryo UI" pitchFamily="34" charset="-122"/>
                <a:cs typeface="Meiryo UI" pitchFamily="34" charset="-120"/>
              </a:rPr>
              <a:t>全国の平均工賃</a:t>
            </a:r>
            <a:endParaRPr lang="en-US" sz="1200" dirty="0"/>
          </a:p>
          <a:p>
            <a:pPr algn="ctr" indent="0" marL="0">
              <a:lnSpc>
                <a:spcPts val="1560"/>
              </a:lnSpc>
              <a:buNone/>
            </a:pPr>
            <a:r>
              <a:rPr lang="en-US" sz="1200" dirty="0">
                <a:solidFill>
                  <a:srgbClr val="5B6472"/>
                </a:solidFill>
                <a:latin typeface="Meiryo UI" pitchFamily="34" charset="0"/>
                <a:ea typeface="Meiryo UI" pitchFamily="34" charset="-122"/>
                <a:cs typeface="Meiryo UI" pitchFamily="34" charset="-120"/>
              </a:rPr>
              <a:t>（月額・令和6年度）</a:t>
            </a:r>
            <a:endParaRPr lang="en-US" sz="1200" dirty="0"/>
          </a:p>
        </p:txBody>
      </p:sp>
      <p:sp>
        <p:nvSpPr>
          <p:cNvPr id="16" name="Shape 13"/>
          <p:cNvSpPr/>
          <p:nvPr/>
        </p:nvSpPr>
        <p:spPr>
          <a:xfrm>
            <a:off x="9227668" y="1600200"/>
            <a:ext cx="2415388" cy="1371600"/>
          </a:xfrm>
          <a:prstGeom prst="roundRect">
            <a:avLst>
              <a:gd name="adj" fmla="val 9333"/>
            </a:avLst>
          </a:prstGeom>
          <a:solidFill>
            <a:srgbClr val="F3F5F9"/>
          </a:solidFill>
          <a:ln w="6350">
            <a:solidFill>
              <a:srgbClr val="F3F5F9"/>
            </a:solidFill>
            <a:prstDash val="solid"/>
          </a:ln>
        </p:spPr>
      </p:sp>
      <p:sp>
        <p:nvSpPr>
          <p:cNvPr id="17" name="Text 14"/>
          <p:cNvSpPr txBox="1"/>
          <p:nvPr/>
        </p:nvSpPr>
        <p:spPr>
          <a:xfrm>
            <a:off x="9319108" y="1819656"/>
            <a:ext cx="2232508" cy="566928"/>
          </a:xfrm>
          <a:prstGeom prst="rect">
            <a:avLst/>
          </a:prstGeom>
          <a:noFill/>
          <a:ln/>
        </p:spPr>
        <p:txBody>
          <a:bodyPr wrap="square" lIns="0" tIns="0" rIns="0" bIns="0" rtlCol="0" anchor="ctr"/>
          <a:lstStyle/>
          <a:p>
            <a:pPr algn="ctr" indent="0" marL="0">
              <a:lnSpc>
                <a:spcPts val="2400"/>
              </a:lnSpc>
              <a:buNone/>
            </a:pPr>
            <a:r>
              <a:rPr lang="en-US" sz="2400" b="1" dirty="0">
                <a:solidFill>
                  <a:srgbClr val="3A5BB8"/>
                </a:solidFill>
                <a:latin typeface="Meiryo UI" pitchFamily="34" charset="0"/>
                <a:ea typeface="Meiryo UI" pitchFamily="34" charset="-122"/>
                <a:cs typeface="Meiryo UI" pitchFamily="34" charset="-120"/>
              </a:rPr>
              <a:t>23,396円</a:t>
            </a:r>
            <a:endParaRPr lang="en-US" sz="2400" dirty="0"/>
          </a:p>
        </p:txBody>
      </p:sp>
      <p:sp>
        <p:nvSpPr>
          <p:cNvPr id="18" name="Text 15"/>
          <p:cNvSpPr txBox="1"/>
          <p:nvPr/>
        </p:nvSpPr>
        <p:spPr>
          <a:xfrm>
            <a:off x="9364828" y="2478024"/>
            <a:ext cx="2141068" cy="420624"/>
          </a:xfrm>
          <a:prstGeom prst="rect">
            <a:avLst/>
          </a:prstGeom>
          <a:noFill/>
          <a:ln/>
        </p:spPr>
        <p:txBody>
          <a:bodyPr wrap="square" lIns="0" tIns="0" rIns="0" bIns="0" rtlCol="0" anchor="t"/>
          <a:lstStyle/>
          <a:p>
            <a:pPr algn="ctr" indent="0" marL="0">
              <a:lnSpc>
                <a:spcPts val="1560"/>
              </a:lnSpc>
              <a:buNone/>
            </a:pPr>
            <a:r>
              <a:rPr lang="en-US" sz="1200" dirty="0">
                <a:solidFill>
                  <a:srgbClr val="5B6472"/>
                </a:solidFill>
                <a:latin typeface="Meiryo UI" pitchFamily="34" charset="0"/>
                <a:ea typeface="Meiryo UI" pitchFamily="34" charset="-122"/>
                <a:cs typeface="Meiryo UI" pitchFamily="34" charset="-120"/>
              </a:rPr>
              <a:t>愛媛の平均工賃</a:t>
            </a:r>
            <a:endParaRPr lang="en-US" sz="1200" dirty="0"/>
          </a:p>
          <a:p>
            <a:pPr algn="ctr" indent="0" marL="0">
              <a:lnSpc>
                <a:spcPts val="1560"/>
              </a:lnSpc>
              <a:buNone/>
            </a:pPr>
            <a:r>
              <a:rPr lang="en-US" sz="1200" dirty="0">
                <a:solidFill>
                  <a:srgbClr val="5B6472"/>
                </a:solidFill>
                <a:latin typeface="Meiryo UI" pitchFamily="34" charset="0"/>
                <a:ea typeface="Meiryo UI" pitchFamily="34" charset="-122"/>
                <a:cs typeface="Meiryo UI" pitchFamily="34" charset="-120"/>
              </a:rPr>
              <a:t>（令和6年度・253事業所）</a:t>
            </a:r>
            <a:endParaRPr lang="en-US" sz="1200" dirty="0"/>
          </a:p>
        </p:txBody>
      </p:sp>
      <p:sp>
        <p:nvSpPr>
          <p:cNvPr id="19" name="Text 16"/>
          <p:cNvSpPr txBox="1"/>
          <p:nvPr/>
        </p:nvSpPr>
        <p:spPr>
          <a:xfrm>
            <a:off x="6629400" y="3200400"/>
            <a:ext cx="5013655" cy="365760"/>
          </a:xfrm>
          <a:prstGeom prst="rect">
            <a:avLst/>
          </a:prstGeom>
          <a:noFill/>
          <a:ln/>
        </p:spPr>
        <p:txBody>
          <a:bodyPr wrap="square" lIns="0" tIns="0" rIns="0" bIns="0" rtlCol="0" anchor="ctr"/>
          <a:lstStyle/>
          <a:p>
            <a:pPr indent="0" marL="0">
              <a:lnSpc>
                <a:spcPts val="2210"/>
              </a:lnSpc>
              <a:buNone/>
            </a:pPr>
            <a:r>
              <a:rPr lang="en-US" sz="1700" b="1" dirty="0">
                <a:solidFill>
                  <a:srgbClr val="2E3440"/>
                </a:solidFill>
                <a:latin typeface="Meiryo UI" pitchFamily="34" charset="0"/>
                <a:ea typeface="Meiryo UI" pitchFamily="34" charset="-122"/>
                <a:cs typeface="Meiryo UI" pitchFamily="34" charset="-120"/>
              </a:rPr>
              <a:t>私たちの作業設計</a:t>
            </a:r>
            <a:endParaRPr lang="en-US" sz="1700" dirty="0"/>
          </a:p>
        </p:txBody>
      </p:sp>
      <p:sp>
        <p:nvSpPr>
          <p:cNvPr id="20" name="Shape 17"/>
          <p:cNvSpPr/>
          <p:nvPr/>
        </p:nvSpPr>
        <p:spPr>
          <a:xfrm>
            <a:off x="6629400" y="3703320"/>
            <a:ext cx="512064" cy="512064"/>
          </a:xfrm>
          <a:prstGeom prst="ellipse">
            <a:avLst/>
          </a:prstGeom>
          <a:solidFill>
            <a:srgbClr val="F39C33"/>
          </a:solidFill>
          <a:ln w="6350">
            <a:solidFill>
              <a:srgbClr val="F39C33"/>
            </a:solidFill>
            <a:prstDash val="solid"/>
          </a:ln>
        </p:spPr>
      </p:sp>
      <p:pic>
        <p:nvPicPr>
          <p:cNvPr id="21" name="Image 0" descr="preencoded.png">    </p:cNvPr>
          <p:cNvPicPr>
            <a:picLocks noChangeAspect="1"/>
          </p:cNvPicPr>
          <p:nvPr/>
        </p:nvPicPr>
        <p:blipFill>
          <a:blip r:embed="rId2"/>
          <a:stretch>
            <a:fillRect/>
          </a:stretch>
        </p:blipFill>
        <p:spPr>
          <a:xfrm>
            <a:off x="6752295" y="3826215"/>
            <a:ext cx="266273" cy="266273"/>
          </a:xfrm>
          <a:prstGeom prst="rect">
            <a:avLst/>
          </a:prstGeom>
        </p:spPr>
      </p:pic>
      <p:sp>
        <p:nvSpPr>
          <p:cNvPr id="22" name="Text 18"/>
          <p:cNvSpPr txBox="1"/>
          <p:nvPr/>
        </p:nvSpPr>
        <p:spPr>
          <a:xfrm>
            <a:off x="7287768" y="3675888"/>
            <a:ext cx="4355287" cy="274320"/>
          </a:xfrm>
          <a:prstGeom prst="rect">
            <a:avLst/>
          </a:prstGeom>
          <a:noFill/>
          <a:ln/>
        </p:spPr>
        <p:txBody>
          <a:bodyPr wrap="square" lIns="0" tIns="0" rIns="0" bIns="0" rtlCol="0" anchor="t"/>
          <a:lstStyle/>
          <a:p>
            <a:pPr indent="0" marL="0">
              <a:lnSpc>
                <a:spcPts val="1540"/>
              </a:lnSpc>
              <a:buNone/>
            </a:pPr>
            <a:r>
              <a:rPr lang="en-US" sz="1400" b="1" dirty="0">
                <a:solidFill>
                  <a:srgbClr val="2E3440"/>
                </a:solidFill>
                <a:latin typeface="Meiryo UI" pitchFamily="34" charset="0"/>
                <a:ea typeface="Meiryo UI" pitchFamily="34" charset="-122"/>
                <a:cs typeface="Meiryo UI" pitchFamily="34" charset="-120"/>
              </a:rPr>
              <a:t>立ち上げ期</a:t>
            </a:r>
            <a:endParaRPr lang="en-US" sz="1400" dirty="0"/>
          </a:p>
        </p:txBody>
      </p:sp>
      <p:sp>
        <p:nvSpPr>
          <p:cNvPr id="23" name="Text 19"/>
          <p:cNvSpPr txBox="1"/>
          <p:nvPr/>
        </p:nvSpPr>
        <p:spPr>
          <a:xfrm>
            <a:off x="7287768" y="3968496"/>
            <a:ext cx="4355287" cy="292608"/>
          </a:xfrm>
          <a:prstGeom prst="rect">
            <a:avLst/>
          </a:prstGeom>
          <a:noFill/>
          <a:ln/>
        </p:spPr>
        <p:txBody>
          <a:bodyPr wrap="square" lIns="0" tIns="0" rIns="0" bIns="0" rtlCol="0" anchor="t"/>
          <a:lstStyle/>
          <a:p>
            <a:pPr indent="0" marL="0">
              <a:lnSpc>
                <a:spcPts val="1430"/>
              </a:lnSpc>
              <a:buNone/>
            </a:pPr>
            <a:r>
              <a:rPr lang="en-US" sz="1300" dirty="0">
                <a:solidFill>
                  <a:srgbClr val="5B6472"/>
                </a:solidFill>
                <a:latin typeface="Meiryo UI" pitchFamily="34" charset="0"/>
                <a:ea typeface="Meiryo UI" pitchFamily="34" charset="-122"/>
                <a:cs typeface="Meiryo UI" pitchFamily="34" charset="-120"/>
              </a:rPr>
              <a:t>企業からの軽作業（検品・袋詰めなど）で仕事を確保</a:t>
            </a:r>
            <a:endParaRPr lang="en-US" sz="1300" dirty="0"/>
          </a:p>
        </p:txBody>
      </p:sp>
      <p:sp>
        <p:nvSpPr>
          <p:cNvPr id="24" name="Shape 20"/>
          <p:cNvSpPr/>
          <p:nvPr/>
        </p:nvSpPr>
        <p:spPr>
          <a:xfrm>
            <a:off x="6629400" y="4416552"/>
            <a:ext cx="512064" cy="512064"/>
          </a:xfrm>
          <a:prstGeom prst="ellipse">
            <a:avLst/>
          </a:prstGeom>
          <a:solidFill>
            <a:srgbClr val="5DBB63"/>
          </a:solidFill>
          <a:ln w="6350">
            <a:solidFill>
              <a:srgbClr val="5DBB63"/>
            </a:solidFill>
            <a:prstDash val="solid"/>
          </a:ln>
        </p:spPr>
      </p:sp>
      <p:pic>
        <p:nvPicPr>
          <p:cNvPr id="25" name="Image 1" descr="preencoded.png">    </p:cNvPr>
          <p:cNvPicPr>
            <a:picLocks noChangeAspect="1"/>
          </p:cNvPicPr>
          <p:nvPr/>
        </p:nvPicPr>
        <p:blipFill>
          <a:blip r:embed="rId3"/>
          <a:stretch>
            <a:fillRect/>
          </a:stretch>
        </p:blipFill>
        <p:spPr>
          <a:xfrm>
            <a:off x="6752295" y="4539447"/>
            <a:ext cx="266273" cy="266273"/>
          </a:xfrm>
          <a:prstGeom prst="rect">
            <a:avLst/>
          </a:prstGeom>
        </p:spPr>
      </p:pic>
      <p:sp>
        <p:nvSpPr>
          <p:cNvPr id="26" name="Text 21"/>
          <p:cNvSpPr txBox="1"/>
          <p:nvPr/>
        </p:nvSpPr>
        <p:spPr>
          <a:xfrm>
            <a:off x="7287768" y="4389120"/>
            <a:ext cx="4355287" cy="274320"/>
          </a:xfrm>
          <a:prstGeom prst="rect">
            <a:avLst/>
          </a:prstGeom>
          <a:noFill/>
          <a:ln/>
        </p:spPr>
        <p:txBody>
          <a:bodyPr wrap="square" lIns="0" tIns="0" rIns="0" bIns="0" rtlCol="0" anchor="t"/>
          <a:lstStyle/>
          <a:p>
            <a:pPr indent="0" marL="0">
              <a:lnSpc>
                <a:spcPts val="1540"/>
              </a:lnSpc>
              <a:buNone/>
            </a:pPr>
            <a:r>
              <a:rPr lang="en-US" sz="1400" b="1" dirty="0">
                <a:solidFill>
                  <a:srgbClr val="2E3440"/>
                </a:solidFill>
                <a:latin typeface="Meiryo UI" pitchFamily="34" charset="0"/>
                <a:ea typeface="Meiryo UI" pitchFamily="34" charset="-122"/>
                <a:cs typeface="Meiryo UI" pitchFamily="34" charset="-120"/>
              </a:rPr>
              <a:t>工賃を上げる柱</a:t>
            </a:r>
            <a:endParaRPr lang="en-US" sz="1400" dirty="0"/>
          </a:p>
        </p:txBody>
      </p:sp>
      <p:sp>
        <p:nvSpPr>
          <p:cNvPr id="27" name="Text 22"/>
          <p:cNvSpPr txBox="1"/>
          <p:nvPr/>
        </p:nvSpPr>
        <p:spPr>
          <a:xfrm>
            <a:off x="7287768" y="4681728"/>
            <a:ext cx="4355287" cy="292608"/>
          </a:xfrm>
          <a:prstGeom prst="rect">
            <a:avLst/>
          </a:prstGeom>
          <a:noFill/>
          <a:ln/>
        </p:spPr>
        <p:txBody>
          <a:bodyPr wrap="square" lIns="0" tIns="0" rIns="0" bIns="0" rtlCol="0" anchor="t"/>
          <a:lstStyle/>
          <a:p>
            <a:pPr indent="0" marL="0">
              <a:lnSpc>
                <a:spcPts val="1430"/>
              </a:lnSpc>
              <a:buNone/>
            </a:pPr>
            <a:r>
              <a:rPr lang="en-US" sz="1300" dirty="0">
                <a:solidFill>
                  <a:srgbClr val="5B6472"/>
                </a:solidFill>
                <a:latin typeface="Meiryo UI" pitchFamily="34" charset="0"/>
                <a:ea typeface="Meiryo UI" pitchFamily="34" charset="-122"/>
                <a:cs typeface="Meiryo UI" pitchFamily="34" charset="-120"/>
              </a:rPr>
              <a:t>施設外就労（清掃・農福連携）や自主製品（菓子など）</a:t>
            </a:r>
            <a:endParaRPr lang="en-US" sz="1300" dirty="0"/>
          </a:p>
        </p:txBody>
      </p:sp>
      <p:sp>
        <p:nvSpPr>
          <p:cNvPr id="28" name="Shape 23"/>
          <p:cNvSpPr/>
          <p:nvPr/>
        </p:nvSpPr>
        <p:spPr>
          <a:xfrm>
            <a:off x="6629400" y="5129784"/>
            <a:ext cx="512064" cy="512064"/>
          </a:xfrm>
          <a:prstGeom prst="ellipse">
            <a:avLst/>
          </a:prstGeom>
          <a:solidFill>
            <a:srgbClr val="3FA7D6"/>
          </a:solidFill>
          <a:ln w="6350">
            <a:solidFill>
              <a:srgbClr val="3FA7D6"/>
            </a:solidFill>
            <a:prstDash val="solid"/>
          </a:ln>
        </p:spPr>
      </p:sp>
      <p:pic>
        <p:nvPicPr>
          <p:cNvPr id="29" name="Image 2" descr="preencoded.png">    </p:cNvPr>
          <p:cNvPicPr>
            <a:picLocks noChangeAspect="1"/>
          </p:cNvPicPr>
          <p:nvPr/>
        </p:nvPicPr>
        <p:blipFill>
          <a:blip r:embed="rId4"/>
          <a:stretch>
            <a:fillRect/>
          </a:stretch>
        </p:blipFill>
        <p:spPr>
          <a:xfrm>
            <a:off x="6752295" y="5252679"/>
            <a:ext cx="266273" cy="266273"/>
          </a:xfrm>
          <a:prstGeom prst="rect">
            <a:avLst/>
          </a:prstGeom>
        </p:spPr>
      </p:pic>
      <p:sp>
        <p:nvSpPr>
          <p:cNvPr id="30" name="Text 24"/>
          <p:cNvSpPr txBox="1"/>
          <p:nvPr/>
        </p:nvSpPr>
        <p:spPr>
          <a:xfrm>
            <a:off x="7287768" y="5102352"/>
            <a:ext cx="4355287" cy="274320"/>
          </a:xfrm>
          <a:prstGeom prst="rect">
            <a:avLst/>
          </a:prstGeom>
          <a:noFill/>
          <a:ln/>
        </p:spPr>
        <p:txBody>
          <a:bodyPr wrap="square" lIns="0" tIns="0" rIns="0" bIns="0" rtlCol="0" anchor="t"/>
          <a:lstStyle/>
          <a:p>
            <a:pPr indent="0" marL="0">
              <a:lnSpc>
                <a:spcPts val="1540"/>
              </a:lnSpc>
              <a:buNone/>
            </a:pPr>
            <a:r>
              <a:rPr lang="en-US" sz="1400" b="1" dirty="0">
                <a:solidFill>
                  <a:srgbClr val="2E3440"/>
                </a:solidFill>
                <a:latin typeface="Meiryo UI" pitchFamily="34" charset="0"/>
                <a:ea typeface="Meiryo UI" pitchFamily="34" charset="-122"/>
                <a:cs typeface="Meiryo UI" pitchFamily="34" charset="-120"/>
              </a:rPr>
              <a:t>放デイ卒業生に合わせて</a:t>
            </a:r>
            <a:endParaRPr lang="en-US" sz="1400" dirty="0"/>
          </a:p>
        </p:txBody>
      </p:sp>
      <p:sp>
        <p:nvSpPr>
          <p:cNvPr id="31" name="Text 25"/>
          <p:cNvSpPr txBox="1"/>
          <p:nvPr/>
        </p:nvSpPr>
        <p:spPr>
          <a:xfrm>
            <a:off x="7287768" y="5394960"/>
            <a:ext cx="4355287" cy="292608"/>
          </a:xfrm>
          <a:prstGeom prst="rect">
            <a:avLst/>
          </a:prstGeom>
          <a:noFill/>
          <a:ln/>
        </p:spPr>
        <p:txBody>
          <a:bodyPr wrap="square" lIns="0" tIns="0" rIns="0" bIns="0" rtlCol="0" anchor="t"/>
          <a:lstStyle/>
          <a:p>
            <a:pPr indent="0" marL="0">
              <a:lnSpc>
                <a:spcPts val="1430"/>
              </a:lnSpc>
              <a:buNone/>
            </a:pPr>
            <a:r>
              <a:rPr lang="en-US" sz="1300" dirty="0">
                <a:solidFill>
                  <a:srgbClr val="5B6472"/>
                </a:solidFill>
                <a:latin typeface="Meiryo UI" pitchFamily="34" charset="0"/>
                <a:ea typeface="Meiryo UI" pitchFamily="34" charset="-122"/>
                <a:cs typeface="Meiryo UI" pitchFamily="34" charset="-120"/>
              </a:rPr>
              <a:t>IT・PC作業や接客など、一般就労につながる作業</a:t>
            </a:r>
            <a:endParaRPr lang="en-US" sz="1300" dirty="0"/>
          </a:p>
        </p:txBody>
      </p:sp>
      <p:sp>
        <p:nvSpPr>
          <p:cNvPr id="32" name="Text 26"/>
          <p:cNvSpPr txBox="1"/>
          <p:nvPr/>
        </p:nvSpPr>
        <p:spPr>
          <a:xfrm>
            <a:off x="548640" y="5897880"/>
            <a:ext cx="11094415" cy="274320"/>
          </a:xfrm>
          <a:prstGeom prst="rect">
            <a:avLst/>
          </a:prstGeom>
          <a:noFill/>
          <a:ln/>
        </p:spPr>
        <p:txBody>
          <a:bodyPr wrap="square" lIns="0" tIns="0" rIns="0" bIns="0" rtlCol="0" anchor="t"/>
          <a:lstStyle/>
          <a:p>
            <a:pPr indent="0" marL="0">
              <a:lnSpc>
                <a:spcPts val="1100"/>
              </a:lnSpc>
              <a:buNone/>
            </a:pPr>
            <a:r>
              <a:rPr lang="en-US" sz="1000" dirty="0">
                <a:solidFill>
                  <a:srgbClr val="8A93A3"/>
                </a:solidFill>
                <a:latin typeface="Meiryo UI" pitchFamily="34" charset="0"/>
                <a:ea typeface="Meiryo UI" pitchFamily="34" charset="-122"/>
                <a:cs typeface="Meiryo UI" pitchFamily="34" charset="-120"/>
              </a:rPr>
              <a:t>出典：厚生労働省「工賃（賃金）の実績」（令和6年度）・「生産活動の活性化に関する調査研究」（令和5年度）、愛媛県「月額平均工賃」（令和6年度）</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118872" cy="118872"/>
          </a:xfrm>
          <a:prstGeom prst="ellipse">
            <a:avLst/>
          </a:prstGeom>
          <a:solidFill>
            <a:srgbClr val="E8505B"/>
          </a:solidFill>
          <a:ln w="6350">
            <a:solidFill>
              <a:srgbClr val="E8505B"/>
            </a:solidFill>
            <a:prstDash val="solid"/>
          </a:ln>
        </p:spPr>
      </p:sp>
      <p:sp>
        <p:nvSpPr>
          <p:cNvPr id="3" name="Shape 1"/>
          <p:cNvSpPr/>
          <p:nvPr/>
        </p:nvSpPr>
        <p:spPr>
          <a:xfrm>
            <a:off x="740664" y="457200"/>
            <a:ext cx="118872" cy="118872"/>
          </a:xfrm>
          <a:prstGeom prst="ellipse">
            <a:avLst/>
          </a:prstGeom>
          <a:solidFill>
            <a:srgbClr val="F39C33"/>
          </a:solidFill>
          <a:ln w="6350">
            <a:solidFill>
              <a:srgbClr val="F39C33"/>
            </a:solidFill>
            <a:prstDash val="solid"/>
          </a:ln>
        </p:spPr>
      </p:sp>
      <p:sp>
        <p:nvSpPr>
          <p:cNvPr id="4" name="Shape 2"/>
          <p:cNvSpPr/>
          <p:nvPr/>
        </p:nvSpPr>
        <p:spPr>
          <a:xfrm>
            <a:off x="932688" y="457200"/>
            <a:ext cx="118872" cy="118872"/>
          </a:xfrm>
          <a:prstGeom prst="ellipse">
            <a:avLst/>
          </a:prstGeom>
          <a:solidFill>
            <a:srgbClr val="F2C230"/>
          </a:solidFill>
          <a:ln w="6350">
            <a:solidFill>
              <a:srgbClr val="F2C230"/>
            </a:solidFill>
            <a:prstDash val="solid"/>
          </a:ln>
        </p:spPr>
      </p:sp>
      <p:sp>
        <p:nvSpPr>
          <p:cNvPr id="5" name="Shape 3"/>
          <p:cNvSpPr/>
          <p:nvPr/>
        </p:nvSpPr>
        <p:spPr>
          <a:xfrm>
            <a:off x="1124712" y="457200"/>
            <a:ext cx="118872" cy="118872"/>
          </a:xfrm>
          <a:prstGeom prst="ellipse">
            <a:avLst/>
          </a:prstGeom>
          <a:solidFill>
            <a:srgbClr val="5DBB63"/>
          </a:solidFill>
          <a:ln w="6350">
            <a:solidFill>
              <a:srgbClr val="5DBB63"/>
            </a:solidFill>
            <a:prstDash val="solid"/>
          </a:ln>
        </p:spPr>
      </p:sp>
      <p:sp>
        <p:nvSpPr>
          <p:cNvPr id="6" name="Shape 4"/>
          <p:cNvSpPr/>
          <p:nvPr/>
        </p:nvSpPr>
        <p:spPr>
          <a:xfrm>
            <a:off x="1316736" y="457200"/>
            <a:ext cx="118872" cy="118872"/>
          </a:xfrm>
          <a:prstGeom prst="ellipse">
            <a:avLst/>
          </a:prstGeom>
          <a:solidFill>
            <a:srgbClr val="3FA7D6"/>
          </a:solidFill>
          <a:ln w="6350">
            <a:solidFill>
              <a:srgbClr val="3FA7D6"/>
            </a:solidFill>
            <a:prstDash val="solid"/>
          </a:ln>
        </p:spPr>
      </p:sp>
      <p:sp>
        <p:nvSpPr>
          <p:cNvPr id="7" name="Shape 5"/>
          <p:cNvSpPr/>
          <p:nvPr/>
        </p:nvSpPr>
        <p:spPr>
          <a:xfrm>
            <a:off x="1508760" y="457200"/>
            <a:ext cx="118872" cy="118872"/>
          </a:xfrm>
          <a:prstGeom prst="ellipse">
            <a:avLst/>
          </a:prstGeom>
          <a:solidFill>
            <a:srgbClr val="4A6FC7"/>
          </a:solidFill>
          <a:ln w="6350">
            <a:solidFill>
              <a:srgbClr val="4A6FC7"/>
            </a:solidFill>
            <a:prstDash val="solid"/>
          </a:ln>
        </p:spPr>
      </p:sp>
      <p:sp>
        <p:nvSpPr>
          <p:cNvPr id="8" name="Shape 6"/>
          <p:cNvSpPr/>
          <p:nvPr/>
        </p:nvSpPr>
        <p:spPr>
          <a:xfrm>
            <a:off x="1700784" y="457200"/>
            <a:ext cx="118872" cy="118872"/>
          </a:xfrm>
          <a:prstGeom prst="ellipse">
            <a:avLst/>
          </a:prstGeom>
          <a:solidFill>
            <a:srgbClr val="9A6BC4"/>
          </a:solidFill>
          <a:ln w="6350">
            <a:solidFill>
              <a:srgbClr val="9A6BC4"/>
            </a:solidFill>
            <a:prstDash val="solid"/>
          </a:ln>
        </p:spPr>
      </p:sp>
      <p:sp>
        <p:nvSpPr>
          <p:cNvPr id="9" name="Text 7"/>
          <p:cNvSpPr txBox="1"/>
          <p:nvPr/>
        </p:nvSpPr>
        <p:spPr>
          <a:xfrm>
            <a:off x="548640" y="676656"/>
            <a:ext cx="10424160" cy="640080"/>
          </a:xfrm>
          <a:prstGeom prst="rect">
            <a:avLst/>
          </a:prstGeom>
          <a:noFill/>
          <a:ln/>
        </p:spPr>
        <p:txBody>
          <a:bodyPr wrap="square" lIns="0" tIns="0" rIns="0" bIns="0" rtlCol="0" anchor="t"/>
          <a:lstStyle/>
          <a:p>
            <a:pPr indent="0" marL="0">
              <a:lnSpc>
                <a:spcPts val="3900"/>
              </a:lnSpc>
              <a:buNone/>
            </a:pPr>
            <a:r>
              <a:rPr lang="en-US" sz="3000" b="1" dirty="0">
                <a:solidFill>
                  <a:srgbClr val="2E3440"/>
                </a:solidFill>
                <a:latin typeface="Meiryo UI" pitchFamily="34" charset="0"/>
                <a:ea typeface="Meiryo UI" pitchFamily="34" charset="-122"/>
                <a:cs typeface="Meiryo UI" pitchFamily="34" charset="-120"/>
              </a:rPr>
              <a:t>B型開設の試算（西条市・定員20名）</a:t>
            </a:r>
            <a:endParaRPr lang="en-US" sz="3000" dirty="0"/>
          </a:p>
        </p:txBody>
      </p:sp>
      <p:sp>
        <p:nvSpPr>
          <p:cNvPr id="10" name="Text 8"/>
          <p:cNvSpPr txBox="1"/>
          <p:nvPr/>
        </p:nvSpPr>
        <p:spPr>
          <a:xfrm>
            <a:off x="11094415" y="6382512"/>
            <a:ext cx="548640" cy="274320"/>
          </a:xfrm>
          <a:prstGeom prst="rect">
            <a:avLst/>
          </a:prstGeom>
          <a:noFill/>
          <a:ln/>
        </p:spPr>
        <p:txBody>
          <a:bodyPr wrap="square" lIns="0" tIns="0" rIns="0" bIns="0" rtlCol="0" anchor="t"/>
          <a:lstStyle/>
          <a:p>
            <a:pPr algn="r" indent="0" marL="0">
              <a:lnSpc>
                <a:spcPts val="1430"/>
              </a:lnSpc>
              <a:buNone/>
            </a:pPr>
            <a:r>
              <a:rPr lang="en-US" sz="1100" dirty="0">
                <a:solidFill>
                  <a:srgbClr val="5B6472"/>
                </a:solidFill>
                <a:latin typeface="Meiryo UI" pitchFamily="34" charset="0"/>
                <a:ea typeface="Meiryo UI" pitchFamily="34" charset="-122"/>
                <a:cs typeface="Meiryo UI" pitchFamily="34" charset="-120"/>
              </a:rPr>
              <a:t>8</a:t>
            </a:r>
            <a:endParaRPr lang="en-US" sz="1100" dirty="0"/>
          </a:p>
        </p:txBody>
      </p:sp>
      <p:sp>
        <p:nvSpPr>
          <p:cNvPr id="11" name="Shape 9"/>
          <p:cNvSpPr/>
          <p:nvPr/>
        </p:nvSpPr>
        <p:spPr>
          <a:xfrm>
            <a:off x="548640" y="1600200"/>
            <a:ext cx="6355080" cy="3657600"/>
          </a:xfrm>
          <a:prstGeom prst="roundRect">
            <a:avLst>
              <a:gd name="adj" fmla="val 3500"/>
            </a:avLst>
          </a:prstGeom>
          <a:solidFill>
            <a:srgbClr val="F3F5F9"/>
          </a:solidFill>
          <a:ln w="6350">
            <a:solidFill>
              <a:srgbClr val="F3F5F9"/>
            </a:solidFill>
            <a:prstDash val="solid"/>
          </a:ln>
        </p:spPr>
      </p:sp>
      <p:graphicFrame>
        <p:nvGraphicFramePr>
          <p:cNvPr id="12" name="Chart 0" descr=""/>
          <p:cNvGraphicFramePr/>
          <p:nvPr/>
        </p:nvGraphicFramePr>
        <p:xfrm>
          <a:off x="685800" y="1691640"/>
          <a:ext cx="6080760" cy="3474720"/>
        </p:xfrm>
        <a:graphic xmlns:a="http://schemas.openxmlformats.org/drawingml/2006/main">
          <a:graphicData uri="http://schemas.openxmlformats.org/drawingml/2006/chart">
            <c:chart xmlns:c="http://schemas.openxmlformats.org/drawingml/2006/chart" r:id="rId1"/>
          </a:graphicData>
        </a:graphic>
      </p:graphicFrame>
      <p:sp>
        <p:nvSpPr>
          <p:cNvPr id="13" name="Shape 10"/>
          <p:cNvSpPr/>
          <p:nvPr/>
        </p:nvSpPr>
        <p:spPr>
          <a:xfrm>
            <a:off x="7132320" y="1600200"/>
            <a:ext cx="2163928" cy="1737360"/>
          </a:xfrm>
          <a:prstGeom prst="roundRect">
            <a:avLst>
              <a:gd name="adj" fmla="val 7368"/>
            </a:avLst>
          </a:prstGeom>
          <a:solidFill>
            <a:srgbClr val="F3F5F9"/>
          </a:solidFill>
          <a:ln w="6350">
            <a:solidFill>
              <a:srgbClr val="F3F5F9"/>
            </a:solidFill>
            <a:prstDash val="solid"/>
          </a:ln>
        </p:spPr>
      </p:sp>
      <p:sp>
        <p:nvSpPr>
          <p:cNvPr id="14" name="Text 11"/>
          <p:cNvSpPr txBox="1"/>
          <p:nvPr/>
        </p:nvSpPr>
        <p:spPr>
          <a:xfrm>
            <a:off x="7223760" y="1878178"/>
            <a:ext cx="1981048" cy="566928"/>
          </a:xfrm>
          <a:prstGeom prst="rect">
            <a:avLst/>
          </a:prstGeom>
          <a:noFill/>
          <a:ln/>
        </p:spPr>
        <p:txBody>
          <a:bodyPr wrap="square" lIns="0" tIns="0" rIns="0" bIns="0" rtlCol="0" anchor="ctr"/>
          <a:lstStyle/>
          <a:p>
            <a:pPr algn="ctr" indent="0" marL="0">
              <a:lnSpc>
                <a:spcPts val="2800"/>
              </a:lnSpc>
              <a:buNone/>
            </a:pPr>
            <a:r>
              <a:rPr lang="en-US" sz="2800" b="1" dirty="0">
                <a:solidFill>
                  <a:srgbClr val="C73B4A"/>
                </a:solidFill>
                <a:latin typeface="Meiryo UI" pitchFamily="34" charset="0"/>
                <a:ea typeface="Meiryo UI" pitchFamily="34" charset="-122"/>
                <a:cs typeface="Meiryo UI" pitchFamily="34" charset="-120"/>
              </a:rPr>
              <a:t>18人</a:t>
            </a:r>
            <a:endParaRPr lang="en-US" sz="2800" dirty="0"/>
          </a:p>
        </p:txBody>
      </p:sp>
      <p:sp>
        <p:nvSpPr>
          <p:cNvPr id="15" name="Text 12"/>
          <p:cNvSpPr txBox="1"/>
          <p:nvPr/>
        </p:nvSpPr>
        <p:spPr>
          <a:xfrm>
            <a:off x="7269480" y="2536546"/>
            <a:ext cx="1889608" cy="727862"/>
          </a:xfrm>
          <a:prstGeom prst="rect">
            <a:avLst/>
          </a:prstGeom>
          <a:noFill/>
          <a:ln/>
        </p:spPr>
        <p:txBody>
          <a:bodyPr wrap="square" lIns="0" tIns="0" rIns="0" bIns="0" rtlCol="0" anchor="t"/>
          <a:lstStyle/>
          <a:p>
            <a:pPr algn="ctr" indent="0" marL="0">
              <a:lnSpc>
                <a:spcPts val="1560"/>
              </a:lnSpc>
              <a:buNone/>
            </a:pPr>
            <a:r>
              <a:rPr lang="en-US" sz="1200" dirty="0">
                <a:solidFill>
                  <a:srgbClr val="5B6472"/>
                </a:solidFill>
                <a:latin typeface="Meiryo UI" pitchFamily="34" charset="0"/>
                <a:ea typeface="Meiryo UI" pitchFamily="34" charset="-122"/>
                <a:cs typeface="Meiryo UI" pitchFamily="34" charset="-120"/>
              </a:rPr>
              <a:t>1日の平均利用者数</a:t>
            </a:r>
            <a:endParaRPr lang="en-US" sz="1200" dirty="0"/>
          </a:p>
          <a:p>
            <a:pPr algn="ctr" indent="0" marL="0">
              <a:lnSpc>
                <a:spcPts val="1560"/>
              </a:lnSpc>
              <a:buNone/>
            </a:pPr>
            <a:r>
              <a:rPr lang="en-US" sz="1200" dirty="0">
                <a:solidFill>
                  <a:srgbClr val="5B6472"/>
                </a:solidFill>
                <a:latin typeface="Meiryo UI" pitchFamily="34" charset="0"/>
                <a:ea typeface="Meiryo UI" pitchFamily="34" charset="-122"/>
                <a:cs typeface="Meiryo UI" pitchFamily="34" charset="-120"/>
              </a:rPr>
              <a:t>（安定期）</a:t>
            </a:r>
            <a:endParaRPr lang="en-US" sz="1200" dirty="0"/>
          </a:p>
        </p:txBody>
      </p:sp>
      <p:sp>
        <p:nvSpPr>
          <p:cNvPr id="16" name="Shape 13"/>
          <p:cNvSpPr/>
          <p:nvPr/>
        </p:nvSpPr>
        <p:spPr>
          <a:xfrm>
            <a:off x="9479128" y="1600200"/>
            <a:ext cx="2163928" cy="1737360"/>
          </a:xfrm>
          <a:prstGeom prst="roundRect">
            <a:avLst>
              <a:gd name="adj" fmla="val 7368"/>
            </a:avLst>
          </a:prstGeom>
          <a:solidFill>
            <a:srgbClr val="F3F5F9"/>
          </a:solidFill>
          <a:ln w="6350">
            <a:solidFill>
              <a:srgbClr val="F3F5F9"/>
            </a:solidFill>
            <a:prstDash val="solid"/>
          </a:ln>
        </p:spPr>
      </p:sp>
      <p:sp>
        <p:nvSpPr>
          <p:cNvPr id="17" name="Text 14"/>
          <p:cNvSpPr txBox="1"/>
          <p:nvPr/>
        </p:nvSpPr>
        <p:spPr>
          <a:xfrm>
            <a:off x="9570568" y="1878178"/>
            <a:ext cx="1981048" cy="566928"/>
          </a:xfrm>
          <a:prstGeom prst="rect">
            <a:avLst/>
          </a:prstGeom>
          <a:noFill/>
          <a:ln/>
        </p:spPr>
        <p:txBody>
          <a:bodyPr wrap="square" lIns="0" tIns="0" rIns="0" bIns="0" rtlCol="0" anchor="ctr"/>
          <a:lstStyle/>
          <a:p>
            <a:pPr algn="ctr" indent="0" marL="0">
              <a:lnSpc>
                <a:spcPts val="2800"/>
              </a:lnSpc>
              <a:buNone/>
            </a:pPr>
            <a:r>
              <a:rPr lang="en-US" sz="2800" b="1" dirty="0">
                <a:solidFill>
                  <a:srgbClr val="A85800"/>
                </a:solidFill>
                <a:latin typeface="Meiryo UI" pitchFamily="34" charset="0"/>
                <a:ea typeface="Meiryo UI" pitchFamily="34" charset="-122"/>
                <a:cs typeface="Meiryo UI" pitchFamily="34" charset="-120"/>
              </a:rPr>
              <a:t>6か月目</a:t>
            </a:r>
            <a:endParaRPr lang="en-US" sz="2800" dirty="0"/>
          </a:p>
        </p:txBody>
      </p:sp>
      <p:sp>
        <p:nvSpPr>
          <p:cNvPr id="18" name="Text 15"/>
          <p:cNvSpPr txBox="1"/>
          <p:nvPr/>
        </p:nvSpPr>
        <p:spPr>
          <a:xfrm>
            <a:off x="9616288" y="2536546"/>
            <a:ext cx="1889608" cy="727862"/>
          </a:xfrm>
          <a:prstGeom prst="rect">
            <a:avLst/>
          </a:prstGeom>
          <a:noFill/>
          <a:ln/>
        </p:spPr>
        <p:txBody>
          <a:bodyPr wrap="square" lIns="0" tIns="0" rIns="0" bIns="0" rtlCol="0" anchor="t"/>
          <a:lstStyle/>
          <a:p>
            <a:pPr algn="ctr" indent="0" marL="0">
              <a:lnSpc>
                <a:spcPts val="1560"/>
              </a:lnSpc>
              <a:buNone/>
            </a:pPr>
            <a:r>
              <a:rPr lang="en-US" sz="1200" dirty="0">
                <a:solidFill>
                  <a:srgbClr val="5B6472"/>
                </a:solidFill>
                <a:latin typeface="Meiryo UI" pitchFamily="34" charset="0"/>
                <a:ea typeface="Meiryo UI" pitchFamily="34" charset="-122"/>
                <a:cs typeface="Meiryo UI" pitchFamily="34" charset="-120"/>
              </a:rPr>
              <a:t>単月で黒字化</a:t>
            </a:r>
            <a:endParaRPr lang="en-US" sz="1200" dirty="0"/>
          </a:p>
        </p:txBody>
      </p:sp>
      <p:sp>
        <p:nvSpPr>
          <p:cNvPr id="19" name="Shape 16"/>
          <p:cNvSpPr/>
          <p:nvPr/>
        </p:nvSpPr>
        <p:spPr>
          <a:xfrm>
            <a:off x="7132320" y="3520440"/>
            <a:ext cx="2163928" cy="1737360"/>
          </a:xfrm>
          <a:prstGeom prst="roundRect">
            <a:avLst>
              <a:gd name="adj" fmla="val 7368"/>
            </a:avLst>
          </a:prstGeom>
          <a:solidFill>
            <a:srgbClr val="F3F5F9"/>
          </a:solidFill>
          <a:ln w="6350">
            <a:solidFill>
              <a:srgbClr val="F3F5F9"/>
            </a:solidFill>
            <a:prstDash val="solid"/>
          </a:ln>
        </p:spPr>
      </p:sp>
      <p:sp>
        <p:nvSpPr>
          <p:cNvPr id="20" name="Text 17"/>
          <p:cNvSpPr txBox="1"/>
          <p:nvPr/>
        </p:nvSpPr>
        <p:spPr>
          <a:xfrm>
            <a:off x="7223760" y="3798418"/>
            <a:ext cx="1981048" cy="566928"/>
          </a:xfrm>
          <a:prstGeom prst="rect">
            <a:avLst/>
          </a:prstGeom>
          <a:noFill/>
          <a:ln/>
        </p:spPr>
        <p:txBody>
          <a:bodyPr wrap="square" lIns="0" tIns="0" rIns="0" bIns="0" rtlCol="0" anchor="ctr"/>
          <a:lstStyle/>
          <a:p>
            <a:pPr algn="ctr" indent="0" marL="0">
              <a:lnSpc>
                <a:spcPts val="2800"/>
              </a:lnSpc>
              <a:buNone/>
            </a:pPr>
            <a:r>
              <a:rPr lang="en-US" sz="2800" b="1" dirty="0">
                <a:solidFill>
                  <a:srgbClr val="2F7F3A"/>
                </a:solidFill>
                <a:latin typeface="Meiryo UI" pitchFamily="34" charset="0"/>
                <a:ea typeface="Meiryo UI" pitchFamily="34" charset="-122"/>
                <a:cs typeface="Meiryo UI" pitchFamily="34" charset="-120"/>
              </a:rPr>
              <a:t>27か月目</a:t>
            </a:r>
            <a:endParaRPr lang="en-US" sz="2800" dirty="0"/>
          </a:p>
        </p:txBody>
      </p:sp>
      <p:sp>
        <p:nvSpPr>
          <p:cNvPr id="21" name="Text 18"/>
          <p:cNvSpPr txBox="1"/>
          <p:nvPr/>
        </p:nvSpPr>
        <p:spPr>
          <a:xfrm>
            <a:off x="7269480" y="4456786"/>
            <a:ext cx="1889608" cy="727862"/>
          </a:xfrm>
          <a:prstGeom prst="rect">
            <a:avLst/>
          </a:prstGeom>
          <a:noFill/>
          <a:ln/>
        </p:spPr>
        <p:txBody>
          <a:bodyPr wrap="square" lIns="0" tIns="0" rIns="0" bIns="0" rtlCol="0" anchor="t"/>
          <a:lstStyle/>
          <a:p>
            <a:pPr algn="ctr" indent="0" marL="0">
              <a:lnSpc>
                <a:spcPts val="1560"/>
              </a:lnSpc>
              <a:buNone/>
            </a:pPr>
            <a:r>
              <a:rPr lang="en-US" sz="1200" dirty="0">
                <a:solidFill>
                  <a:srgbClr val="5B6472"/>
                </a:solidFill>
                <a:latin typeface="Meiryo UI" pitchFamily="34" charset="0"/>
                <a:ea typeface="Meiryo UI" pitchFamily="34" charset="-122"/>
                <a:cs typeface="Meiryo UI" pitchFamily="34" charset="-120"/>
              </a:rPr>
              <a:t>初期投資900万円を回収</a:t>
            </a:r>
            <a:endParaRPr lang="en-US" sz="1200" dirty="0"/>
          </a:p>
        </p:txBody>
      </p:sp>
      <p:sp>
        <p:nvSpPr>
          <p:cNvPr id="22" name="Shape 19"/>
          <p:cNvSpPr/>
          <p:nvPr/>
        </p:nvSpPr>
        <p:spPr>
          <a:xfrm>
            <a:off x="9479128" y="3520440"/>
            <a:ext cx="2163928" cy="1737360"/>
          </a:xfrm>
          <a:prstGeom prst="roundRect">
            <a:avLst>
              <a:gd name="adj" fmla="val 7368"/>
            </a:avLst>
          </a:prstGeom>
          <a:solidFill>
            <a:srgbClr val="F3F5F9"/>
          </a:solidFill>
          <a:ln w="6350">
            <a:solidFill>
              <a:srgbClr val="F3F5F9"/>
            </a:solidFill>
            <a:prstDash val="solid"/>
          </a:ln>
        </p:spPr>
      </p:sp>
      <p:sp>
        <p:nvSpPr>
          <p:cNvPr id="23" name="Text 20"/>
          <p:cNvSpPr txBox="1"/>
          <p:nvPr/>
        </p:nvSpPr>
        <p:spPr>
          <a:xfrm>
            <a:off x="9570568" y="3798418"/>
            <a:ext cx="1981048" cy="566928"/>
          </a:xfrm>
          <a:prstGeom prst="rect">
            <a:avLst/>
          </a:prstGeom>
          <a:noFill/>
          <a:ln/>
        </p:spPr>
        <p:txBody>
          <a:bodyPr wrap="square" lIns="0" tIns="0" rIns="0" bIns="0" rtlCol="0" anchor="ctr"/>
          <a:lstStyle/>
          <a:p>
            <a:pPr algn="ctr" indent="0" marL="0">
              <a:lnSpc>
                <a:spcPts val="2400"/>
              </a:lnSpc>
              <a:buNone/>
            </a:pPr>
            <a:r>
              <a:rPr lang="en-US" sz="2400" b="1" dirty="0">
                <a:solidFill>
                  <a:srgbClr val="3A5BB8"/>
                </a:solidFill>
                <a:latin typeface="Meiryo UI" pitchFamily="34" charset="0"/>
                <a:ea typeface="Meiryo UI" pitchFamily="34" charset="-122"/>
                <a:cs typeface="Meiryo UI" pitchFamily="34" charset="-120"/>
              </a:rPr>
              <a:t>1,140万円</a:t>
            </a:r>
            <a:endParaRPr lang="en-US" sz="2400" dirty="0"/>
          </a:p>
        </p:txBody>
      </p:sp>
      <p:sp>
        <p:nvSpPr>
          <p:cNvPr id="24" name="Text 21"/>
          <p:cNvSpPr txBox="1"/>
          <p:nvPr/>
        </p:nvSpPr>
        <p:spPr>
          <a:xfrm>
            <a:off x="9616288" y="4456786"/>
            <a:ext cx="1889608" cy="727862"/>
          </a:xfrm>
          <a:prstGeom prst="rect">
            <a:avLst/>
          </a:prstGeom>
          <a:noFill/>
          <a:ln/>
        </p:spPr>
        <p:txBody>
          <a:bodyPr wrap="square" lIns="0" tIns="0" rIns="0" bIns="0" rtlCol="0" anchor="t"/>
          <a:lstStyle/>
          <a:p>
            <a:pPr algn="ctr" indent="0" marL="0">
              <a:lnSpc>
                <a:spcPts val="1560"/>
              </a:lnSpc>
              <a:buNone/>
            </a:pPr>
            <a:r>
              <a:rPr lang="en-US" sz="1200" dirty="0">
                <a:solidFill>
                  <a:srgbClr val="5B6472"/>
                </a:solidFill>
                <a:latin typeface="Meiryo UI" pitchFamily="34" charset="0"/>
                <a:ea typeface="Meiryo UI" pitchFamily="34" charset="-122"/>
                <a:cs typeface="Meiryo UI" pitchFamily="34" charset="-120"/>
              </a:rPr>
              <a:t>3年目の営業利益</a:t>
            </a:r>
            <a:endParaRPr lang="en-US" sz="1200" dirty="0"/>
          </a:p>
          <a:p>
            <a:pPr algn="ctr" indent="0" marL="0">
              <a:lnSpc>
                <a:spcPts val="1560"/>
              </a:lnSpc>
              <a:buNone/>
            </a:pPr>
            <a:r>
              <a:rPr lang="en-US" sz="1200" dirty="0">
                <a:solidFill>
                  <a:srgbClr val="5B6472"/>
                </a:solidFill>
                <a:latin typeface="Meiryo UI" pitchFamily="34" charset="0"/>
                <a:ea typeface="Meiryo UI" pitchFamily="34" charset="-122"/>
                <a:cs typeface="Meiryo UI" pitchFamily="34" charset="-120"/>
              </a:rPr>
              <a:t>（概算）</a:t>
            </a:r>
            <a:endParaRPr lang="en-US" sz="1200" dirty="0"/>
          </a:p>
        </p:txBody>
      </p:sp>
      <p:sp>
        <p:nvSpPr>
          <p:cNvPr id="25" name="Text 22"/>
          <p:cNvSpPr txBox="1"/>
          <p:nvPr/>
        </p:nvSpPr>
        <p:spPr>
          <a:xfrm>
            <a:off x="548640" y="5468112"/>
            <a:ext cx="11094415" cy="475488"/>
          </a:xfrm>
          <a:prstGeom prst="rect">
            <a:avLst/>
          </a:prstGeom>
          <a:noFill/>
          <a:ln/>
        </p:spPr>
        <p:txBody>
          <a:bodyPr wrap="square" lIns="0" tIns="0" rIns="0" bIns="0" rtlCol="0" anchor="ctr"/>
          <a:lstStyle/>
          <a:p>
            <a:pPr indent="0" marL="0">
              <a:lnSpc>
                <a:spcPts val="2210"/>
              </a:lnSpc>
              <a:buNone/>
            </a:pPr>
            <a:r>
              <a:rPr lang="en-US" sz="1700" b="1" dirty="0">
                <a:solidFill>
                  <a:srgbClr val="3A5BB8"/>
                </a:solidFill>
                <a:latin typeface="Meiryo UI" pitchFamily="34" charset="0"/>
                <a:ea typeface="Meiryo UI" pitchFamily="34" charset="-122"/>
                <a:cs typeface="Meiryo UI" pitchFamily="34" charset="-120"/>
              </a:rPr>
              <a:t>黒字ラインは1日11人前後。工賃が愛媛平均（2.3万円）に届けば、年間約100万円の上乗せ。</a:t>
            </a:r>
            <a:endParaRPr lang="en-US" sz="1700" dirty="0"/>
          </a:p>
        </p:txBody>
      </p:sp>
      <p:sp>
        <p:nvSpPr>
          <p:cNvPr id="26" name="Text 23"/>
          <p:cNvSpPr txBox="1"/>
          <p:nvPr/>
        </p:nvSpPr>
        <p:spPr>
          <a:xfrm>
            <a:off x="548640" y="6035040"/>
            <a:ext cx="11094415" cy="256032"/>
          </a:xfrm>
          <a:prstGeom prst="rect">
            <a:avLst/>
          </a:prstGeom>
          <a:noFill/>
          <a:ln/>
        </p:spPr>
        <p:txBody>
          <a:bodyPr wrap="square" lIns="0" tIns="0" rIns="0" bIns="0" rtlCol="0" anchor="t"/>
          <a:lstStyle/>
          <a:p>
            <a:pPr indent="0" marL="0">
              <a:lnSpc>
                <a:spcPts val="1100"/>
              </a:lnSpc>
              <a:buNone/>
            </a:pPr>
            <a:r>
              <a:rPr lang="en-US" sz="1000" dirty="0">
                <a:solidFill>
                  <a:srgbClr val="8A93A3"/>
                </a:solidFill>
                <a:latin typeface="Meiryo UI" pitchFamily="34" charset="0"/>
                <a:ea typeface="Meiryo UI" pitchFamily="34" charset="-122"/>
                <a:cs typeface="Meiryo UI" pitchFamily="34" charset="-120"/>
              </a:rPr>
              <a:t>※標準シナリオ（定員20名・人員配置6:1・2027年4月開設・初期投資900万円）。人件費・家賃は仮置き。報酬は令和8年6月の見直しと新規指定の特例（984/1000）を反映。</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118872" cy="118872"/>
          </a:xfrm>
          <a:prstGeom prst="ellipse">
            <a:avLst/>
          </a:prstGeom>
          <a:solidFill>
            <a:srgbClr val="E8505B"/>
          </a:solidFill>
          <a:ln w="6350">
            <a:solidFill>
              <a:srgbClr val="E8505B"/>
            </a:solidFill>
            <a:prstDash val="solid"/>
          </a:ln>
        </p:spPr>
      </p:sp>
      <p:sp>
        <p:nvSpPr>
          <p:cNvPr id="3" name="Shape 1"/>
          <p:cNvSpPr/>
          <p:nvPr/>
        </p:nvSpPr>
        <p:spPr>
          <a:xfrm>
            <a:off x="740664" y="457200"/>
            <a:ext cx="118872" cy="118872"/>
          </a:xfrm>
          <a:prstGeom prst="ellipse">
            <a:avLst/>
          </a:prstGeom>
          <a:solidFill>
            <a:srgbClr val="F39C33"/>
          </a:solidFill>
          <a:ln w="6350">
            <a:solidFill>
              <a:srgbClr val="F39C33"/>
            </a:solidFill>
            <a:prstDash val="solid"/>
          </a:ln>
        </p:spPr>
      </p:sp>
      <p:sp>
        <p:nvSpPr>
          <p:cNvPr id="4" name="Shape 2"/>
          <p:cNvSpPr/>
          <p:nvPr/>
        </p:nvSpPr>
        <p:spPr>
          <a:xfrm>
            <a:off x="932688" y="457200"/>
            <a:ext cx="118872" cy="118872"/>
          </a:xfrm>
          <a:prstGeom prst="ellipse">
            <a:avLst/>
          </a:prstGeom>
          <a:solidFill>
            <a:srgbClr val="F2C230"/>
          </a:solidFill>
          <a:ln w="6350">
            <a:solidFill>
              <a:srgbClr val="F2C230"/>
            </a:solidFill>
            <a:prstDash val="solid"/>
          </a:ln>
        </p:spPr>
      </p:sp>
      <p:sp>
        <p:nvSpPr>
          <p:cNvPr id="5" name="Shape 3"/>
          <p:cNvSpPr/>
          <p:nvPr/>
        </p:nvSpPr>
        <p:spPr>
          <a:xfrm>
            <a:off x="1124712" y="457200"/>
            <a:ext cx="118872" cy="118872"/>
          </a:xfrm>
          <a:prstGeom prst="ellipse">
            <a:avLst/>
          </a:prstGeom>
          <a:solidFill>
            <a:srgbClr val="5DBB63"/>
          </a:solidFill>
          <a:ln w="6350">
            <a:solidFill>
              <a:srgbClr val="5DBB63"/>
            </a:solidFill>
            <a:prstDash val="solid"/>
          </a:ln>
        </p:spPr>
      </p:sp>
      <p:sp>
        <p:nvSpPr>
          <p:cNvPr id="6" name="Shape 4"/>
          <p:cNvSpPr/>
          <p:nvPr/>
        </p:nvSpPr>
        <p:spPr>
          <a:xfrm>
            <a:off x="1316736" y="457200"/>
            <a:ext cx="118872" cy="118872"/>
          </a:xfrm>
          <a:prstGeom prst="ellipse">
            <a:avLst/>
          </a:prstGeom>
          <a:solidFill>
            <a:srgbClr val="3FA7D6"/>
          </a:solidFill>
          <a:ln w="6350">
            <a:solidFill>
              <a:srgbClr val="3FA7D6"/>
            </a:solidFill>
            <a:prstDash val="solid"/>
          </a:ln>
        </p:spPr>
      </p:sp>
      <p:sp>
        <p:nvSpPr>
          <p:cNvPr id="7" name="Shape 5"/>
          <p:cNvSpPr/>
          <p:nvPr/>
        </p:nvSpPr>
        <p:spPr>
          <a:xfrm>
            <a:off x="1508760" y="457200"/>
            <a:ext cx="118872" cy="118872"/>
          </a:xfrm>
          <a:prstGeom prst="ellipse">
            <a:avLst/>
          </a:prstGeom>
          <a:solidFill>
            <a:srgbClr val="4A6FC7"/>
          </a:solidFill>
          <a:ln w="6350">
            <a:solidFill>
              <a:srgbClr val="4A6FC7"/>
            </a:solidFill>
            <a:prstDash val="solid"/>
          </a:ln>
        </p:spPr>
      </p:sp>
      <p:sp>
        <p:nvSpPr>
          <p:cNvPr id="8" name="Shape 6"/>
          <p:cNvSpPr/>
          <p:nvPr/>
        </p:nvSpPr>
        <p:spPr>
          <a:xfrm>
            <a:off x="1700784" y="457200"/>
            <a:ext cx="118872" cy="118872"/>
          </a:xfrm>
          <a:prstGeom prst="ellipse">
            <a:avLst/>
          </a:prstGeom>
          <a:solidFill>
            <a:srgbClr val="9A6BC4"/>
          </a:solidFill>
          <a:ln w="6350">
            <a:solidFill>
              <a:srgbClr val="9A6BC4"/>
            </a:solidFill>
            <a:prstDash val="solid"/>
          </a:ln>
        </p:spPr>
      </p:sp>
      <p:sp>
        <p:nvSpPr>
          <p:cNvPr id="9" name="Text 7"/>
          <p:cNvSpPr txBox="1"/>
          <p:nvPr/>
        </p:nvSpPr>
        <p:spPr>
          <a:xfrm>
            <a:off x="548640" y="676656"/>
            <a:ext cx="10424160" cy="640080"/>
          </a:xfrm>
          <a:prstGeom prst="rect">
            <a:avLst/>
          </a:prstGeom>
          <a:noFill/>
          <a:ln/>
        </p:spPr>
        <p:txBody>
          <a:bodyPr wrap="square" lIns="0" tIns="0" rIns="0" bIns="0" rtlCol="0" anchor="t"/>
          <a:lstStyle/>
          <a:p>
            <a:pPr indent="0" marL="0">
              <a:lnSpc>
                <a:spcPts val="3900"/>
              </a:lnSpc>
              <a:buNone/>
            </a:pPr>
            <a:r>
              <a:rPr lang="en-US" sz="3000" b="1" dirty="0">
                <a:solidFill>
                  <a:srgbClr val="2E3440"/>
                </a:solidFill>
                <a:latin typeface="Meiryo UI" pitchFamily="34" charset="0"/>
                <a:ea typeface="Meiryo UI" pitchFamily="34" charset="-122"/>
                <a:cs typeface="Meiryo UI" pitchFamily="34" charset="-120"/>
              </a:rPr>
              <a:t>描く未来　― 愛媛から全国へ（仮構想）</a:t>
            </a:r>
            <a:endParaRPr lang="en-US" sz="3000" dirty="0"/>
          </a:p>
        </p:txBody>
      </p:sp>
      <p:sp>
        <p:nvSpPr>
          <p:cNvPr id="10" name="Text 8"/>
          <p:cNvSpPr txBox="1"/>
          <p:nvPr/>
        </p:nvSpPr>
        <p:spPr>
          <a:xfrm>
            <a:off x="11094415" y="6382512"/>
            <a:ext cx="548640" cy="274320"/>
          </a:xfrm>
          <a:prstGeom prst="rect">
            <a:avLst/>
          </a:prstGeom>
          <a:noFill/>
          <a:ln/>
        </p:spPr>
        <p:txBody>
          <a:bodyPr wrap="square" lIns="0" tIns="0" rIns="0" bIns="0" rtlCol="0" anchor="t"/>
          <a:lstStyle/>
          <a:p>
            <a:pPr algn="r" indent="0" marL="0">
              <a:lnSpc>
                <a:spcPts val="1430"/>
              </a:lnSpc>
              <a:buNone/>
            </a:pPr>
            <a:r>
              <a:rPr lang="en-US" sz="1100" dirty="0">
                <a:solidFill>
                  <a:srgbClr val="5B6472"/>
                </a:solidFill>
                <a:latin typeface="Meiryo UI" pitchFamily="34" charset="0"/>
                <a:ea typeface="Meiryo UI" pitchFamily="34" charset="-122"/>
                <a:cs typeface="Meiryo UI" pitchFamily="34" charset="-120"/>
              </a:rPr>
              <a:t>9</a:t>
            </a:r>
            <a:endParaRPr lang="en-US" sz="1100" dirty="0"/>
          </a:p>
        </p:txBody>
      </p:sp>
      <p:sp>
        <p:nvSpPr>
          <p:cNvPr id="11" name="Shape 9"/>
          <p:cNvSpPr/>
          <p:nvPr/>
        </p:nvSpPr>
        <p:spPr>
          <a:xfrm>
            <a:off x="548640" y="1645920"/>
            <a:ext cx="2606040" cy="3063240"/>
          </a:xfrm>
          <a:prstGeom prst="roundRect">
            <a:avLst>
              <a:gd name="adj" fmla="val 4912"/>
            </a:avLst>
          </a:prstGeom>
          <a:solidFill>
            <a:srgbClr val="F3F5F9"/>
          </a:solidFill>
          <a:ln w="6350">
            <a:solidFill>
              <a:srgbClr val="F3F5F9"/>
            </a:solidFill>
            <a:prstDash val="solid"/>
          </a:ln>
        </p:spPr>
      </p:sp>
      <p:sp>
        <p:nvSpPr>
          <p:cNvPr id="12" name="Shape 10"/>
          <p:cNvSpPr/>
          <p:nvPr/>
        </p:nvSpPr>
        <p:spPr>
          <a:xfrm>
            <a:off x="822960" y="1920240"/>
            <a:ext cx="713232" cy="713232"/>
          </a:xfrm>
          <a:prstGeom prst="ellipse">
            <a:avLst/>
          </a:prstGeom>
          <a:solidFill>
            <a:srgbClr val="E8505B"/>
          </a:solidFill>
          <a:ln w="6350">
            <a:solidFill>
              <a:srgbClr val="E8505B"/>
            </a:solidFill>
            <a:prstDash val="solid"/>
          </a:ln>
        </p:spPr>
      </p:sp>
      <p:pic>
        <p:nvPicPr>
          <p:cNvPr id="13" name="Image 0" descr="preencoded.png">    </p:cNvPr>
          <p:cNvPicPr>
            <a:picLocks noChangeAspect="1"/>
          </p:cNvPicPr>
          <p:nvPr/>
        </p:nvPicPr>
        <p:blipFill>
          <a:blip r:embed="rId1"/>
          <a:stretch>
            <a:fillRect/>
          </a:stretch>
        </p:blipFill>
        <p:spPr>
          <a:xfrm>
            <a:off x="994136" y="2091416"/>
            <a:ext cx="370881" cy="370881"/>
          </a:xfrm>
          <a:prstGeom prst="rect">
            <a:avLst/>
          </a:prstGeom>
        </p:spPr>
      </p:pic>
      <p:sp>
        <p:nvSpPr>
          <p:cNvPr id="14" name="Text 11"/>
          <p:cNvSpPr txBox="1"/>
          <p:nvPr/>
        </p:nvSpPr>
        <p:spPr>
          <a:xfrm>
            <a:off x="1691640" y="2121408"/>
            <a:ext cx="1325880" cy="320040"/>
          </a:xfrm>
          <a:prstGeom prst="rect">
            <a:avLst/>
          </a:prstGeom>
          <a:noFill/>
          <a:ln/>
        </p:spPr>
        <p:txBody>
          <a:bodyPr wrap="square" lIns="0" tIns="0" rIns="0" bIns="0" rtlCol="0" anchor="ctr"/>
          <a:lstStyle/>
          <a:p>
            <a:pPr indent="0" marL="0">
              <a:lnSpc>
                <a:spcPts val="1300"/>
              </a:lnSpc>
              <a:buNone/>
            </a:pPr>
            <a:r>
              <a:rPr lang="en-US" sz="1300" b="1" dirty="0">
                <a:solidFill>
                  <a:srgbClr val="C73B4A"/>
                </a:solidFill>
                <a:latin typeface="Meiryo UI" pitchFamily="34" charset="0"/>
                <a:ea typeface="Meiryo UI" pitchFamily="34" charset="-122"/>
                <a:cs typeface="Meiryo UI" pitchFamily="34" charset="-120"/>
              </a:rPr>
              <a:t>STEP 1</a:t>
            </a:r>
            <a:endParaRPr lang="en-US" sz="1300" dirty="0"/>
          </a:p>
        </p:txBody>
      </p:sp>
      <p:sp>
        <p:nvSpPr>
          <p:cNvPr id="15" name="Text 12"/>
          <p:cNvSpPr txBox="1"/>
          <p:nvPr/>
        </p:nvSpPr>
        <p:spPr>
          <a:xfrm>
            <a:off x="822960" y="2834640"/>
            <a:ext cx="2148840" cy="457200"/>
          </a:xfrm>
          <a:prstGeom prst="rect">
            <a:avLst/>
          </a:prstGeom>
          <a:noFill/>
          <a:ln/>
        </p:spPr>
        <p:txBody>
          <a:bodyPr wrap="square" lIns="0" tIns="0" rIns="0" bIns="0" rtlCol="0" anchor="t"/>
          <a:lstStyle/>
          <a:p>
            <a:pPr indent="0" marL="0">
              <a:lnSpc>
                <a:spcPts val="2420"/>
              </a:lnSpc>
              <a:buNone/>
            </a:pPr>
            <a:r>
              <a:rPr lang="en-US" sz="2100" b="1" dirty="0">
                <a:solidFill>
                  <a:srgbClr val="2E3440"/>
                </a:solidFill>
                <a:latin typeface="Meiryo UI" pitchFamily="34" charset="0"/>
                <a:ea typeface="Meiryo UI" pitchFamily="34" charset="-122"/>
                <a:cs typeface="Meiryo UI" pitchFamily="34" charset="-120"/>
              </a:rPr>
              <a:t>愛媛で実践</a:t>
            </a:r>
            <a:endParaRPr lang="en-US" sz="2100" dirty="0"/>
          </a:p>
        </p:txBody>
      </p:sp>
      <p:sp>
        <p:nvSpPr>
          <p:cNvPr id="16" name="Text 13"/>
          <p:cNvSpPr txBox="1"/>
          <p:nvPr/>
        </p:nvSpPr>
        <p:spPr>
          <a:xfrm>
            <a:off x="822960" y="3401568"/>
            <a:ext cx="2194560" cy="1188720"/>
          </a:xfrm>
          <a:prstGeom prst="rect">
            <a:avLst/>
          </a:prstGeom>
          <a:noFill/>
          <a:ln/>
        </p:spPr>
        <p:txBody>
          <a:bodyPr wrap="square" lIns="0" tIns="0" rIns="0" bIns="0" rtlCol="0" anchor="t"/>
          <a:lstStyle/>
          <a:p>
            <a:pPr indent="0" marL="0">
              <a:lnSpc>
                <a:spcPts val="1880"/>
              </a:lnSpc>
              <a:buNone/>
            </a:pPr>
            <a:r>
              <a:rPr lang="en-US" sz="1300" dirty="0">
                <a:solidFill>
                  <a:srgbClr val="5B6472"/>
                </a:solidFill>
                <a:latin typeface="Meiryo UI" pitchFamily="34" charset="0"/>
                <a:ea typeface="Meiryo UI" pitchFamily="34" charset="-122"/>
                <a:cs typeface="Meiryo UI" pitchFamily="34" charset="-120"/>
              </a:rPr>
              <a:t>B型を第一歩に、</a:t>
            </a:r>
            <a:endParaRPr lang="en-US" sz="1300" dirty="0"/>
          </a:p>
          <a:p>
            <a:pPr indent="0" marL="0">
              <a:lnSpc>
                <a:spcPts val="1880"/>
              </a:lnSpc>
              <a:buNone/>
            </a:pPr>
            <a:r>
              <a:rPr lang="en-US" sz="1300" dirty="0">
                <a:solidFill>
                  <a:srgbClr val="5B6472"/>
                </a:solidFill>
                <a:latin typeface="Meiryo UI" pitchFamily="34" charset="0"/>
                <a:ea typeface="Meiryo UI" pitchFamily="34" charset="-122"/>
                <a:cs typeface="Meiryo UI" pitchFamily="34" charset="-120"/>
              </a:rPr>
              <a:t>放デイ・児童クラブ・</a:t>
            </a:r>
            <a:endParaRPr lang="en-US" sz="1300" dirty="0"/>
          </a:p>
          <a:p>
            <a:pPr indent="0" marL="0">
              <a:lnSpc>
                <a:spcPts val="1880"/>
              </a:lnSpc>
              <a:buNone/>
            </a:pPr>
            <a:r>
              <a:rPr lang="en-US" sz="1300" dirty="0">
                <a:solidFill>
                  <a:srgbClr val="5B6472"/>
                </a:solidFill>
                <a:latin typeface="Meiryo UI" pitchFamily="34" charset="0"/>
                <a:ea typeface="Meiryo UI" pitchFamily="34" charset="-122"/>
                <a:cs typeface="Meiryo UI" pitchFamily="34" charset="-120"/>
              </a:rPr>
              <a:t>就労をつなぐ</a:t>
            </a:r>
            <a:endParaRPr lang="en-US" sz="1300" dirty="0"/>
          </a:p>
        </p:txBody>
      </p:sp>
      <p:sp>
        <p:nvSpPr>
          <p:cNvPr id="17" name="Shape 14"/>
          <p:cNvSpPr/>
          <p:nvPr/>
        </p:nvSpPr>
        <p:spPr>
          <a:xfrm>
            <a:off x="3206953" y="3040380"/>
            <a:ext cx="118872" cy="274320"/>
          </a:xfrm>
          <a:prstGeom prst="chevron">
            <a:avLst/>
          </a:prstGeom>
          <a:solidFill>
            <a:srgbClr val="C9CFDA"/>
          </a:solidFill>
          <a:ln w="6350">
            <a:solidFill>
              <a:srgbClr val="C9CFDA"/>
            </a:solidFill>
            <a:prstDash val="solid"/>
          </a:ln>
        </p:spPr>
      </p:sp>
      <p:sp>
        <p:nvSpPr>
          <p:cNvPr id="18" name="Shape 15"/>
          <p:cNvSpPr/>
          <p:nvPr/>
        </p:nvSpPr>
        <p:spPr>
          <a:xfrm>
            <a:off x="3378098" y="1645920"/>
            <a:ext cx="2606040" cy="3063240"/>
          </a:xfrm>
          <a:prstGeom prst="roundRect">
            <a:avLst>
              <a:gd name="adj" fmla="val 4912"/>
            </a:avLst>
          </a:prstGeom>
          <a:solidFill>
            <a:srgbClr val="F3F5F9"/>
          </a:solidFill>
          <a:ln w="6350">
            <a:solidFill>
              <a:srgbClr val="F3F5F9"/>
            </a:solidFill>
            <a:prstDash val="solid"/>
          </a:ln>
        </p:spPr>
      </p:sp>
      <p:sp>
        <p:nvSpPr>
          <p:cNvPr id="19" name="Shape 16"/>
          <p:cNvSpPr/>
          <p:nvPr/>
        </p:nvSpPr>
        <p:spPr>
          <a:xfrm>
            <a:off x="3652418" y="1920240"/>
            <a:ext cx="713232" cy="713232"/>
          </a:xfrm>
          <a:prstGeom prst="ellipse">
            <a:avLst/>
          </a:prstGeom>
          <a:solidFill>
            <a:srgbClr val="F2C230"/>
          </a:solidFill>
          <a:ln w="6350">
            <a:solidFill>
              <a:srgbClr val="F2C230"/>
            </a:solidFill>
            <a:prstDash val="solid"/>
          </a:ln>
        </p:spPr>
      </p:sp>
      <p:pic>
        <p:nvPicPr>
          <p:cNvPr id="20" name="Image 1" descr="preencoded.png">    </p:cNvPr>
          <p:cNvPicPr>
            <a:picLocks noChangeAspect="1"/>
          </p:cNvPicPr>
          <p:nvPr/>
        </p:nvPicPr>
        <p:blipFill>
          <a:blip r:embed="rId2"/>
          <a:stretch>
            <a:fillRect/>
          </a:stretch>
        </p:blipFill>
        <p:spPr>
          <a:xfrm>
            <a:off x="3823594" y="2091416"/>
            <a:ext cx="370881" cy="370881"/>
          </a:xfrm>
          <a:prstGeom prst="rect">
            <a:avLst/>
          </a:prstGeom>
        </p:spPr>
      </p:pic>
      <p:sp>
        <p:nvSpPr>
          <p:cNvPr id="21" name="Text 17"/>
          <p:cNvSpPr txBox="1"/>
          <p:nvPr/>
        </p:nvSpPr>
        <p:spPr>
          <a:xfrm>
            <a:off x="4521098" y="2121408"/>
            <a:ext cx="1325880" cy="320040"/>
          </a:xfrm>
          <a:prstGeom prst="rect">
            <a:avLst/>
          </a:prstGeom>
          <a:noFill/>
          <a:ln/>
        </p:spPr>
        <p:txBody>
          <a:bodyPr wrap="square" lIns="0" tIns="0" rIns="0" bIns="0" rtlCol="0" anchor="ctr"/>
          <a:lstStyle/>
          <a:p>
            <a:pPr indent="0" marL="0">
              <a:lnSpc>
                <a:spcPts val="1300"/>
              </a:lnSpc>
              <a:buNone/>
            </a:pPr>
            <a:r>
              <a:rPr lang="en-US" sz="1300" b="1" dirty="0">
                <a:solidFill>
                  <a:srgbClr val="8F6E00"/>
                </a:solidFill>
                <a:latin typeface="Meiryo UI" pitchFamily="34" charset="0"/>
                <a:ea typeface="Meiryo UI" pitchFamily="34" charset="-122"/>
                <a:cs typeface="Meiryo UI" pitchFamily="34" charset="-120"/>
              </a:rPr>
              <a:t>STEP 2</a:t>
            </a:r>
            <a:endParaRPr lang="en-US" sz="1300" dirty="0"/>
          </a:p>
        </p:txBody>
      </p:sp>
      <p:sp>
        <p:nvSpPr>
          <p:cNvPr id="22" name="Text 18"/>
          <p:cNvSpPr txBox="1"/>
          <p:nvPr/>
        </p:nvSpPr>
        <p:spPr>
          <a:xfrm>
            <a:off x="3652418" y="2834640"/>
            <a:ext cx="2148840" cy="457200"/>
          </a:xfrm>
          <a:prstGeom prst="rect">
            <a:avLst/>
          </a:prstGeom>
          <a:noFill/>
          <a:ln/>
        </p:spPr>
        <p:txBody>
          <a:bodyPr wrap="square" lIns="0" tIns="0" rIns="0" bIns="0" rtlCol="0" anchor="t"/>
          <a:lstStyle/>
          <a:p>
            <a:pPr indent="0" marL="0">
              <a:lnSpc>
                <a:spcPts val="2420"/>
              </a:lnSpc>
              <a:buNone/>
            </a:pPr>
            <a:r>
              <a:rPr lang="en-US" sz="2100" b="1" dirty="0">
                <a:solidFill>
                  <a:srgbClr val="2E3440"/>
                </a:solidFill>
                <a:latin typeface="Meiryo UI" pitchFamily="34" charset="0"/>
                <a:ea typeface="Meiryo UI" pitchFamily="34" charset="-122"/>
                <a:cs typeface="Meiryo UI" pitchFamily="34" charset="-120"/>
              </a:rPr>
              <a:t>四国支社</a:t>
            </a:r>
            <a:endParaRPr lang="en-US" sz="2100" dirty="0"/>
          </a:p>
        </p:txBody>
      </p:sp>
      <p:sp>
        <p:nvSpPr>
          <p:cNvPr id="23" name="Text 19"/>
          <p:cNvSpPr txBox="1"/>
          <p:nvPr/>
        </p:nvSpPr>
        <p:spPr>
          <a:xfrm>
            <a:off x="3652418" y="3401568"/>
            <a:ext cx="2194560" cy="1188720"/>
          </a:xfrm>
          <a:prstGeom prst="rect">
            <a:avLst/>
          </a:prstGeom>
          <a:noFill/>
          <a:ln/>
        </p:spPr>
        <p:txBody>
          <a:bodyPr wrap="square" lIns="0" tIns="0" rIns="0" bIns="0" rtlCol="0" anchor="t"/>
          <a:lstStyle/>
          <a:p>
            <a:pPr indent="0" marL="0">
              <a:lnSpc>
                <a:spcPts val="1880"/>
              </a:lnSpc>
              <a:buNone/>
            </a:pPr>
            <a:r>
              <a:rPr lang="en-US" sz="1300" dirty="0">
                <a:solidFill>
                  <a:srgbClr val="5B6472"/>
                </a:solidFill>
                <a:latin typeface="Meiryo UI" pitchFamily="34" charset="0"/>
                <a:ea typeface="Meiryo UI" pitchFamily="34" charset="-122"/>
                <a:cs typeface="Meiryo UI" pitchFamily="34" charset="-120"/>
              </a:rPr>
              <a:t>愛媛から四国全域へ</a:t>
            </a:r>
            <a:endParaRPr lang="en-US" sz="1300" dirty="0"/>
          </a:p>
          <a:p>
            <a:pPr indent="0" marL="0">
              <a:lnSpc>
                <a:spcPts val="1880"/>
              </a:lnSpc>
              <a:buNone/>
            </a:pPr>
            <a:r>
              <a:rPr lang="en-US" sz="1300" dirty="0">
                <a:solidFill>
                  <a:srgbClr val="5B6472"/>
                </a:solidFill>
                <a:latin typeface="Meiryo UI" pitchFamily="34" charset="0"/>
                <a:ea typeface="Meiryo UI" pitchFamily="34" charset="-122"/>
                <a:cs typeface="Meiryo UI" pitchFamily="34" charset="-120"/>
              </a:rPr>
              <a:t>（インドネシアの特定技能</a:t>
            </a:r>
            <a:endParaRPr lang="en-US" sz="1300" dirty="0"/>
          </a:p>
          <a:p>
            <a:pPr indent="0" marL="0">
              <a:lnSpc>
                <a:spcPts val="1880"/>
              </a:lnSpc>
              <a:buNone/>
            </a:pPr>
            <a:r>
              <a:rPr lang="en-US" sz="1300" dirty="0">
                <a:solidFill>
                  <a:srgbClr val="5B6472"/>
                </a:solidFill>
                <a:latin typeface="Meiryo UI" pitchFamily="34" charset="0"/>
                <a:ea typeface="Meiryo UI" pitchFamily="34" charset="-122"/>
                <a:cs typeface="Meiryo UI" pitchFamily="34" charset="-120"/>
              </a:rPr>
              <a:t>等の人材も含めて）</a:t>
            </a:r>
            <a:endParaRPr lang="en-US" sz="1300" dirty="0"/>
          </a:p>
        </p:txBody>
      </p:sp>
      <p:sp>
        <p:nvSpPr>
          <p:cNvPr id="24" name="Shape 20"/>
          <p:cNvSpPr/>
          <p:nvPr/>
        </p:nvSpPr>
        <p:spPr>
          <a:xfrm>
            <a:off x="6036412" y="3040380"/>
            <a:ext cx="118872" cy="274320"/>
          </a:xfrm>
          <a:prstGeom prst="chevron">
            <a:avLst/>
          </a:prstGeom>
          <a:solidFill>
            <a:srgbClr val="C9CFDA"/>
          </a:solidFill>
          <a:ln w="6350">
            <a:solidFill>
              <a:srgbClr val="C9CFDA"/>
            </a:solidFill>
            <a:prstDash val="solid"/>
          </a:ln>
        </p:spPr>
      </p:sp>
      <p:sp>
        <p:nvSpPr>
          <p:cNvPr id="25" name="Shape 21"/>
          <p:cNvSpPr/>
          <p:nvPr/>
        </p:nvSpPr>
        <p:spPr>
          <a:xfrm>
            <a:off x="6207557" y="1645920"/>
            <a:ext cx="2606040" cy="3063240"/>
          </a:xfrm>
          <a:prstGeom prst="roundRect">
            <a:avLst>
              <a:gd name="adj" fmla="val 4912"/>
            </a:avLst>
          </a:prstGeom>
          <a:solidFill>
            <a:srgbClr val="F3F5F9"/>
          </a:solidFill>
          <a:ln w="6350">
            <a:solidFill>
              <a:srgbClr val="F3F5F9"/>
            </a:solidFill>
            <a:prstDash val="solid"/>
          </a:ln>
        </p:spPr>
      </p:sp>
      <p:sp>
        <p:nvSpPr>
          <p:cNvPr id="26" name="Shape 22"/>
          <p:cNvSpPr/>
          <p:nvPr/>
        </p:nvSpPr>
        <p:spPr>
          <a:xfrm>
            <a:off x="6481877" y="1920240"/>
            <a:ext cx="713232" cy="713232"/>
          </a:xfrm>
          <a:prstGeom prst="ellipse">
            <a:avLst/>
          </a:prstGeom>
          <a:solidFill>
            <a:srgbClr val="3FA7D6"/>
          </a:solidFill>
          <a:ln w="6350">
            <a:solidFill>
              <a:srgbClr val="3FA7D6"/>
            </a:solidFill>
            <a:prstDash val="solid"/>
          </a:ln>
        </p:spPr>
      </p:sp>
      <p:pic>
        <p:nvPicPr>
          <p:cNvPr id="27" name="Image 2" descr="preencoded.png">    </p:cNvPr>
          <p:cNvPicPr>
            <a:picLocks noChangeAspect="1"/>
          </p:cNvPicPr>
          <p:nvPr/>
        </p:nvPicPr>
        <p:blipFill>
          <a:blip r:embed="rId3"/>
          <a:stretch>
            <a:fillRect/>
          </a:stretch>
        </p:blipFill>
        <p:spPr>
          <a:xfrm>
            <a:off x="6653052" y="2091416"/>
            <a:ext cx="370881" cy="370881"/>
          </a:xfrm>
          <a:prstGeom prst="rect">
            <a:avLst/>
          </a:prstGeom>
        </p:spPr>
      </p:pic>
      <p:sp>
        <p:nvSpPr>
          <p:cNvPr id="28" name="Text 23"/>
          <p:cNvSpPr txBox="1"/>
          <p:nvPr/>
        </p:nvSpPr>
        <p:spPr>
          <a:xfrm>
            <a:off x="7350557" y="2121408"/>
            <a:ext cx="1325880" cy="320040"/>
          </a:xfrm>
          <a:prstGeom prst="rect">
            <a:avLst/>
          </a:prstGeom>
          <a:noFill/>
          <a:ln/>
        </p:spPr>
        <p:txBody>
          <a:bodyPr wrap="square" lIns="0" tIns="0" rIns="0" bIns="0" rtlCol="0" anchor="ctr"/>
          <a:lstStyle/>
          <a:p>
            <a:pPr indent="0" marL="0">
              <a:lnSpc>
                <a:spcPts val="1300"/>
              </a:lnSpc>
              <a:buNone/>
            </a:pPr>
            <a:r>
              <a:rPr lang="en-US" sz="1300" b="1" dirty="0">
                <a:solidFill>
                  <a:srgbClr val="1D72A3"/>
                </a:solidFill>
                <a:latin typeface="Meiryo UI" pitchFamily="34" charset="0"/>
                <a:ea typeface="Meiryo UI" pitchFamily="34" charset="-122"/>
                <a:cs typeface="Meiryo UI" pitchFamily="34" charset="-120"/>
              </a:rPr>
              <a:t>STEP 3</a:t>
            </a:r>
            <a:endParaRPr lang="en-US" sz="1300" dirty="0"/>
          </a:p>
        </p:txBody>
      </p:sp>
      <p:sp>
        <p:nvSpPr>
          <p:cNvPr id="29" name="Text 24"/>
          <p:cNvSpPr txBox="1"/>
          <p:nvPr/>
        </p:nvSpPr>
        <p:spPr>
          <a:xfrm>
            <a:off x="6481877" y="2834640"/>
            <a:ext cx="2148840" cy="457200"/>
          </a:xfrm>
          <a:prstGeom prst="rect">
            <a:avLst/>
          </a:prstGeom>
          <a:noFill/>
          <a:ln/>
        </p:spPr>
        <p:txBody>
          <a:bodyPr wrap="square" lIns="0" tIns="0" rIns="0" bIns="0" rtlCol="0" anchor="t"/>
          <a:lstStyle/>
          <a:p>
            <a:pPr indent="0" marL="0">
              <a:lnSpc>
                <a:spcPts val="2420"/>
              </a:lnSpc>
              <a:buNone/>
            </a:pPr>
            <a:r>
              <a:rPr lang="en-US" sz="2100" b="1" dirty="0">
                <a:solidFill>
                  <a:srgbClr val="2E3440"/>
                </a:solidFill>
                <a:latin typeface="Meiryo UI" pitchFamily="34" charset="0"/>
                <a:ea typeface="Meiryo UI" pitchFamily="34" charset="-122"/>
                <a:cs typeface="Meiryo UI" pitchFamily="34" charset="-120"/>
              </a:rPr>
              <a:t>関西・中部支社</a:t>
            </a:r>
            <a:endParaRPr lang="en-US" sz="2100" dirty="0"/>
          </a:p>
        </p:txBody>
      </p:sp>
      <p:sp>
        <p:nvSpPr>
          <p:cNvPr id="30" name="Text 25"/>
          <p:cNvSpPr txBox="1"/>
          <p:nvPr/>
        </p:nvSpPr>
        <p:spPr>
          <a:xfrm>
            <a:off x="6481877" y="3401568"/>
            <a:ext cx="2194560" cy="1188720"/>
          </a:xfrm>
          <a:prstGeom prst="rect">
            <a:avLst/>
          </a:prstGeom>
          <a:noFill/>
          <a:ln/>
        </p:spPr>
        <p:txBody>
          <a:bodyPr wrap="square" lIns="0" tIns="0" rIns="0" bIns="0" rtlCol="0" anchor="t"/>
          <a:lstStyle/>
          <a:p>
            <a:pPr indent="0" marL="0">
              <a:lnSpc>
                <a:spcPts val="1880"/>
              </a:lnSpc>
              <a:buNone/>
            </a:pPr>
            <a:r>
              <a:rPr lang="en-US" sz="1300" dirty="0">
                <a:solidFill>
                  <a:srgbClr val="5B6472"/>
                </a:solidFill>
                <a:latin typeface="Meiryo UI" pitchFamily="34" charset="0"/>
                <a:ea typeface="Meiryo UI" pitchFamily="34" charset="-122"/>
                <a:cs typeface="Meiryo UI" pitchFamily="34" charset="-120"/>
              </a:rPr>
              <a:t>エリアごとの拠点を</a:t>
            </a:r>
            <a:endParaRPr lang="en-US" sz="1300" dirty="0"/>
          </a:p>
          <a:p>
            <a:pPr indent="0" marL="0">
              <a:lnSpc>
                <a:spcPts val="1880"/>
              </a:lnSpc>
              <a:buNone/>
            </a:pPr>
            <a:r>
              <a:rPr lang="en-US" sz="1300" dirty="0">
                <a:solidFill>
                  <a:srgbClr val="5B6472"/>
                </a:solidFill>
                <a:latin typeface="Meiryo UI" pitchFamily="34" charset="0"/>
                <a:ea typeface="Meiryo UI" pitchFamily="34" charset="-122"/>
                <a:cs typeface="Meiryo UI" pitchFamily="34" charset="-120"/>
              </a:rPr>
              <a:t>各地に広げていく</a:t>
            </a:r>
            <a:endParaRPr lang="en-US" sz="1300" dirty="0"/>
          </a:p>
        </p:txBody>
      </p:sp>
      <p:sp>
        <p:nvSpPr>
          <p:cNvPr id="31" name="Shape 26"/>
          <p:cNvSpPr/>
          <p:nvPr/>
        </p:nvSpPr>
        <p:spPr>
          <a:xfrm>
            <a:off x="8865870" y="3040380"/>
            <a:ext cx="118872" cy="274320"/>
          </a:xfrm>
          <a:prstGeom prst="chevron">
            <a:avLst/>
          </a:prstGeom>
          <a:solidFill>
            <a:srgbClr val="C9CFDA"/>
          </a:solidFill>
          <a:ln w="6350">
            <a:solidFill>
              <a:srgbClr val="C9CFDA"/>
            </a:solidFill>
            <a:prstDash val="solid"/>
          </a:ln>
        </p:spPr>
      </p:sp>
      <p:sp>
        <p:nvSpPr>
          <p:cNvPr id="32" name="Shape 27"/>
          <p:cNvSpPr/>
          <p:nvPr/>
        </p:nvSpPr>
        <p:spPr>
          <a:xfrm>
            <a:off x="9037015" y="1645920"/>
            <a:ext cx="2606040" cy="3063240"/>
          </a:xfrm>
          <a:prstGeom prst="roundRect">
            <a:avLst>
              <a:gd name="adj" fmla="val 4912"/>
            </a:avLst>
          </a:prstGeom>
          <a:solidFill>
            <a:srgbClr val="F3F5F9"/>
          </a:solidFill>
          <a:ln w="6350">
            <a:solidFill>
              <a:srgbClr val="F3F5F9"/>
            </a:solidFill>
            <a:prstDash val="solid"/>
          </a:ln>
        </p:spPr>
      </p:sp>
      <p:sp>
        <p:nvSpPr>
          <p:cNvPr id="33" name="Shape 28"/>
          <p:cNvSpPr/>
          <p:nvPr/>
        </p:nvSpPr>
        <p:spPr>
          <a:xfrm>
            <a:off x="9311335" y="1920240"/>
            <a:ext cx="713232" cy="713232"/>
          </a:xfrm>
          <a:prstGeom prst="ellipse">
            <a:avLst/>
          </a:prstGeom>
          <a:solidFill>
            <a:srgbClr val="9A6BC4"/>
          </a:solidFill>
          <a:ln w="6350">
            <a:solidFill>
              <a:srgbClr val="9A6BC4"/>
            </a:solidFill>
            <a:prstDash val="solid"/>
          </a:ln>
        </p:spPr>
      </p:sp>
      <p:pic>
        <p:nvPicPr>
          <p:cNvPr id="34" name="Image 3" descr="preencoded.png">    </p:cNvPr>
          <p:cNvPicPr>
            <a:picLocks noChangeAspect="1"/>
          </p:cNvPicPr>
          <p:nvPr/>
        </p:nvPicPr>
        <p:blipFill>
          <a:blip r:embed="rId4"/>
          <a:stretch>
            <a:fillRect/>
          </a:stretch>
        </p:blipFill>
        <p:spPr>
          <a:xfrm>
            <a:off x="9482511" y="2091416"/>
            <a:ext cx="370881" cy="370881"/>
          </a:xfrm>
          <a:prstGeom prst="rect">
            <a:avLst/>
          </a:prstGeom>
        </p:spPr>
      </p:pic>
      <p:sp>
        <p:nvSpPr>
          <p:cNvPr id="35" name="Text 29"/>
          <p:cNvSpPr txBox="1"/>
          <p:nvPr/>
        </p:nvSpPr>
        <p:spPr>
          <a:xfrm>
            <a:off x="10180015" y="2121408"/>
            <a:ext cx="1325880" cy="320040"/>
          </a:xfrm>
          <a:prstGeom prst="rect">
            <a:avLst/>
          </a:prstGeom>
          <a:noFill/>
          <a:ln/>
        </p:spPr>
        <p:txBody>
          <a:bodyPr wrap="square" lIns="0" tIns="0" rIns="0" bIns="0" rtlCol="0" anchor="ctr"/>
          <a:lstStyle/>
          <a:p>
            <a:pPr indent="0" marL="0">
              <a:lnSpc>
                <a:spcPts val="1300"/>
              </a:lnSpc>
              <a:buNone/>
            </a:pPr>
            <a:r>
              <a:rPr lang="en-US" sz="1300" b="1" dirty="0">
                <a:solidFill>
                  <a:srgbClr val="7A4DAE"/>
                </a:solidFill>
                <a:latin typeface="Meiryo UI" pitchFamily="34" charset="0"/>
                <a:ea typeface="Meiryo UI" pitchFamily="34" charset="-122"/>
                <a:cs typeface="Meiryo UI" pitchFamily="34" charset="-120"/>
              </a:rPr>
              <a:t>GOAL</a:t>
            </a:r>
            <a:endParaRPr lang="en-US" sz="1300" dirty="0"/>
          </a:p>
        </p:txBody>
      </p:sp>
      <p:sp>
        <p:nvSpPr>
          <p:cNvPr id="36" name="Text 30"/>
          <p:cNvSpPr txBox="1"/>
          <p:nvPr/>
        </p:nvSpPr>
        <p:spPr>
          <a:xfrm>
            <a:off x="9311335" y="2834640"/>
            <a:ext cx="2148840" cy="457200"/>
          </a:xfrm>
          <a:prstGeom prst="rect">
            <a:avLst/>
          </a:prstGeom>
          <a:noFill/>
          <a:ln/>
        </p:spPr>
        <p:txBody>
          <a:bodyPr wrap="square" lIns="0" tIns="0" rIns="0" bIns="0" rtlCol="0" anchor="t"/>
          <a:lstStyle/>
          <a:p>
            <a:pPr indent="0" marL="0">
              <a:lnSpc>
                <a:spcPts val="2420"/>
              </a:lnSpc>
              <a:buNone/>
            </a:pPr>
            <a:r>
              <a:rPr lang="en-US" sz="2100" b="1" dirty="0">
                <a:solidFill>
                  <a:srgbClr val="2E3440"/>
                </a:solidFill>
                <a:latin typeface="Meiryo UI" pitchFamily="34" charset="0"/>
                <a:ea typeface="Meiryo UI" pitchFamily="34" charset="-122"/>
                <a:cs typeface="Meiryo UI" pitchFamily="34" charset="-120"/>
              </a:rPr>
              <a:t>全国へ</a:t>
            </a:r>
            <a:endParaRPr lang="en-US" sz="2100" dirty="0"/>
          </a:p>
        </p:txBody>
      </p:sp>
      <p:sp>
        <p:nvSpPr>
          <p:cNvPr id="37" name="Text 31"/>
          <p:cNvSpPr txBox="1"/>
          <p:nvPr/>
        </p:nvSpPr>
        <p:spPr>
          <a:xfrm>
            <a:off x="9311335" y="3401568"/>
            <a:ext cx="2194560" cy="1188720"/>
          </a:xfrm>
          <a:prstGeom prst="rect">
            <a:avLst/>
          </a:prstGeom>
          <a:noFill/>
          <a:ln/>
        </p:spPr>
        <p:txBody>
          <a:bodyPr wrap="square" lIns="0" tIns="0" rIns="0" bIns="0" rtlCol="0" anchor="t"/>
          <a:lstStyle/>
          <a:p>
            <a:pPr indent="0" marL="0">
              <a:lnSpc>
                <a:spcPts val="1880"/>
              </a:lnSpc>
              <a:buNone/>
            </a:pPr>
            <a:r>
              <a:rPr lang="en-US" sz="1300" dirty="0">
                <a:solidFill>
                  <a:srgbClr val="5B6472"/>
                </a:solidFill>
                <a:latin typeface="Meiryo UI" pitchFamily="34" charset="0"/>
                <a:ea typeface="Meiryo UI" pitchFamily="34" charset="-122"/>
                <a:cs typeface="Meiryo UI" pitchFamily="34" charset="-120"/>
              </a:rPr>
              <a:t>全国にキャレオスの</a:t>
            </a:r>
            <a:endParaRPr lang="en-US" sz="1300" dirty="0"/>
          </a:p>
          <a:p>
            <a:pPr indent="0" marL="0">
              <a:lnSpc>
                <a:spcPts val="1880"/>
              </a:lnSpc>
              <a:buNone/>
            </a:pPr>
            <a:r>
              <a:rPr lang="en-US" sz="1300" dirty="0">
                <a:solidFill>
                  <a:srgbClr val="5B6472"/>
                </a:solidFill>
                <a:latin typeface="Meiryo UI" pitchFamily="34" charset="0"/>
                <a:ea typeface="Meiryo UI" pitchFamily="34" charset="-122"/>
                <a:cs typeface="Meiryo UI" pitchFamily="34" charset="-120"/>
              </a:rPr>
              <a:t>トータルサポートを</a:t>
            </a:r>
            <a:endParaRPr lang="en-US" sz="1300" dirty="0"/>
          </a:p>
        </p:txBody>
      </p:sp>
      <p:sp>
        <p:nvSpPr>
          <p:cNvPr id="38" name="Shape 32"/>
          <p:cNvSpPr/>
          <p:nvPr/>
        </p:nvSpPr>
        <p:spPr>
          <a:xfrm>
            <a:off x="548640" y="4983480"/>
            <a:ext cx="11094415" cy="868680"/>
          </a:xfrm>
          <a:prstGeom prst="roundRect">
            <a:avLst>
              <a:gd name="adj" fmla="val 14737"/>
            </a:avLst>
          </a:prstGeom>
          <a:solidFill>
            <a:srgbClr val="EDF1F9"/>
          </a:solidFill>
          <a:ln w="6350">
            <a:solidFill>
              <a:srgbClr val="EDF1F9"/>
            </a:solidFill>
            <a:prstDash val="solid"/>
          </a:ln>
        </p:spPr>
      </p:sp>
      <p:sp>
        <p:nvSpPr>
          <p:cNvPr id="39" name="Text 33"/>
          <p:cNvSpPr txBox="1"/>
          <p:nvPr/>
        </p:nvSpPr>
        <p:spPr>
          <a:xfrm>
            <a:off x="868680" y="4983480"/>
            <a:ext cx="10454335" cy="868680"/>
          </a:xfrm>
          <a:prstGeom prst="rect">
            <a:avLst/>
          </a:prstGeom>
          <a:noFill/>
          <a:ln/>
        </p:spPr>
        <p:txBody>
          <a:bodyPr wrap="square" lIns="0" tIns="0" rIns="0" bIns="0" rtlCol="0" anchor="ctr"/>
          <a:lstStyle/>
          <a:p>
            <a:pPr indent="0" marL="0">
              <a:lnSpc>
                <a:spcPts val="2470"/>
              </a:lnSpc>
              <a:buNone/>
            </a:pPr>
            <a:r>
              <a:rPr lang="en-US" sz="1900" b="1" dirty="0">
                <a:solidFill>
                  <a:srgbClr val="3A5BB8"/>
                </a:solidFill>
                <a:latin typeface="Meiryo UI" pitchFamily="34" charset="0"/>
                <a:ea typeface="Meiryo UI" pitchFamily="34" charset="-122"/>
                <a:cs typeface="Meiryo UI" pitchFamily="34" charset="-120"/>
              </a:rPr>
              <a:t>まだキャレオスにいない人材・ポジション。そこを確立させることに価値がある。</a:t>
            </a:r>
            <a:endParaRPr lang="en-US" sz="1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206240" y="-4206240"/>
            <a:ext cx="8046720" cy="8046720"/>
          </a:xfrm>
          <a:prstGeom prst="blockArc">
            <a:avLst>
              <a:gd name="adj1" fmla="val 0"/>
              <a:gd name="adj2" fmla="val 5400000"/>
              <a:gd name="adj3" fmla="val 3182"/>
            </a:avLst>
          </a:prstGeom>
          <a:solidFill>
            <a:srgbClr val="E8505B"/>
          </a:solidFill>
          <a:ln w="6350">
            <a:solidFill>
              <a:srgbClr val="E8505B"/>
            </a:solidFill>
            <a:prstDash val="solid"/>
          </a:ln>
        </p:spPr>
      </p:sp>
      <p:sp>
        <p:nvSpPr>
          <p:cNvPr id="3" name="Shape 1"/>
          <p:cNvSpPr/>
          <p:nvPr/>
        </p:nvSpPr>
        <p:spPr>
          <a:xfrm>
            <a:off x="-3822192" y="-3822192"/>
            <a:ext cx="7278624" cy="7278624"/>
          </a:xfrm>
          <a:prstGeom prst="blockArc">
            <a:avLst>
              <a:gd name="adj1" fmla="val 0"/>
              <a:gd name="adj2" fmla="val 5400000"/>
              <a:gd name="adj3" fmla="val 3518"/>
            </a:avLst>
          </a:prstGeom>
          <a:solidFill>
            <a:srgbClr val="F39C33"/>
          </a:solidFill>
          <a:ln w="6350">
            <a:solidFill>
              <a:srgbClr val="F39C33"/>
            </a:solidFill>
            <a:prstDash val="solid"/>
          </a:ln>
        </p:spPr>
      </p:sp>
      <p:sp>
        <p:nvSpPr>
          <p:cNvPr id="4" name="Shape 2"/>
          <p:cNvSpPr/>
          <p:nvPr/>
        </p:nvSpPr>
        <p:spPr>
          <a:xfrm>
            <a:off x="-3438144" y="-3438144"/>
            <a:ext cx="6510528" cy="6510528"/>
          </a:xfrm>
          <a:prstGeom prst="blockArc">
            <a:avLst>
              <a:gd name="adj1" fmla="val 0"/>
              <a:gd name="adj2" fmla="val 5400000"/>
              <a:gd name="adj3" fmla="val 3933"/>
            </a:avLst>
          </a:prstGeom>
          <a:solidFill>
            <a:srgbClr val="F2C230"/>
          </a:solidFill>
          <a:ln w="6350">
            <a:solidFill>
              <a:srgbClr val="F2C230"/>
            </a:solidFill>
            <a:prstDash val="solid"/>
          </a:ln>
        </p:spPr>
      </p:sp>
      <p:sp>
        <p:nvSpPr>
          <p:cNvPr id="5" name="Shape 3"/>
          <p:cNvSpPr/>
          <p:nvPr/>
        </p:nvSpPr>
        <p:spPr>
          <a:xfrm>
            <a:off x="-3054096" y="-3054096"/>
            <a:ext cx="5742432" cy="5742432"/>
          </a:xfrm>
          <a:prstGeom prst="blockArc">
            <a:avLst>
              <a:gd name="adj1" fmla="val 0"/>
              <a:gd name="adj2" fmla="val 5400000"/>
              <a:gd name="adj3" fmla="val 4459"/>
            </a:avLst>
          </a:prstGeom>
          <a:solidFill>
            <a:srgbClr val="5DBB63"/>
          </a:solidFill>
          <a:ln w="6350">
            <a:solidFill>
              <a:srgbClr val="5DBB63"/>
            </a:solidFill>
            <a:prstDash val="solid"/>
          </a:ln>
        </p:spPr>
      </p:sp>
      <p:sp>
        <p:nvSpPr>
          <p:cNvPr id="6" name="Shape 4"/>
          <p:cNvSpPr/>
          <p:nvPr/>
        </p:nvSpPr>
        <p:spPr>
          <a:xfrm>
            <a:off x="-2670048" y="-2670048"/>
            <a:ext cx="4974336" cy="4974336"/>
          </a:xfrm>
          <a:prstGeom prst="blockArc">
            <a:avLst>
              <a:gd name="adj1" fmla="val 0"/>
              <a:gd name="adj2" fmla="val 5400000"/>
              <a:gd name="adj3" fmla="val 5147"/>
            </a:avLst>
          </a:prstGeom>
          <a:solidFill>
            <a:srgbClr val="3FA7D6"/>
          </a:solidFill>
          <a:ln w="6350">
            <a:solidFill>
              <a:srgbClr val="3FA7D6"/>
            </a:solidFill>
            <a:prstDash val="solid"/>
          </a:ln>
        </p:spPr>
      </p:sp>
      <p:sp>
        <p:nvSpPr>
          <p:cNvPr id="7" name="Shape 5"/>
          <p:cNvSpPr/>
          <p:nvPr/>
        </p:nvSpPr>
        <p:spPr>
          <a:xfrm>
            <a:off x="-2286000" y="-2286000"/>
            <a:ext cx="4206240" cy="4206240"/>
          </a:xfrm>
          <a:prstGeom prst="blockArc">
            <a:avLst>
              <a:gd name="adj1" fmla="val 0"/>
              <a:gd name="adj2" fmla="val 5400000"/>
              <a:gd name="adj3" fmla="val 6087"/>
            </a:avLst>
          </a:prstGeom>
          <a:solidFill>
            <a:srgbClr val="4A6FC7"/>
          </a:solidFill>
          <a:ln w="6350">
            <a:solidFill>
              <a:srgbClr val="4A6FC7"/>
            </a:solidFill>
            <a:prstDash val="solid"/>
          </a:ln>
        </p:spPr>
      </p:sp>
      <p:sp>
        <p:nvSpPr>
          <p:cNvPr id="8" name="Shape 6"/>
          <p:cNvSpPr/>
          <p:nvPr/>
        </p:nvSpPr>
        <p:spPr>
          <a:xfrm>
            <a:off x="-1901952" y="-1901952"/>
            <a:ext cx="3438144" cy="3438144"/>
          </a:xfrm>
          <a:prstGeom prst="blockArc">
            <a:avLst>
              <a:gd name="adj1" fmla="val 0"/>
              <a:gd name="adj2" fmla="val 5400000"/>
              <a:gd name="adj3" fmla="val 7447"/>
            </a:avLst>
          </a:prstGeom>
          <a:solidFill>
            <a:srgbClr val="9A6BC4"/>
          </a:solidFill>
          <a:ln w="6350">
            <a:solidFill>
              <a:srgbClr val="9A6BC4"/>
            </a:solidFill>
            <a:prstDash val="solid"/>
          </a:ln>
        </p:spPr>
      </p:sp>
      <p:sp>
        <p:nvSpPr>
          <p:cNvPr id="9" name="Text 7"/>
          <p:cNvSpPr txBox="1"/>
          <p:nvPr/>
        </p:nvSpPr>
        <p:spPr>
          <a:xfrm>
            <a:off x="3200400" y="2286000"/>
            <a:ext cx="8439912" cy="457200"/>
          </a:xfrm>
          <a:prstGeom prst="rect">
            <a:avLst/>
          </a:prstGeom>
          <a:noFill/>
          <a:ln/>
        </p:spPr>
        <p:txBody>
          <a:bodyPr wrap="square" lIns="0" tIns="0" rIns="0" bIns="0" rtlCol="0" anchor="t"/>
          <a:lstStyle/>
          <a:p>
            <a:pPr algn="r" indent="0" marL="0">
              <a:lnSpc>
                <a:spcPts val="2600"/>
              </a:lnSpc>
              <a:buNone/>
            </a:pPr>
            <a:r>
              <a:rPr lang="en-US" sz="2000" dirty="0">
                <a:solidFill>
                  <a:srgbClr val="5B6472"/>
                </a:solidFill>
                <a:latin typeface="Meiryo UI" pitchFamily="34" charset="0"/>
                <a:ea typeface="Meiryo UI" pitchFamily="34" charset="-122"/>
                <a:cs typeface="Meiryo UI" pitchFamily="34" charset="-120"/>
              </a:rPr>
              <a:t>その始まりを、愛媛で実践する人材に。</a:t>
            </a:r>
            <a:endParaRPr lang="en-US" sz="2000" dirty="0"/>
          </a:p>
        </p:txBody>
      </p:sp>
      <p:sp>
        <p:nvSpPr>
          <p:cNvPr id="10" name="Text 8"/>
          <p:cNvSpPr txBox="1"/>
          <p:nvPr/>
        </p:nvSpPr>
        <p:spPr>
          <a:xfrm>
            <a:off x="3200400" y="2880360"/>
            <a:ext cx="8439912" cy="1645920"/>
          </a:xfrm>
          <a:prstGeom prst="rect">
            <a:avLst/>
          </a:prstGeom>
          <a:noFill/>
          <a:ln/>
        </p:spPr>
        <p:txBody>
          <a:bodyPr wrap="square" lIns="0" tIns="0" rIns="0" bIns="0" rtlCol="0" anchor="t"/>
          <a:lstStyle/>
          <a:p>
            <a:pPr algn="r" indent="0" marL="0">
              <a:lnSpc>
                <a:spcPts val="6000"/>
              </a:lnSpc>
              <a:buNone/>
            </a:pPr>
            <a:r>
              <a:rPr lang="en-US" sz="4800" b="1" dirty="0">
                <a:solidFill>
                  <a:srgbClr val="2E3440"/>
                </a:solidFill>
                <a:latin typeface="Meiryo UI" pitchFamily="34" charset="0"/>
                <a:ea typeface="Meiryo UI" pitchFamily="34" charset="-122"/>
                <a:cs typeface="Meiryo UI" pitchFamily="34" charset="-120"/>
              </a:rPr>
              <a:t>全国に</a:t>
            </a:r>
            <a:endParaRPr lang="en-US" sz="4800" dirty="0"/>
          </a:p>
          <a:p>
            <a:pPr algn="r" indent="0" marL="0">
              <a:lnSpc>
                <a:spcPts val="6000"/>
              </a:lnSpc>
              <a:buNone/>
            </a:pPr>
            <a:r>
              <a:rPr lang="en-US" sz="4800" b="1" dirty="0">
                <a:solidFill>
                  <a:srgbClr val="2E3440"/>
                </a:solidFill>
                <a:latin typeface="Meiryo UI" pitchFamily="34" charset="0"/>
                <a:ea typeface="Meiryo UI" pitchFamily="34" charset="-122"/>
                <a:cs typeface="Meiryo UI" pitchFamily="34" charset="-120"/>
              </a:rPr>
              <a:t>トータルサポートを。</a:t>
            </a:r>
            <a:endParaRPr lang="en-US" sz="4800" dirty="0"/>
          </a:p>
        </p:txBody>
      </p:sp>
      <p:sp>
        <p:nvSpPr>
          <p:cNvPr id="11" name="Shape 9"/>
          <p:cNvSpPr/>
          <p:nvPr/>
        </p:nvSpPr>
        <p:spPr>
          <a:xfrm>
            <a:off x="10372039" y="4800600"/>
            <a:ext cx="118872" cy="118872"/>
          </a:xfrm>
          <a:prstGeom prst="ellipse">
            <a:avLst/>
          </a:prstGeom>
          <a:solidFill>
            <a:srgbClr val="E8505B"/>
          </a:solidFill>
          <a:ln w="6350">
            <a:solidFill>
              <a:srgbClr val="E8505B"/>
            </a:solidFill>
            <a:prstDash val="solid"/>
          </a:ln>
        </p:spPr>
      </p:sp>
      <p:sp>
        <p:nvSpPr>
          <p:cNvPr id="12" name="Shape 10"/>
          <p:cNvSpPr/>
          <p:nvPr/>
        </p:nvSpPr>
        <p:spPr>
          <a:xfrm>
            <a:off x="10564063" y="4800600"/>
            <a:ext cx="118872" cy="118872"/>
          </a:xfrm>
          <a:prstGeom prst="ellipse">
            <a:avLst/>
          </a:prstGeom>
          <a:solidFill>
            <a:srgbClr val="F39C33"/>
          </a:solidFill>
          <a:ln w="6350">
            <a:solidFill>
              <a:srgbClr val="F39C33"/>
            </a:solidFill>
            <a:prstDash val="solid"/>
          </a:ln>
        </p:spPr>
      </p:sp>
      <p:sp>
        <p:nvSpPr>
          <p:cNvPr id="13" name="Shape 11"/>
          <p:cNvSpPr/>
          <p:nvPr/>
        </p:nvSpPr>
        <p:spPr>
          <a:xfrm>
            <a:off x="10756087" y="4800600"/>
            <a:ext cx="118872" cy="118872"/>
          </a:xfrm>
          <a:prstGeom prst="ellipse">
            <a:avLst/>
          </a:prstGeom>
          <a:solidFill>
            <a:srgbClr val="F2C230"/>
          </a:solidFill>
          <a:ln w="6350">
            <a:solidFill>
              <a:srgbClr val="F2C230"/>
            </a:solidFill>
            <a:prstDash val="solid"/>
          </a:ln>
        </p:spPr>
      </p:sp>
      <p:sp>
        <p:nvSpPr>
          <p:cNvPr id="14" name="Shape 12"/>
          <p:cNvSpPr/>
          <p:nvPr/>
        </p:nvSpPr>
        <p:spPr>
          <a:xfrm>
            <a:off x="10948111" y="4800600"/>
            <a:ext cx="118872" cy="118872"/>
          </a:xfrm>
          <a:prstGeom prst="ellipse">
            <a:avLst/>
          </a:prstGeom>
          <a:solidFill>
            <a:srgbClr val="5DBB63"/>
          </a:solidFill>
          <a:ln w="6350">
            <a:solidFill>
              <a:srgbClr val="5DBB63"/>
            </a:solidFill>
            <a:prstDash val="solid"/>
          </a:ln>
        </p:spPr>
      </p:sp>
      <p:sp>
        <p:nvSpPr>
          <p:cNvPr id="15" name="Shape 13"/>
          <p:cNvSpPr/>
          <p:nvPr/>
        </p:nvSpPr>
        <p:spPr>
          <a:xfrm>
            <a:off x="11140135" y="4800600"/>
            <a:ext cx="118872" cy="118872"/>
          </a:xfrm>
          <a:prstGeom prst="ellipse">
            <a:avLst/>
          </a:prstGeom>
          <a:solidFill>
            <a:srgbClr val="3FA7D6"/>
          </a:solidFill>
          <a:ln w="6350">
            <a:solidFill>
              <a:srgbClr val="3FA7D6"/>
            </a:solidFill>
            <a:prstDash val="solid"/>
          </a:ln>
        </p:spPr>
      </p:sp>
      <p:sp>
        <p:nvSpPr>
          <p:cNvPr id="16" name="Shape 14"/>
          <p:cNvSpPr/>
          <p:nvPr/>
        </p:nvSpPr>
        <p:spPr>
          <a:xfrm>
            <a:off x="11332159" y="4800600"/>
            <a:ext cx="118872" cy="118872"/>
          </a:xfrm>
          <a:prstGeom prst="ellipse">
            <a:avLst/>
          </a:prstGeom>
          <a:solidFill>
            <a:srgbClr val="4A6FC7"/>
          </a:solidFill>
          <a:ln w="6350">
            <a:solidFill>
              <a:srgbClr val="4A6FC7"/>
            </a:solidFill>
            <a:prstDash val="solid"/>
          </a:ln>
        </p:spPr>
      </p:sp>
      <p:sp>
        <p:nvSpPr>
          <p:cNvPr id="17" name="Shape 15"/>
          <p:cNvSpPr/>
          <p:nvPr/>
        </p:nvSpPr>
        <p:spPr>
          <a:xfrm>
            <a:off x="11524183" y="4800600"/>
            <a:ext cx="118872" cy="118872"/>
          </a:xfrm>
          <a:prstGeom prst="ellipse">
            <a:avLst/>
          </a:prstGeom>
          <a:solidFill>
            <a:srgbClr val="9A6BC4"/>
          </a:solidFill>
          <a:ln w="6350">
            <a:solidFill>
              <a:srgbClr val="9A6BC4"/>
            </a:solidFill>
            <a:prstDash val="solid"/>
          </a:ln>
        </p:spPr>
      </p:sp>
      <p:sp>
        <p:nvSpPr>
          <p:cNvPr id="18" name="Text 16"/>
          <p:cNvSpPr txBox="1"/>
          <p:nvPr/>
        </p:nvSpPr>
        <p:spPr>
          <a:xfrm>
            <a:off x="3200400" y="5120640"/>
            <a:ext cx="8439912" cy="365760"/>
          </a:xfrm>
          <a:prstGeom prst="rect">
            <a:avLst/>
          </a:prstGeom>
          <a:noFill/>
          <a:ln/>
        </p:spPr>
        <p:txBody>
          <a:bodyPr wrap="square" lIns="0" tIns="0" rIns="0" bIns="0" rtlCol="0" anchor="t"/>
          <a:lstStyle/>
          <a:p>
            <a:pPr algn="r" indent="0" marL="0">
              <a:lnSpc>
                <a:spcPts val="1950"/>
              </a:lnSpc>
              <a:buNone/>
            </a:pPr>
            <a:r>
              <a:rPr lang="en-US" sz="1500" dirty="0">
                <a:solidFill>
                  <a:srgbClr val="5B6472"/>
                </a:solidFill>
                <a:latin typeface="Meiryo UI" pitchFamily="34" charset="0"/>
                <a:ea typeface="Meiryo UI" pitchFamily="34" charset="-122"/>
                <a:cs typeface="Meiryo UI" pitchFamily="34" charset="-120"/>
              </a:rPr>
              <a:t>ご清聴ありがとうございました</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全国にトータルサポートを。</dc:title>
  <dc:subject>PptxGenJS Presentation</dc:subject>
  <dc:creator>PptxGenJS</dc:creator>
  <cp:lastModifiedBy>PptxGenJS</cp:lastModifiedBy>
  <cp:revision>1</cp:revision>
  <dcterms:created xsi:type="dcterms:W3CDTF">2026-09-30T04:42:38Z</dcterms:created>
  <dcterms:modified xsi:type="dcterms:W3CDTF">2026-09-30T04:42:38Z</dcterms:modified>
</cp:coreProperties>
</file>